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gZETPYNsZE4xvKpN19xneQ5FvB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6A5138-4EF4-4FFC-9B91-E1CA01C68344}">
  <a:tblStyle styleId="{956A5138-4EF4-4FFC-9B91-E1CA01C6834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d0fd7db1ee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g3d0fd7db1ee_7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g3d0fd7db1ee_7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d0fd7db1ee_7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g3d0fd7db1ee_7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g3d0fd7db1ee_7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d0fd7db1ee_7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g3d0fd7db1ee_7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g3d0fd7db1ee_7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d0fd7db1ee_7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g3d0fd7db1ee_7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g3d0fd7db1ee_7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131F"/>
        </a:solidFill>
      </p:bgPr>
    </p:bg>
    <p:spTree>
      <p:nvGrpSpPr>
        <p:cNvPr id="15" name="Shape 15"/>
        <p:cNvGrpSpPr/>
        <p:nvPr/>
      </p:nvGrpSpPr>
      <p:grpSpPr>
        <a:xfrm>
          <a:off x="0" y="0"/>
          <a:ext cx="0" cy="0"/>
          <a:chOff x="0" y="0"/>
          <a:chExt cx="0" cy="0"/>
        </a:xfrm>
      </p:grpSpPr>
      <p:sp>
        <p:nvSpPr>
          <p:cNvPr id="16" name="Google Shape;16;p1"/>
          <p:cNvSpPr/>
          <p:nvPr/>
        </p:nvSpPr>
        <p:spPr>
          <a:xfrm>
            <a:off x="7772400" y="-1097280"/>
            <a:ext cx="4389120" cy="438912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8138160" y="-640080"/>
            <a:ext cx="3566160" cy="356616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8503920" y="-182880"/>
            <a:ext cx="2743200" cy="274320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411480" y="1005840"/>
            <a:ext cx="731520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600"/>
              <a:buFont typeface="Trebuchet MS"/>
              <a:buNone/>
            </a:pPr>
            <a:r>
              <a:rPr b="1" i="0" lang="en-US" sz="5600" u="none" cap="none" strike="noStrike">
                <a:solidFill>
                  <a:srgbClr val="FFFFFF"/>
                </a:solidFill>
                <a:latin typeface="Trebuchet MS"/>
                <a:ea typeface="Trebuchet MS"/>
                <a:cs typeface="Trebuchet MS"/>
                <a:sym typeface="Trebuchet MS"/>
              </a:rPr>
              <a:t>Sales Offsite</a:t>
            </a:r>
            <a:endParaRPr b="0" i="0" sz="5600" u="none" cap="none" strike="noStrike">
              <a:solidFill>
                <a:schemeClr val="dk1"/>
              </a:solidFill>
              <a:latin typeface="Calibri"/>
              <a:ea typeface="Calibri"/>
              <a:cs typeface="Calibri"/>
              <a:sym typeface="Calibri"/>
            </a:endParaRPr>
          </a:p>
        </p:txBody>
      </p:sp>
      <p:sp>
        <p:nvSpPr>
          <p:cNvPr id="20" name="Google Shape;20;p1"/>
          <p:cNvSpPr/>
          <p:nvPr/>
        </p:nvSpPr>
        <p:spPr>
          <a:xfrm>
            <a:off x="411480" y="192024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2000"/>
              <a:buFont typeface="Calibri"/>
              <a:buNone/>
            </a:pPr>
            <a:r>
              <a:rPr b="0" i="0" lang="en-US" sz="2000" u="none" cap="none" strike="noStrike">
                <a:solidFill>
                  <a:srgbClr val="9090B0"/>
                </a:solidFill>
                <a:latin typeface="Calibri"/>
                <a:ea typeface="Calibri"/>
                <a:cs typeface="Calibri"/>
                <a:sym typeface="Calibri"/>
              </a:rPr>
              <a:t>Product Training ·  </a:t>
            </a:r>
            <a:r>
              <a:rPr lang="en-US" sz="2000">
                <a:solidFill>
                  <a:srgbClr val="9090B0"/>
                </a:solidFill>
                <a:latin typeface="Calibri"/>
                <a:ea typeface="Calibri"/>
                <a:cs typeface="Calibri"/>
                <a:sym typeface="Calibri"/>
              </a:rPr>
              <a:t>Strategy</a:t>
            </a:r>
            <a:r>
              <a:rPr b="0" i="0" lang="en-US" sz="2000" u="none" cap="none" strike="noStrike">
                <a:solidFill>
                  <a:srgbClr val="9090B0"/>
                </a:solidFill>
                <a:latin typeface="Calibri"/>
                <a:ea typeface="Calibri"/>
                <a:cs typeface="Calibri"/>
                <a:sym typeface="Calibri"/>
              </a:rPr>
              <a:t> ·  </a:t>
            </a:r>
            <a:r>
              <a:rPr lang="en-US" sz="2000">
                <a:solidFill>
                  <a:srgbClr val="9090B0"/>
                </a:solidFill>
                <a:latin typeface="Calibri"/>
                <a:ea typeface="Calibri"/>
                <a:cs typeface="Calibri"/>
                <a:sym typeface="Calibri"/>
              </a:rPr>
              <a:t>Pipeline</a:t>
            </a:r>
            <a:endParaRPr b="0" i="0" sz="2000" u="none" cap="none" strike="noStrike">
              <a:solidFill>
                <a:schemeClr val="dk1"/>
              </a:solidFill>
              <a:latin typeface="Calibri"/>
              <a:ea typeface="Calibri"/>
              <a:cs typeface="Calibri"/>
              <a:sym typeface="Calibri"/>
            </a:endParaRPr>
          </a:p>
        </p:txBody>
      </p:sp>
      <p:sp>
        <p:nvSpPr>
          <p:cNvPr id="21" name="Google Shape;21;p1"/>
          <p:cNvSpPr/>
          <p:nvPr/>
        </p:nvSpPr>
        <p:spPr>
          <a:xfrm>
            <a:off x="411480" y="2487168"/>
            <a:ext cx="2651760" cy="384048"/>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411480" y="2487168"/>
            <a:ext cx="26517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March 19–20, 2026</a:t>
            </a:r>
            <a:endParaRPr b="0" i="0" sz="1300" u="none" cap="none" strike="noStrike">
              <a:solidFill>
                <a:schemeClr val="dk1"/>
              </a:solidFill>
              <a:latin typeface="Calibri"/>
              <a:ea typeface="Calibri"/>
              <a:cs typeface="Calibri"/>
              <a:sym typeface="Calibri"/>
            </a:endParaRPr>
          </a:p>
        </p:txBody>
      </p:sp>
      <p:sp>
        <p:nvSpPr>
          <p:cNvPr id="23" name="Google Shape;23;p1"/>
          <p:cNvSpPr/>
          <p:nvPr/>
        </p:nvSpPr>
        <p:spPr>
          <a:xfrm>
            <a:off x="411480" y="298094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1300"/>
              <a:buFont typeface="Calibri"/>
              <a:buNone/>
            </a:pPr>
            <a:r>
              <a:rPr b="0" i="0" lang="en-US" sz="1300" u="none" cap="none" strike="noStrike">
                <a:solidFill>
                  <a:srgbClr val="9090B0"/>
                </a:solidFill>
                <a:latin typeface="Calibri"/>
                <a:ea typeface="Calibri"/>
                <a:cs typeface="Calibri"/>
                <a:sym typeface="Calibri"/>
              </a:rPr>
              <a:t>Industrious · 41 E. 11th Street, 11th Floor, New York City</a:t>
            </a:r>
            <a:endParaRPr b="0" i="0" sz="1300" u="none" cap="none" strike="noStrike">
              <a:solidFill>
                <a:schemeClr val="dk1"/>
              </a:solidFill>
              <a:latin typeface="Calibri"/>
              <a:ea typeface="Calibri"/>
              <a:cs typeface="Calibri"/>
              <a:sym typeface="Calibri"/>
            </a:endParaRPr>
          </a:p>
        </p:txBody>
      </p:sp>
      <p:sp>
        <p:nvSpPr>
          <p:cNvPr id="24" name="Google Shape;24;p1"/>
          <p:cNvSpPr/>
          <p:nvPr/>
        </p:nvSpPr>
        <p:spPr>
          <a:xfrm>
            <a:off x="411480" y="3255264"/>
            <a:ext cx="6858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1300"/>
              <a:buFont typeface="Calibri"/>
              <a:buNone/>
            </a:pPr>
            <a:r>
              <a:rPr b="0" i="0" lang="en-US" sz="1300" u="none" cap="none" strike="noStrike">
                <a:solidFill>
                  <a:srgbClr val="9090B0"/>
                </a:solidFill>
                <a:latin typeface="Calibri"/>
                <a:ea typeface="Calibri"/>
                <a:cs typeface="Calibri"/>
                <a:sym typeface="Calibri"/>
              </a:rPr>
              <a:t>Marissa · Declan · Celisa · Andrew Bidwell · Andrew Buron</a:t>
            </a:r>
            <a:endParaRPr b="0" i="0" sz="1300" u="none" cap="none" strike="noStrike">
              <a:solidFill>
                <a:schemeClr val="dk1"/>
              </a:solidFill>
              <a:latin typeface="Calibri"/>
              <a:ea typeface="Calibri"/>
              <a:cs typeface="Calibri"/>
              <a:sym typeface="Calibri"/>
            </a:endParaRPr>
          </a:p>
        </p:txBody>
      </p:sp>
      <p:sp>
        <p:nvSpPr>
          <p:cNvPr id="25" name="Google Shape;25;p1"/>
          <p:cNvSpPr/>
          <p:nvPr/>
        </p:nvSpPr>
        <p:spPr>
          <a:xfrm>
            <a:off x="411480" y="3730752"/>
            <a:ext cx="8321040" cy="822960"/>
          </a:xfrm>
          <a:prstGeom prst="rect">
            <a:avLst/>
          </a:prstGeom>
          <a:solidFill>
            <a:srgbClr val="1C1C2E"/>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594360" y="3767328"/>
            <a:ext cx="22860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3FE4"/>
              </a:buClr>
              <a:buSzPts val="800"/>
              <a:buFont typeface="Calibri"/>
              <a:buNone/>
            </a:pPr>
            <a:r>
              <a:rPr b="1" i="0" lang="en-US" sz="800" u="none" cap="none" strike="noStrike">
                <a:solidFill>
                  <a:srgbClr val="7B3FE4"/>
                </a:solidFill>
                <a:latin typeface="Calibri"/>
                <a:ea typeface="Calibri"/>
                <a:cs typeface="Calibri"/>
                <a:sym typeface="Calibri"/>
              </a:rPr>
              <a:t>OFFSITE GOAL</a:t>
            </a:r>
            <a:endParaRPr b="0" i="0" sz="800" u="none" cap="none" strike="noStrike">
              <a:solidFill>
                <a:schemeClr val="dk1"/>
              </a:solidFill>
              <a:latin typeface="Calibri"/>
              <a:ea typeface="Calibri"/>
              <a:cs typeface="Calibri"/>
              <a:sym typeface="Calibri"/>
            </a:endParaRPr>
          </a:p>
        </p:txBody>
      </p:sp>
      <p:sp>
        <p:nvSpPr>
          <p:cNvPr id="27" name="Google Shape;27;p1"/>
          <p:cNvSpPr/>
          <p:nvPr/>
        </p:nvSpPr>
        <p:spPr>
          <a:xfrm>
            <a:off x="594360" y="3968496"/>
            <a:ext cx="79552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1150"/>
              <a:buFont typeface="Calibri"/>
              <a:buNone/>
            </a:pPr>
            <a:r>
              <a:rPr b="0" i="0" lang="en-US" sz="1150" u="none" cap="none" strike="noStrike">
                <a:solidFill>
                  <a:srgbClr val="9090B0"/>
                </a:solidFill>
                <a:latin typeface="Calibri"/>
                <a:ea typeface="Calibri"/>
                <a:cs typeface="Calibri"/>
                <a:sym typeface="Calibri"/>
              </a:rPr>
              <a:t>Align the sales team on Abra's full product offering, sharpen competitive positioning, and build a concrete 2026 sales pipeline and strategy.</a:t>
            </a:r>
            <a:endParaRPr b="0" i="0" sz="1150" u="none" cap="none" strike="noStrike">
              <a:solidFill>
                <a:schemeClr val="dk1"/>
              </a:solidFill>
              <a:latin typeface="Calibri"/>
              <a:ea typeface="Calibri"/>
              <a:cs typeface="Calibri"/>
              <a:sym typeface="Calibri"/>
            </a:endParaRPr>
          </a:p>
        </p:txBody>
      </p:sp>
      <p:sp>
        <p:nvSpPr>
          <p:cNvPr id="28" name="Google Shape;28;p1"/>
          <p:cNvSpPr/>
          <p:nvPr/>
        </p:nvSpPr>
        <p:spPr>
          <a:xfrm>
            <a:off x="0" y="4873752"/>
            <a:ext cx="9144000" cy="269748"/>
          </a:xfrm>
          <a:prstGeom prst="rect">
            <a:avLst/>
          </a:prstGeom>
          <a:solidFill>
            <a:srgbClr val="1C1C2E"/>
          </a:solidFill>
          <a:ln cap="flat" cmpd="sng" w="12700">
            <a:solidFill>
              <a:srgbClr val="1C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506A"/>
              </a:buClr>
              <a:buSzPts val="800"/>
              <a:buFont typeface="Calibri"/>
              <a:buNone/>
            </a:pPr>
            <a:r>
              <a:rPr b="0" i="0" lang="en-US" sz="800" u="none" cap="none" strike="noStrike">
                <a:solidFill>
                  <a:srgbClr val="50506A"/>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30" name="Google Shape;30;p1"/>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pic>
        <p:nvPicPr>
          <p:cNvPr id="31" name="Google Shape;31;p1" title="Abra_Logo_Lock-up_White.png"/>
          <p:cNvPicPr preferRelativeResize="0"/>
          <p:nvPr/>
        </p:nvPicPr>
        <p:blipFill>
          <a:blip r:embed="rId3">
            <a:alphaModFix/>
          </a:blip>
          <a:stretch>
            <a:fillRect/>
          </a:stretch>
        </p:blipFill>
        <p:spPr>
          <a:xfrm>
            <a:off x="6502275" y="763991"/>
            <a:ext cx="2285999" cy="580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131F"/>
        </a:solidFill>
      </p:bgPr>
    </p:bg>
    <p:spTree>
      <p:nvGrpSpPr>
        <p:cNvPr id="36" name="Shape 36"/>
        <p:cNvGrpSpPr/>
        <p:nvPr/>
      </p:nvGrpSpPr>
      <p:grpSpPr>
        <a:xfrm>
          <a:off x="0" y="0"/>
          <a:ext cx="0" cy="0"/>
          <a:chOff x="0" y="0"/>
          <a:chExt cx="0" cy="0"/>
        </a:xfrm>
      </p:grpSpPr>
      <p:sp>
        <p:nvSpPr>
          <p:cNvPr id="37" name="Google Shape;37;p2"/>
          <p:cNvSpPr/>
          <p:nvPr/>
        </p:nvSpPr>
        <p:spPr>
          <a:xfrm>
            <a:off x="7772400" y="-1097280"/>
            <a:ext cx="4389120" cy="438912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8138160" y="-640080"/>
            <a:ext cx="3566160" cy="356616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8503920" y="-182880"/>
            <a:ext cx="2743200" cy="274320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411480" y="566928"/>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Trebuchet MS"/>
              <a:buNone/>
            </a:pPr>
            <a:r>
              <a:rPr b="1" i="0" lang="en-US" sz="3200" u="none" cap="none" strike="noStrike">
                <a:solidFill>
                  <a:srgbClr val="FFFFFF"/>
                </a:solidFill>
                <a:latin typeface="Trebuchet MS"/>
                <a:ea typeface="Trebuchet MS"/>
                <a:cs typeface="Trebuchet MS"/>
                <a:sym typeface="Trebuchet MS"/>
              </a:rPr>
              <a:t>2-Day Agenda Overview</a:t>
            </a:r>
            <a:endParaRPr b="0" i="0" sz="3200" u="none" cap="none" strike="noStrike">
              <a:solidFill>
                <a:schemeClr val="dk1"/>
              </a:solidFill>
              <a:latin typeface="Calibri"/>
              <a:ea typeface="Calibri"/>
              <a:cs typeface="Calibri"/>
              <a:sym typeface="Calibri"/>
            </a:endParaRPr>
          </a:p>
        </p:txBody>
      </p:sp>
      <p:sp>
        <p:nvSpPr>
          <p:cNvPr id="41" name="Google Shape;41;p2"/>
          <p:cNvSpPr/>
          <p:nvPr/>
        </p:nvSpPr>
        <p:spPr>
          <a:xfrm>
            <a:off x="411480" y="1115568"/>
            <a:ext cx="832104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47472" y="1234440"/>
            <a:ext cx="4251960" cy="3429000"/>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347472" y="1234440"/>
            <a:ext cx="425196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12064" y="1417320"/>
            <a:ext cx="2286000" cy="237744"/>
          </a:xfrm>
          <a:prstGeom prst="rect">
            <a:avLst/>
          </a:prstGeom>
          <a:solidFill>
            <a:srgbClr val="EDE7FC"/>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12064" y="1417320"/>
            <a:ext cx="228600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2DB8"/>
              </a:buClr>
              <a:buSzPts val="800"/>
              <a:buFont typeface="Calibri"/>
              <a:buNone/>
            </a:pPr>
            <a:r>
              <a:rPr b="1" i="0" lang="en-US" sz="800" u="none" cap="none" strike="noStrike">
                <a:solidFill>
                  <a:srgbClr val="5C2DB8"/>
                </a:solidFill>
                <a:latin typeface="Calibri"/>
                <a:ea typeface="Calibri"/>
                <a:cs typeface="Calibri"/>
                <a:sym typeface="Calibri"/>
              </a:rPr>
              <a:t>DAY 1  ·  MARCH 19</a:t>
            </a:r>
            <a:endParaRPr b="0" i="0" sz="800" u="none" cap="none" strike="noStrike">
              <a:solidFill>
                <a:schemeClr val="dk1"/>
              </a:solidFill>
              <a:latin typeface="Calibri"/>
              <a:ea typeface="Calibri"/>
              <a:cs typeface="Calibri"/>
              <a:sym typeface="Calibri"/>
            </a:endParaRPr>
          </a:p>
        </p:txBody>
      </p:sp>
      <p:sp>
        <p:nvSpPr>
          <p:cNvPr id="46" name="Google Shape;46;p2"/>
          <p:cNvSpPr/>
          <p:nvPr/>
        </p:nvSpPr>
        <p:spPr>
          <a:xfrm>
            <a:off x="512064" y="1773936"/>
            <a:ext cx="38404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Trebuchet MS"/>
              <a:buNone/>
            </a:pPr>
            <a:r>
              <a:rPr b="1" i="0" lang="en-US" sz="1900" u="none" cap="none" strike="noStrike">
                <a:solidFill>
                  <a:srgbClr val="FFFFFF"/>
                </a:solidFill>
                <a:latin typeface="Trebuchet MS"/>
                <a:ea typeface="Trebuchet MS"/>
                <a:cs typeface="Trebuchet MS"/>
                <a:sym typeface="Trebuchet MS"/>
              </a:rPr>
              <a:t>Product Deep Dive</a:t>
            </a:r>
            <a:endParaRPr b="0" i="0" sz="1900" u="none" cap="none" strike="noStrike">
              <a:solidFill>
                <a:schemeClr val="dk1"/>
              </a:solidFill>
              <a:latin typeface="Calibri"/>
              <a:ea typeface="Calibri"/>
              <a:cs typeface="Calibri"/>
              <a:sym typeface="Calibri"/>
            </a:endParaRPr>
          </a:p>
        </p:txBody>
      </p:sp>
      <p:sp>
        <p:nvSpPr>
          <p:cNvPr id="47" name="Google Shape;47;p2"/>
          <p:cNvSpPr/>
          <p:nvPr/>
        </p:nvSpPr>
        <p:spPr>
          <a:xfrm>
            <a:off x="512064" y="2212848"/>
            <a:ext cx="3749040" cy="18288"/>
          </a:xfrm>
          <a:prstGeom prst="rect">
            <a:avLst/>
          </a:prstGeom>
          <a:solidFill>
            <a:srgbClr val="2E2E46"/>
          </a:solidFill>
          <a:ln cap="flat" cmpd="sng" w="12700">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548640" y="2322576"/>
            <a:ext cx="3840480" cy="21945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090B0"/>
              </a:buClr>
              <a:buSzPts val="1100"/>
              <a:buFont typeface="Calibri"/>
              <a:buChar char="•"/>
            </a:pPr>
            <a:r>
              <a:rPr b="0" i="0" lang="en-US" sz="1100" u="none" cap="none" strike="noStrike">
                <a:solidFill>
                  <a:srgbClr val="9090B0"/>
                </a:solidFill>
                <a:latin typeface="Calibri"/>
                <a:ea typeface="Calibri"/>
                <a:cs typeface="Calibri"/>
                <a:sym typeface="Calibri"/>
              </a:rPr>
              <a:t>Product demo &amp; UX walkthrough (Deepak, Adarsh, Prashant)</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9090B0"/>
              </a:buClr>
              <a:buSzPts val="1100"/>
              <a:buFont typeface="Calibri"/>
              <a:buChar char="•"/>
            </a:pPr>
            <a:r>
              <a:rPr b="0" i="0" lang="en-US" sz="1100" u="none" cap="none" strike="noStrike">
                <a:solidFill>
                  <a:srgbClr val="9090B0"/>
                </a:solidFill>
                <a:latin typeface="Calibri"/>
                <a:ea typeface="Calibri"/>
                <a:cs typeface="Calibri"/>
                <a:sym typeface="Calibri"/>
              </a:rPr>
              <a:t>Custody, Trading, Loans &amp; Yield products</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9090B0"/>
              </a:buClr>
              <a:buSzPts val="1100"/>
              <a:buFont typeface="Calibri"/>
              <a:buChar char="•"/>
            </a:pPr>
            <a:r>
              <a:rPr b="0" i="0" lang="en-US" sz="1100" u="none" cap="none" strike="noStrike">
                <a:solidFill>
                  <a:srgbClr val="9090B0"/>
                </a:solidFill>
                <a:latin typeface="Calibri"/>
                <a:ea typeface="Calibri"/>
                <a:cs typeface="Calibri"/>
                <a:sym typeface="Calibri"/>
              </a:rPr>
              <a:t>Yield strategy mechanics (Bharat &amp; Willie)</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9090B0"/>
              </a:buClr>
              <a:buSzPts val="1100"/>
              <a:buFont typeface="Calibri"/>
              <a:buChar char="•"/>
            </a:pPr>
            <a:r>
              <a:rPr b="0" i="0" lang="en-US" sz="1100" u="none" cap="none" strike="noStrike">
                <a:solidFill>
                  <a:srgbClr val="9090B0"/>
                </a:solidFill>
                <a:latin typeface="Calibri"/>
                <a:ea typeface="Calibri"/>
                <a:cs typeface="Calibri"/>
                <a:sym typeface="Calibri"/>
              </a:rPr>
              <a:t>Competitive landscape &amp; objection handling</a:t>
            </a:r>
            <a:endParaRPr b="0" i="0" sz="1100" u="none" cap="none" strike="noStrike">
              <a:solidFill>
                <a:schemeClr val="dk1"/>
              </a:solidFill>
              <a:latin typeface="Calibri"/>
              <a:ea typeface="Calibri"/>
              <a:cs typeface="Calibri"/>
              <a:sym typeface="Calibri"/>
            </a:endParaRPr>
          </a:p>
          <a:p>
            <a:pPr indent="0" lvl="0" marL="457200" marR="0" rtl="0" algn="l">
              <a:spcBef>
                <a:spcPts val="600"/>
              </a:spcBef>
              <a:spcAft>
                <a:spcPts val="0"/>
              </a:spcAft>
              <a:buNone/>
            </a:pPr>
            <a:r>
              <a:t/>
            </a:r>
            <a:endParaRPr b="0" i="0" sz="1100" u="none" cap="none" strike="noStrike">
              <a:solidFill>
                <a:schemeClr val="dk1"/>
              </a:solidFill>
              <a:latin typeface="Calibri"/>
              <a:ea typeface="Calibri"/>
              <a:cs typeface="Calibri"/>
              <a:sym typeface="Calibri"/>
            </a:endParaRPr>
          </a:p>
        </p:txBody>
      </p:sp>
      <p:sp>
        <p:nvSpPr>
          <p:cNvPr id="49" name="Google Shape;49;p2"/>
          <p:cNvSpPr/>
          <p:nvPr/>
        </p:nvSpPr>
        <p:spPr>
          <a:xfrm>
            <a:off x="4782312" y="1234440"/>
            <a:ext cx="4251960" cy="3429000"/>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4782312" y="1234440"/>
            <a:ext cx="425196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4946904" y="1417320"/>
            <a:ext cx="2286000" cy="237744"/>
          </a:xfrm>
          <a:prstGeom prst="rect">
            <a:avLst/>
          </a:prstGeom>
          <a:solidFill>
            <a:srgbClr val="EDE7FC"/>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4946904" y="1417320"/>
            <a:ext cx="228600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2DB8"/>
              </a:buClr>
              <a:buSzPts val="800"/>
              <a:buFont typeface="Calibri"/>
              <a:buNone/>
            </a:pPr>
            <a:r>
              <a:rPr b="1" i="0" lang="en-US" sz="800" u="none" cap="none" strike="noStrike">
                <a:solidFill>
                  <a:srgbClr val="5C2DB8"/>
                </a:solidFill>
                <a:latin typeface="Calibri"/>
                <a:ea typeface="Calibri"/>
                <a:cs typeface="Calibri"/>
                <a:sym typeface="Calibri"/>
              </a:rPr>
              <a:t>DAY 2  ·  MARCH 20</a:t>
            </a:r>
            <a:endParaRPr b="0" i="0" sz="800" u="none" cap="none" strike="noStrike">
              <a:solidFill>
                <a:schemeClr val="dk1"/>
              </a:solidFill>
              <a:latin typeface="Calibri"/>
              <a:ea typeface="Calibri"/>
              <a:cs typeface="Calibri"/>
              <a:sym typeface="Calibri"/>
            </a:endParaRPr>
          </a:p>
        </p:txBody>
      </p:sp>
      <p:sp>
        <p:nvSpPr>
          <p:cNvPr id="53" name="Google Shape;53;p2"/>
          <p:cNvSpPr/>
          <p:nvPr/>
        </p:nvSpPr>
        <p:spPr>
          <a:xfrm>
            <a:off x="4946904" y="1773936"/>
            <a:ext cx="38404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Trebuchet MS"/>
              <a:buNone/>
            </a:pPr>
            <a:r>
              <a:rPr b="1" i="0" lang="en-US" sz="1900" u="none" cap="none" strike="noStrike">
                <a:solidFill>
                  <a:srgbClr val="FFFFFF"/>
                </a:solidFill>
                <a:latin typeface="Trebuchet MS"/>
                <a:ea typeface="Trebuchet MS"/>
                <a:cs typeface="Trebuchet MS"/>
                <a:sym typeface="Trebuchet MS"/>
              </a:rPr>
              <a:t>RIA Strategy &amp; Pipeline</a:t>
            </a:r>
            <a:endParaRPr b="0" i="0" sz="1900" u="none" cap="none" strike="noStrike">
              <a:solidFill>
                <a:schemeClr val="dk1"/>
              </a:solidFill>
              <a:latin typeface="Calibri"/>
              <a:ea typeface="Calibri"/>
              <a:cs typeface="Calibri"/>
              <a:sym typeface="Calibri"/>
            </a:endParaRPr>
          </a:p>
        </p:txBody>
      </p:sp>
      <p:sp>
        <p:nvSpPr>
          <p:cNvPr id="54" name="Google Shape;54;p2"/>
          <p:cNvSpPr/>
          <p:nvPr/>
        </p:nvSpPr>
        <p:spPr>
          <a:xfrm>
            <a:off x="4946904" y="2212848"/>
            <a:ext cx="3749040" cy="18288"/>
          </a:xfrm>
          <a:prstGeom prst="rect">
            <a:avLst/>
          </a:prstGeom>
          <a:solidFill>
            <a:srgbClr val="2E2E46"/>
          </a:solidFill>
          <a:ln cap="flat" cmpd="sng" w="12700">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4983480" y="2322576"/>
            <a:ext cx="3840480" cy="21945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090B0"/>
              </a:buClr>
              <a:buSzPts val="1100"/>
              <a:buFont typeface="Calibri"/>
              <a:buChar char="•"/>
            </a:pPr>
            <a:r>
              <a:rPr b="0" i="0" lang="en-US" sz="1100" u="none" cap="none" strike="noStrike">
                <a:solidFill>
                  <a:srgbClr val="9090B0"/>
                </a:solidFill>
                <a:latin typeface="Calibri"/>
                <a:ea typeface="Calibri"/>
                <a:cs typeface="Calibri"/>
                <a:sym typeface="Calibri"/>
              </a:rPr>
              <a:t>RIA product discussion (Celisa, Bill, Deepak, Adarsh)</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9090B0"/>
              </a:buClr>
              <a:buSzPts val="1100"/>
              <a:buFont typeface="Calibri"/>
              <a:buChar char="•"/>
            </a:pPr>
            <a:r>
              <a:rPr b="0" i="0" lang="en-US" sz="1100" u="none" cap="none" strike="noStrike">
                <a:solidFill>
                  <a:srgbClr val="9090B0"/>
                </a:solidFill>
                <a:latin typeface="Calibri"/>
                <a:ea typeface="Calibri"/>
                <a:cs typeface="Calibri"/>
                <a:sym typeface="Calibri"/>
              </a:rPr>
              <a:t>2026 sales pipeline review (Marissa)</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9090B0"/>
              </a:buClr>
              <a:buSzPts val="1100"/>
              <a:buFont typeface="Calibri"/>
              <a:buChar char="•"/>
            </a:pPr>
            <a:r>
              <a:rPr b="0" i="0" lang="en-US" sz="1100" u="none" cap="none" strike="noStrike">
                <a:solidFill>
                  <a:srgbClr val="9090B0"/>
                </a:solidFill>
                <a:latin typeface="Calibri"/>
                <a:ea typeface="Calibri"/>
                <a:cs typeface="Calibri"/>
                <a:sym typeface="Calibri"/>
              </a:rPr>
              <a:t>Lead generation &amp; inbound/outbound mix</a:t>
            </a:r>
            <a:endParaRPr b="0" i="0" sz="11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9090B0"/>
              </a:buClr>
              <a:buSzPts val="1100"/>
              <a:buFont typeface="Calibri"/>
              <a:buChar char="•"/>
            </a:pPr>
            <a:r>
              <a:rPr b="0" i="0" lang="en-US" sz="1100" u="none" cap="none" strike="noStrike">
                <a:solidFill>
                  <a:srgbClr val="9090B0"/>
                </a:solidFill>
                <a:latin typeface="Calibri"/>
                <a:ea typeface="Calibri"/>
                <a:cs typeface="Calibri"/>
                <a:sym typeface="Calibri"/>
              </a:rPr>
              <a:t>Events calendar &amp; sales collateral needs</a:t>
            </a:r>
            <a:endParaRPr b="0" i="0" sz="1100" u="none" cap="none" strike="noStrike">
              <a:solidFill>
                <a:schemeClr val="dk1"/>
              </a:solidFill>
              <a:latin typeface="Calibri"/>
              <a:ea typeface="Calibri"/>
              <a:cs typeface="Calibri"/>
              <a:sym typeface="Calibri"/>
            </a:endParaRPr>
          </a:p>
        </p:txBody>
      </p:sp>
      <p:sp>
        <p:nvSpPr>
          <p:cNvPr id="56" name="Google Shape;56;p2"/>
          <p:cNvSpPr/>
          <p:nvPr/>
        </p:nvSpPr>
        <p:spPr>
          <a:xfrm>
            <a:off x="0" y="4873752"/>
            <a:ext cx="9144000" cy="269748"/>
          </a:xfrm>
          <a:prstGeom prst="rect">
            <a:avLst/>
          </a:prstGeom>
          <a:solidFill>
            <a:srgbClr val="1C1C2E"/>
          </a:solidFill>
          <a:ln cap="flat" cmpd="sng" w="12700">
            <a:solidFill>
              <a:srgbClr val="1C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506A"/>
              </a:buClr>
              <a:buSzPts val="800"/>
              <a:buFont typeface="Calibri"/>
              <a:buNone/>
            </a:pPr>
            <a:r>
              <a:rPr b="0" i="0" lang="en-US" sz="800" u="none" cap="none" strike="noStrike">
                <a:solidFill>
                  <a:srgbClr val="50506A"/>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58" name="Google Shape;58;p2"/>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8"/>
        </a:solidFill>
      </p:bgPr>
    </p:bg>
    <p:spTree>
      <p:nvGrpSpPr>
        <p:cNvPr id="63" name="Shape 63"/>
        <p:cNvGrpSpPr/>
        <p:nvPr/>
      </p:nvGrpSpPr>
      <p:grpSpPr>
        <a:xfrm>
          <a:off x="0" y="0"/>
          <a:ext cx="0" cy="0"/>
          <a:chOff x="0" y="0"/>
          <a:chExt cx="0" cy="0"/>
        </a:xfrm>
      </p:grpSpPr>
      <p:sp>
        <p:nvSpPr>
          <p:cNvPr id="64" name="Google Shape;64;p3"/>
          <p:cNvSpPr/>
          <p:nvPr/>
        </p:nvSpPr>
        <p:spPr>
          <a:xfrm>
            <a:off x="411480" y="256032"/>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3000"/>
              <a:buFont typeface="Trebuchet MS"/>
              <a:buNone/>
            </a:pPr>
            <a:r>
              <a:rPr b="1" i="0" lang="en-US" sz="3000" u="none" cap="none" strike="noStrike">
                <a:solidFill>
                  <a:srgbClr val="13131F"/>
                </a:solidFill>
                <a:latin typeface="Trebuchet MS"/>
                <a:ea typeface="Trebuchet MS"/>
                <a:cs typeface="Trebuchet MS"/>
                <a:sym typeface="Trebuchet MS"/>
              </a:rPr>
              <a:t>Product Orientation</a:t>
            </a:r>
            <a:endParaRPr b="0" i="0" sz="3000" u="none" cap="none" strike="noStrike">
              <a:solidFill>
                <a:schemeClr val="dk1"/>
              </a:solidFill>
              <a:latin typeface="Calibri"/>
              <a:ea typeface="Calibri"/>
              <a:cs typeface="Calibri"/>
              <a:sym typeface="Calibri"/>
            </a:endParaRPr>
          </a:p>
        </p:txBody>
      </p:sp>
      <p:sp>
        <p:nvSpPr>
          <p:cNvPr id="65" name="Google Shape;65;p3"/>
          <p:cNvSpPr/>
          <p:nvPr/>
        </p:nvSpPr>
        <p:spPr>
          <a:xfrm>
            <a:off x="411480" y="777240"/>
            <a:ext cx="8321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1200"/>
              <a:buFont typeface="Calibri"/>
              <a:buNone/>
            </a:pPr>
            <a:r>
              <a:rPr b="0" i="1" lang="en-US" sz="1200" u="none" cap="none" strike="noStrike">
                <a:solidFill>
                  <a:srgbClr val="4A4A6A"/>
                </a:solidFill>
                <a:latin typeface="Calibri"/>
                <a:ea typeface="Calibri"/>
                <a:cs typeface="Calibri"/>
                <a:sym typeface="Calibri"/>
              </a:rPr>
              <a:t>Day 1  ·  March 19  ·  9:00 AM – 12:00 PM</a:t>
            </a:r>
            <a:endParaRPr b="0" i="0" sz="1200" u="none" cap="none" strike="noStrike">
              <a:solidFill>
                <a:schemeClr val="dk1"/>
              </a:solidFill>
              <a:latin typeface="Calibri"/>
              <a:ea typeface="Calibri"/>
              <a:cs typeface="Calibri"/>
              <a:sym typeface="Calibri"/>
            </a:endParaRPr>
          </a:p>
        </p:txBody>
      </p:sp>
      <p:sp>
        <p:nvSpPr>
          <p:cNvPr id="66" name="Google Shape;66;p3"/>
          <p:cNvSpPr/>
          <p:nvPr/>
        </p:nvSpPr>
        <p:spPr>
          <a:xfrm>
            <a:off x="411480" y="1051560"/>
            <a:ext cx="832104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6858000" y="256032"/>
            <a:ext cx="1920240" cy="246888"/>
          </a:xfrm>
          <a:prstGeom prst="rect">
            <a:avLst/>
          </a:prstGeom>
          <a:solidFill>
            <a:srgbClr val="EDE7FC"/>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6858000" y="256032"/>
            <a:ext cx="19202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2DB8"/>
              </a:buClr>
              <a:buSzPts val="800"/>
              <a:buFont typeface="Calibri"/>
              <a:buNone/>
            </a:pPr>
            <a:r>
              <a:rPr b="1" i="0" lang="en-US" sz="800" u="none" cap="none" strike="noStrike">
                <a:solidFill>
                  <a:srgbClr val="5C2DB8"/>
                </a:solidFill>
                <a:latin typeface="Calibri"/>
                <a:ea typeface="Calibri"/>
                <a:cs typeface="Calibri"/>
                <a:sym typeface="Calibri"/>
              </a:rPr>
              <a:t>DAY 1  ·  9:00 AM – 12:00 PM</a:t>
            </a:r>
            <a:endParaRPr b="0" i="0" sz="800" u="none" cap="none" strike="noStrike">
              <a:solidFill>
                <a:schemeClr val="dk1"/>
              </a:solidFill>
              <a:latin typeface="Calibri"/>
              <a:ea typeface="Calibri"/>
              <a:cs typeface="Calibri"/>
              <a:sym typeface="Calibri"/>
            </a:endParaRPr>
          </a:p>
        </p:txBody>
      </p:sp>
      <p:sp>
        <p:nvSpPr>
          <p:cNvPr id="69" name="Google Shape;69;p3"/>
          <p:cNvSpPr/>
          <p:nvPr/>
        </p:nvSpPr>
        <p:spPr>
          <a:xfrm>
            <a:off x="347472" y="1170432"/>
            <a:ext cx="4160520" cy="1280160"/>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347472" y="1170432"/>
            <a:ext cx="416052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512064" y="1298448"/>
            <a:ext cx="38862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3FE4"/>
              </a:buClr>
              <a:buSzPts val="800"/>
              <a:buFont typeface="Calibri"/>
              <a:buNone/>
            </a:pPr>
            <a:r>
              <a:rPr b="1" i="0" lang="en-US" sz="800" u="none" cap="none" strike="noStrike">
                <a:solidFill>
                  <a:srgbClr val="7B3FE4"/>
                </a:solidFill>
                <a:latin typeface="Calibri"/>
                <a:ea typeface="Calibri"/>
                <a:cs typeface="Calibri"/>
                <a:sym typeface="Calibri"/>
              </a:rPr>
              <a:t>9:00 – 9:45 AM</a:t>
            </a:r>
            <a:endParaRPr b="0" i="0" sz="800" u="none" cap="none" strike="noStrike">
              <a:solidFill>
                <a:schemeClr val="dk1"/>
              </a:solidFill>
              <a:latin typeface="Calibri"/>
              <a:ea typeface="Calibri"/>
              <a:cs typeface="Calibri"/>
              <a:sym typeface="Calibri"/>
            </a:endParaRPr>
          </a:p>
        </p:txBody>
      </p:sp>
      <p:sp>
        <p:nvSpPr>
          <p:cNvPr id="72" name="Google Shape;72;p3"/>
          <p:cNvSpPr/>
          <p:nvPr/>
        </p:nvSpPr>
        <p:spPr>
          <a:xfrm>
            <a:off x="512064" y="1508760"/>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i="0" lang="en-US" sz="1200" u="none" cap="none" strike="noStrike">
                <a:solidFill>
                  <a:srgbClr val="13131F"/>
                </a:solidFill>
                <a:latin typeface="Calibri"/>
                <a:ea typeface="Calibri"/>
                <a:cs typeface="Calibri"/>
                <a:sym typeface="Calibri"/>
              </a:rPr>
              <a:t>Product Demo &amp; Discussion</a:t>
            </a:r>
            <a:endParaRPr b="0" i="0" sz="1200" u="none" cap="none" strike="noStrike">
              <a:solidFill>
                <a:schemeClr val="dk1"/>
              </a:solidFill>
              <a:latin typeface="Calibri"/>
              <a:ea typeface="Calibri"/>
              <a:cs typeface="Calibri"/>
              <a:sym typeface="Calibri"/>
            </a:endParaRPr>
          </a:p>
        </p:txBody>
      </p:sp>
      <p:sp>
        <p:nvSpPr>
          <p:cNvPr id="73" name="Google Shape;73;p3"/>
          <p:cNvSpPr/>
          <p:nvPr/>
        </p:nvSpPr>
        <p:spPr>
          <a:xfrm>
            <a:off x="548640" y="1892808"/>
            <a:ext cx="3840480" cy="466344"/>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Demo led by Deepak, Adarsh &amp; Prashant</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Full platform walkthrough</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Key features &amp; differentiators</a:t>
            </a:r>
            <a:endParaRPr b="0" i="0" sz="950" u="none" cap="none" strike="noStrike">
              <a:solidFill>
                <a:schemeClr val="dk1"/>
              </a:solidFill>
              <a:latin typeface="Calibri"/>
              <a:ea typeface="Calibri"/>
              <a:cs typeface="Calibri"/>
              <a:sym typeface="Calibri"/>
            </a:endParaRPr>
          </a:p>
        </p:txBody>
      </p:sp>
      <p:sp>
        <p:nvSpPr>
          <p:cNvPr id="74" name="Google Shape;74;p3"/>
          <p:cNvSpPr/>
          <p:nvPr/>
        </p:nvSpPr>
        <p:spPr>
          <a:xfrm>
            <a:off x="347472" y="2542032"/>
            <a:ext cx="4160520" cy="1938528"/>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347472" y="2542032"/>
            <a:ext cx="416052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512064" y="2670048"/>
            <a:ext cx="38862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3FE4"/>
              </a:buClr>
              <a:buSzPts val="800"/>
              <a:buFont typeface="Calibri"/>
              <a:buNone/>
            </a:pPr>
            <a:r>
              <a:rPr b="1" i="0" lang="en-US" sz="800" u="none" cap="none" strike="noStrike">
                <a:solidFill>
                  <a:srgbClr val="7B3FE4"/>
                </a:solidFill>
                <a:latin typeface="Calibri"/>
                <a:ea typeface="Calibri"/>
                <a:cs typeface="Calibri"/>
                <a:sym typeface="Calibri"/>
              </a:rPr>
              <a:t>9:30 – 10:00 AM</a:t>
            </a:r>
            <a:endParaRPr b="0" i="0" sz="800" u="none" cap="none" strike="noStrike">
              <a:solidFill>
                <a:schemeClr val="dk1"/>
              </a:solidFill>
              <a:latin typeface="Calibri"/>
              <a:ea typeface="Calibri"/>
              <a:cs typeface="Calibri"/>
              <a:sym typeface="Calibri"/>
            </a:endParaRPr>
          </a:p>
        </p:txBody>
      </p:sp>
      <p:sp>
        <p:nvSpPr>
          <p:cNvPr id="77" name="Google Shape;77;p3"/>
          <p:cNvSpPr/>
          <p:nvPr/>
        </p:nvSpPr>
        <p:spPr>
          <a:xfrm>
            <a:off x="512064" y="2880360"/>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i="0" lang="en-US" sz="1200" u="none" cap="none" strike="noStrike">
                <a:solidFill>
                  <a:srgbClr val="13131F"/>
                </a:solidFill>
                <a:latin typeface="Calibri"/>
                <a:ea typeface="Calibri"/>
                <a:cs typeface="Calibri"/>
                <a:sym typeface="Calibri"/>
              </a:rPr>
              <a:t>Client UX &amp; Onboarding</a:t>
            </a:r>
            <a:endParaRPr b="0" i="0" sz="1200" u="none" cap="none" strike="noStrike">
              <a:solidFill>
                <a:schemeClr val="dk1"/>
              </a:solidFill>
              <a:latin typeface="Calibri"/>
              <a:ea typeface="Calibri"/>
              <a:cs typeface="Calibri"/>
              <a:sym typeface="Calibri"/>
            </a:endParaRPr>
          </a:p>
        </p:txBody>
      </p:sp>
      <p:sp>
        <p:nvSpPr>
          <p:cNvPr id="78" name="Google Shape;78;p3"/>
          <p:cNvSpPr/>
          <p:nvPr/>
        </p:nvSpPr>
        <p:spPr>
          <a:xfrm>
            <a:off x="548640" y="3264408"/>
            <a:ext cx="3840480" cy="1124712"/>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Client onboarding flow walkthrough</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Product demo for prospects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White-glove service — who qualifies?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Post-onboarding client service model</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Support team overview</a:t>
            </a:r>
            <a:endParaRPr b="0" i="0" sz="950" u="none" cap="none" strike="noStrike">
              <a:solidFill>
                <a:schemeClr val="dk1"/>
              </a:solidFill>
              <a:latin typeface="Calibri"/>
              <a:ea typeface="Calibri"/>
              <a:cs typeface="Calibri"/>
              <a:sym typeface="Calibri"/>
            </a:endParaRPr>
          </a:p>
        </p:txBody>
      </p:sp>
      <p:sp>
        <p:nvSpPr>
          <p:cNvPr id="79" name="Google Shape;79;p3"/>
          <p:cNvSpPr/>
          <p:nvPr/>
        </p:nvSpPr>
        <p:spPr>
          <a:xfrm>
            <a:off x="4636008" y="1170432"/>
            <a:ext cx="4160520" cy="3310128"/>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4636008" y="1170432"/>
            <a:ext cx="416052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4800600" y="1298448"/>
            <a:ext cx="38862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3FE4"/>
              </a:buClr>
              <a:buSzPts val="800"/>
              <a:buFont typeface="Calibri"/>
              <a:buNone/>
            </a:pPr>
            <a:r>
              <a:rPr b="1" i="0" lang="en-US" sz="800" u="none" cap="none" strike="noStrike">
                <a:solidFill>
                  <a:srgbClr val="7B3FE4"/>
                </a:solidFill>
                <a:latin typeface="Calibri"/>
                <a:ea typeface="Calibri"/>
                <a:cs typeface="Calibri"/>
                <a:sym typeface="Calibri"/>
              </a:rPr>
              <a:t>10:00 AM – 12:00 PM</a:t>
            </a:r>
            <a:endParaRPr b="0" i="0" sz="800" u="none" cap="none" strike="noStrike">
              <a:solidFill>
                <a:schemeClr val="dk1"/>
              </a:solidFill>
              <a:latin typeface="Calibri"/>
              <a:ea typeface="Calibri"/>
              <a:cs typeface="Calibri"/>
              <a:sym typeface="Calibri"/>
            </a:endParaRPr>
          </a:p>
        </p:txBody>
      </p:sp>
      <p:sp>
        <p:nvSpPr>
          <p:cNvPr id="82" name="Google Shape;82;p3"/>
          <p:cNvSpPr/>
          <p:nvPr/>
        </p:nvSpPr>
        <p:spPr>
          <a:xfrm>
            <a:off x="4800600" y="1508760"/>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i="0" lang="en-US" sz="1200" u="none" cap="none" strike="noStrike">
                <a:solidFill>
                  <a:srgbClr val="13131F"/>
                </a:solidFill>
                <a:latin typeface="Calibri"/>
                <a:ea typeface="Calibri"/>
                <a:cs typeface="Calibri"/>
                <a:sym typeface="Calibri"/>
              </a:rPr>
              <a:t>Overview of Specific Products</a:t>
            </a:r>
            <a:endParaRPr b="0" i="0" sz="1200" u="none" cap="none" strike="noStrike">
              <a:solidFill>
                <a:schemeClr val="dk1"/>
              </a:solidFill>
              <a:latin typeface="Calibri"/>
              <a:ea typeface="Calibri"/>
              <a:cs typeface="Calibri"/>
              <a:sym typeface="Calibri"/>
            </a:endParaRPr>
          </a:p>
        </p:txBody>
      </p:sp>
      <p:sp>
        <p:nvSpPr>
          <p:cNvPr id="83" name="Google Shape;83;p3"/>
          <p:cNvSpPr/>
          <p:nvPr/>
        </p:nvSpPr>
        <p:spPr>
          <a:xfrm>
            <a:off x="4837176" y="1892808"/>
            <a:ext cx="3840480" cy="2496312"/>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CUSTODY </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TRADING </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LOANS </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YIELD </a:t>
            </a:r>
            <a:endParaRPr b="0" i="0" sz="950" u="none" cap="none" strike="noStrike">
              <a:solidFill>
                <a:schemeClr val="dk1"/>
              </a:solidFill>
              <a:latin typeface="Calibri"/>
              <a:ea typeface="Calibri"/>
              <a:cs typeface="Calibri"/>
              <a:sym typeface="Calibri"/>
            </a:endParaRPr>
          </a:p>
        </p:txBody>
      </p:sp>
      <p:sp>
        <p:nvSpPr>
          <p:cNvPr id="84" name="Google Shape;84;p3"/>
          <p:cNvSpPr/>
          <p:nvPr/>
        </p:nvSpPr>
        <p:spPr>
          <a:xfrm>
            <a:off x="0" y="4873752"/>
            <a:ext cx="9144000" cy="269748"/>
          </a:xfrm>
          <a:prstGeom prst="rect">
            <a:avLst/>
          </a:prstGeom>
          <a:solidFill>
            <a:srgbClr val="E8E8F0"/>
          </a:solidFill>
          <a:ln cap="flat" cmpd="sng" w="12700">
            <a:solidFill>
              <a:srgbClr val="E8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A8"/>
              </a:buClr>
              <a:buSzPts val="800"/>
              <a:buFont typeface="Calibri"/>
              <a:buNone/>
            </a:pPr>
            <a:r>
              <a:rPr b="0" i="0" lang="en-US" sz="800" u="none" cap="none" strike="noStrike">
                <a:solidFill>
                  <a:srgbClr val="9090A8"/>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86" name="Google Shape;86;p3"/>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131F"/>
        </a:solidFill>
      </p:bgPr>
    </p:bg>
    <p:spTree>
      <p:nvGrpSpPr>
        <p:cNvPr id="91" name="Shape 91"/>
        <p:cNvGrpSpPr/>
        <p:nvPr/>
      </p:nvGrpSpPr>
      <p:grpSpPr>
        <a:xfrm>
          <a:off x="0" y="0"/>
          <a:ext cx="0" cy="0"/>
          <a:chOff x="0" y="0"/>
          <a:chExt cx="0" cy="0"/>
        </a:xfrm>
      </p:grpSpPr>
      <p:sp>
        <p:nvSpPr>
          <p:cNvPr id="92" name="Google Shape;92;p4"/>
          <p:cNvSpPr/>
          <p:nvPr/>
        </p:nvSpPr>
        <p:spPr>
          <a:xfrm>
            <a:off x="7772400" y="-1097280"/>
            <a:ext cx="4389120" cy="438912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8138160" y="-640080"/>
            <a:ext cx="3566160" cy="356616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8503920" y="-182880"/>
            <a:ext cx="2743200" cy="274320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411480" y="256032"/>
            <a:ext cx="82296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Trebuchet MS"/>
              <a:buNone/>
            </a:pPr>
            <a:r>
              <a:rPr b="1" i="0" lang="en-US" sz="3400" u="none" cap="none" strike="noStrike">
                <a:solidFill>
                  <a:srgbClr val="FFFFFF"/>
                </a:solidFill>
                <a:latin typeface="Trebuchet MS"/>
                <a:ea typeface="Trebuchet MS"/>
                <a:cs typeface="Trebuchet MS"/>
                <a:sym typeface="Trebuchet MS"/>
              </a:rPr>
              <a:t>Abra's Core Products</a:t>
            </a:r>
            <a:endParaRPr b="0" i="0" sz="3400" u="none" cap="none" strike="noStrike">
              <a:solidFill>
                <a:schemeClr val="dk1"/>
              </a:solidFill>
              <a:latin typeface="Calibri"/>
              <a:ea typeface="Calibri"/>
              <a:cs typeface="Calibri"/>
              <a:sym typeface="Calibri"/>
            </a:endParaRPr>
          </a:p>
        </p:txBody>
      </p:sp>
      <p:sp>
        <p:nvSpPr>
          <p:cNvPr id="96" name="Google Shape;96;p4"/>
          <p:cNvSpPr/>
          <p:nvPr/>
        </p:nvSpPr>
        <p:spPr>
          <a:xfrm>
            <a:off x="411480" y="822960"/>
            <a:ext cx="7772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1300"/>
              <a:buFont typeface="Calibri"/>
              <a:buNone/>
            </a:pPr>
            <a:r>
              <a:rPr b="0" i="0" lang="en-US" sz="1300" u="none" cap="none" strike="noStrike">
                <a:solidFill>
                  <a:srgbClr val="9090B0"/>
                </a:solidFill>
                <a:latin typeface="Calibri"/>
                <a:ea typeface="Calibri"/>
                <a:cs typeface="Calibri"/>
                <a:sym typeface="Calibri"/>
              </a:rPr>
              <a:t>A unified platform for custody, trading, yield, and lending — all in one place.</a:t>
            </a:r>
            <a:endParaRPr b="0" i="0" sz="1300" u="none" cap="none" strike="noStrike">
              <a:solidFill>
                <a:schemeClr val="dk1"/>
              </a:solidFill>
              <a:latin typeface="Calibri"/>
              <a:ea typeface="Calibri"/>
              <a:cs typeface="Calibri"/>
              <a:sym typeface="Calibri"/>
            </a:endParaRPr>
          </a:p>
        </p:txBody>
      </p:sp>
      <p:sp>
        <p:nvSpPr>
          <p:cNvPr id="97" name="Google Shape;97;p4"/>
          <p:cNvSpPr/>
          <p:nvPr/>
        </p:nvSpPr>
        <p:spPr>
          <a:xfrm>
            <a:off x="411480" y="1115568"/>
            <a:ext cx="832104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347472" y="1234440"/>
            <a:ext cx="4251960" cy="166420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347472" y="1234440"/>
            <a:ext cx="425196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512064" y="1362456"/>
            <a:ext cx="347472" cy="256032"/>
          </a:xfrm>
          <a:prstGeom prst="rect">
            <a:avLst/>
          </a:prstGeom>
          <a:solidFill>
            <a:srgbClr val="7B3FE4">
              <a:alpha val="25098"/>
            </a:srgbClr>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512064" y="1362456"/>
            <a:ext cx="34747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B3FE4"/>
              </a:buClr>
              <a:buSzPts val="900"/>
              <a:buFont typeface="Calibri"/>
              <a:buNone/>
            </a:pPr>
            <a:r>
              <a:rPr b="1" i="0" lang="en-US" sz="900" u="none" cap="none" strike="noStrike">
                <a:solidFill>
                  <a:srgbClr val="7B3FE4"/>
                </a:solidFill>
                <a:latin typeface="Calibri"/>
                <a:ea typeface="Calibri"/>
                <a:cs typeface="Calibri"/>
                <a:sym typeface="Calibri"/>
              </a:rPr>
              <a:t>01</a:t>
            </a:r>
            <a:endParaRPr b="0" i="0" sz="900" u="none" cap="none" strike="noStrike">
              <a:solidFill>
                <a:schemeClr val="dk1"/>
              </a:solidFill>
              <a:latin typeface="Calibri"/>
              <a:ea typeface="Calibri"/>
              <a:cs typeface="Calibri"/>
              <a:sym typeface="Calibri"/>
            </a:endParaRPr>
          </a:p>
        </p:txBody>
      </p:sp>
      <p:sp>
        <p:nvSpPr>
          <p:cNvPr id="102" name="Google Shape;102;p4"/>
          <p:cNvSpPr/>
          <p:nvPr/>
        </p:nvSpPr>
        <p:spPr>
          <a:xfrm>
            <a:off x="941832" y="1344168"/>
            <a:ext cx="2286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Custody</a:t>
            </a:r>
            <a:endParaRPr b="0" i="0" sz="2000" u="none" cap="none" strike="noStrike">
              <a:solidFill>
                <a:schemeClr val="dk1"/>
              </a:solidFill>
              <a:latin typeface="Calibri"/>
              <a:ea typeface="Calibri"/>
              <a:cs typeface="Calibri"/>
              <a:sym typeface="Calibri"/>
            </a:endParaRPr>
          </a:p>
        </p:txBody>
      </p:sp>
      <p:sp>
        <p:nvSpPr>
          <p:cNvPr id="103" name="Google Shape;103;p4"/>
          <p:cNvSpPr/>
          <p:nvPr/>
        </p:nvSpPr>
        <p:spPr>
          <a:xfrm>
            <a:off x="941832" y="1655064"/>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3FE4"/>
              </a:buClr>
              <a:buSzPts val="1000"/>
              <a:buFont typeface="Calibri"/>
              <a:buNone/>
            </a:pPr>
            <a:r>
              <a:rPr b="0" i="1" lang="en-US" sz="1000" u="none" cap="none" strike="noStrike">
                <a:solidFill>
                  <a:srgbClr val="7B3FE4"/>
                </a:solidFill>
                <a:latin typeface="Calibri"/>
                <a:ea typeface="Calibri"/>
                <a:cs typeface="Calibri"/>
                <a:sym typeface="Calibri"/>
              </a:rPr>
              <a:t>Your assets. Your vault.</a:t>
            </a:r>
            <a:endParaRPr b="0" i="0" sz="1000" u="none" cap="none" strike="noStrike">
              <a:solidFill>
                <a:schemeClr val="dk1"/>
              </a:solidFill>
              <a:latin typeface="Calibri"/>
              <a:ea typeface="Calibri"/>
              <a:cs typeface="Calibri"/>
              <a:sym typeface="Calibri"/>
            </a:endParaRPr>
          </a:p>
        </p:txBody>
      </p:sp>
      <p:sp>
        <p:nvSpPr>
          <p:cNvPr id="104" name="Google Shape;104;p4"/>
          <p:cNvSpPr/>
          <p:nvPr/>
        </p:nvSpPr>
        <p:spPr>
          <a:xfrm>
            <a:off x="512064" y="1892808"/>
            <a:ext cx="3886200" cy="18288"/>
          </a:xfrm>
          <a:prstGeom prst="rect">
            <a:avLst/>
          </a:prstGeom>
          <a:solidFill>
            <a:srgbClr val="2E2E46"/>
          </a:solidFill>
          <a:ln cap="flat" cmpd="sng" w="12700">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548640" y="1965960"/>
            <a:ext cx="3931920" cy="859536"/>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090B0"/>
              </a:buClr>
              <a:buSzPts val="900"/>
              <a:buFont typeface="Calibri"/>
              <a:buChar char="•"/>
            </a:pPr>
            <a:r>
              <a:rPr b="0" i="0" lang="en-US" sz="900" u="none" cap="none" strike="noStrike">
                <a:solidFill>
                  <a:srgbClr val="9090B0"/>
                </a:solidFill>
                <a:latin typeface="Calibri"/>
                <a:ea typeface="Calibri"/>
                <a:cs typeface="Calibri"/>
                <a:sym typeface="Calibri"/>
              </a:rPr>
              <a:t>Fireblocks MPC Wallet Technology — multi-party computation </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rPr b="0" i="0" lang="en-US" sz="900" u="none" cap="none" strike="noStrike">
                <a:solidFill>
                  <a:srgbClr val="9090B0"/>
                </a:solidFill>
                <a:latin typeface="Calibri"/>
                <a:ea typeface="Calibri"/>
                <a:cs typeface="Calibri"/>
                <a:sym typeface="Calibri"/>
              </a:rPr>
              <a:t>Separately Managed Accounts (SMAs) — full segregation, legal title stays with client</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rPr b="0" i="0" lang="en-US" sz="900" u="none" cap="none" strike="noStrike">
                <a:solidFill>
                  <a:srgbClr val="9090B0"/>
                </a:solidFill>
                <a:latin typeface="Calibri"/>
                <a:ea typeface="Calibri"/>
                <a:cs typeface="Calibri"/>
                <a:sym typeface="Calibri"/>
              </a:rPr>
              <a:t>SEC-registered RIA fiduciary standard — legal obligation to act in client's best interest</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rPr b="0" i="0" lang="en-US" sz="900" u="none" cap="none" strike="noStrike">
                <a:solidFill>
                  <a:srgbClr val="9090B0"/>
                </a:solidFill>
                <a:latin typeface="Calibri"/>
                <a:ea typeface="Calibri"/>
                <a:cs typeface="Calibri"/>
                <a:sym typeface="Calibri"/>
              </a:rPr>
              <a:t>Florida Trust in progress (summer 2026)</a:t>
            </a:r>
            <a:endParaRPr b="0" i="0" sz="900" u="none" cap="none" strike="noStrike">
              <a:solidFill>
                <a:schemeClr val="dk1"/>
              </a:solidFill>
              <a:latin typeface="Calibri"/>
              <a:ea typeface="Calibri"/>
              <a:cs typeface="Calibri"/>
              <a:sym typeface="Calibri"/>
            </a:endParaRPr>
          </a:p>
        </p:txBody>
      </p:sp>
      <p:sp>
        <p:nvSpPr>
          <p:cNvPr id="106" name="Google Shape;106;p4"/>
          <p:cNvSpPr/>
          <p:nvPr/>
        </p:nvSpPr>
        <p:spPr>
          <a:xfrm>
            <a:off x="4782312" y="1234440"/>
            <a:ext cx="4251960" cy="166420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4782312" y="1234440"/>
            <a:ext cx="4251960" cy="45720"/>
          </a:xfrm>
          <a:prstGeom prst="rect">
            <a:avLst/>
          </a:prstGeom>
          <a:solidFill>
            <a:srgbClr val="9B6AF0"/>
          </a:solidFill>
          <a:ln cap="flat" cmpd="sng" w="12700">
            <a:solidFill>
              <a:srgbClr val="9B6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4946904" y="1362456"/>
            <a:ext cx="347472" cy="256032"/>
          </a:xfrm>
          <a:prstGeom prst="rect">
            <a:avLst/>
          </a:prstGeom>
          <a:solidFill>
            <a:srgbClr val="9B6AF0">
              <a:alpha val="25098"/>
            </a:srgbClr>
          </a:solidFill>
          <a:ln cap="flat" cmpd="sng" w="9525">
            <a:solidFill>
              <a:srgbClr val="9B6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4946904" y="1362456"/>
            <a:ext cx="34747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B6AF0"/>
              </a:buClr>
              <a:buSzPts val="900"/>
              <a:buFont typeface="Calibri"/>
              <a:buNone/>
            </a:pPr>
            <a:r>
              <a:rPr b="1" i="0" lang="en-US" sz="900" u="none" cap="none" strike="noStrike">
                <a:solidFill>
                  <a:srgbClr val="9B6AF0"/>
                </a:solidFill>
                <a:latin typeface="Calibri"/>
                <a:ea typeface="Calibri"/>
                <a:cs typeface="Calibri"/>
                <a:sym typeface="Calibri"/>
              </a:rPr>
              <a:t>02</a:t>
            </a:r>
            <a:endParaRPr b="0" i="0" sz="900" u="none" cap="none" strike="noStrike">
              <a:solidFill>
                <a:schemeClr val="dk1"/>
              </a:solidFill>
              <a:latin typeface="Calibri"/>
              <a:ea typeface="Calibri"/>
              <a:cs typeface="Calibri"/>
              <a:sym typeface="Calibri"/>
            </a:endParaRPr>
          </a:p>
        </p:txBody>
      </p:sp>
      <p:sp>
        <p:nvSpPr>
          <p:cNvPr id="110" name="Google Shape;110;p4"/>
          <p:cNvSpPr/>
          <p:nvPr/>
        </p:nvSpPr>
        <p:spPr>
          <a:xfrm>
            <a:off x="5376672" y="1344168"/>
            <a:ext cx="2286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Trade</a:t>
            </a:r>
            <a:endParaRPr b="0" i="0" sz="2000" u="none" cap="none" strike="noStrike">
              <a:solidFill>
                <a:schemeClr val="dk1"/>
              </a:solidFill>
              <a:latin typeface="Calibri"/>
              <a:ea typeface="Calibri"/>
              <a:cs typeface="Calibri"/>
              <a:sym typeface="Calibri"/>
            </a:endParaRPr>
          </a:p>
        </p:txBody>
      </p:sp>
      <p:sp>
        <p:nvSpPr>
          <p:cNvPr id="111" name="Google Shape;111;p4"/>
          <p:cNvSpPr/>
          <p:nvPr/>
        </p:nvSpPr>
        <p:spPr>
          <a:xfrm>
            <a:off x="5376672" y="1655064"/>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000"/>
              <a:buFont typeface="Calibri"/>
              <a:buNone/>
            </a:pPr>
            <a:r>
              <a:rPr b="0" i="1" lang="en-US" sz="1000" u="none" cap="none" strike="noStrike">
                <a:solidFill>
                  <a:srgbClr val="9B6AF0"/>
                </a:solidFill>
                <a:latin typeface="Calibri"/>
                <a:ea typeface="Calibri"/>
                <a:cs typeface="Calibri"/>
                <a:sym typeface="Calibri"/>
              </a:rPr>
              <a:t>Deep liquidity across 200+ assets.</a:t>
            </a:r>
            <a:endParaRPr b="0" i="0" sz="1000" u="none" cap="none" strike="noStrike">
              <a:solidFill>
                <a:schemeClr val="dk1"/>
              </a:solidFill>
              <a:latin typeface="Calibri"/>
              <a:ea typeface="Calibri"/>
              <a:cs typeface="Calibri"/>
              <a:sym typeface="Calibri"/>
            </a:endParaRPr>
          </a:p>
        </p:txBody>
      </p:sp>
      <p:sp>
        <p:nvSpPr>
          <p:cNvPr id="112" name="Google Shape;112;p4"/>
          <p:cNvSpPr/>
          <p:nvPr/>
        </p:nvSpPr>
        <p:spPr>
          <a:xfrm>
            <a:off x="4946904" y="1892808"/>
            <a:ext cx="3886200" cy="18288"/>
          </a:xfrm>
          <a:prstGeom prst="rect">
            <a:avLst/>
          </a:prstGeom>
          <a:solidFill>
            <a:srgbClr val="2E2E46"/>
          </a:solidFill>
          <a:ln cap="flat" cmpd="sng" w="12700">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4983480" y="1965960"/>
            <a:ext cx="3931920" cy="859536"/>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090B0"/>
              </a:buClr>
              <a:buSzPts val="900"/>
              <a:buFont typeface="Calibri"/>
              <a:buChar char="•"/>
            </a:pPr>
            <a:r>
              <a:rPr lang="en-US" sz="900">
                <a:solidFill>
                  <a:srgbClr val="9090B0"/>
                </a:solidFill>
                <a:latin typeface="Calibri"/>
                <a:ea typeface="Calibri"/>
                <a:cs typeface="Calibri"/>
                <a:sym typeface="Calibri"/>
              </a:rPr>
              <a:t>Currently BTC, ETH, SOL pairs with USDC</a:t>
            </a:r>
            <a:endParaRPr sz="900">
              <a:solidFill>
                <a:srgbClr val="9090B0"/>
              </a:solidFill>
              <a:latin typeface="Calibri"/>
              <a:ea typeface="Calibri"/>
              <a:cs typeface="Calibri"/>
              <a:sym typeface="Calibri"/>
            </a:endParaRPr>
          </a:p>
          <a:p>
            <a:pPr indent="-342900" lvl="0" marL="342900" marR="0" rtl="0" algn="l">
              <a:spcBef>
                <a:spcPts val="0"/>
              </a:spcBef>
              <a:spcAft>
                <a:spcPts val="0"/>
              </a:spcAft>
              <a:buClr>
                <a:srgbClr val="9090B0"/>
              </a:buClr>
              <a:buSzPts val="900"/>
              <a:buFont typeface="Calibri"/>
              <a:buChar char="•"/>
            </a:pPr>
            <a:r>
              <a:rPr lang="en-US" sz="900">
                <a:solidFill>
                  <a:srgbClr val="9090B0"/>
                </a:solidFill>
                <a:latin typeface="Calibri"/>
                <a:ea typeface="Calibri"/>
                <a:cs typeface="Calibri"/>
                <a:sym typeface="Calibri"/>
              </a:rPr>
              <a:t>Onboarding with Kraken to support </a:t>
            </a:r>
            <a:r>
              <a:rPr b="0" i="0" lang="en-US" sz="900" u="none" cap="none" strike="noStrike">
                <a:solidFill>
                  <a:srgbClr val="9090B0"/>
                </a:solidFill>
                <a:latin typeface="Calibri"/>
                <a:ea typeface="Calibri"/>
                <a:cs typeface="Calibri"/>
                <a:sym typeface="Calibri"/>
              </a:rPr>
              <a:t>200+ asset pairs via Kraken integration</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rPr lang="en-US" sz="900">
                <a:solidFill>
                  <a:srgbClr val="9090B0"/>
                </a:solidFill>
                <a:latin typeface="Calibri"/>
                <a:ea typeface="Calibri"/>
                <a:cs typeface="Calibri"/>
                <a:sym typeface="Calibri"/>
              </a:rPr>
              <a:t>Backend is Talos infra + onboarded with LPs - OTC style pricing </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rPr b="0" i="0" lang="en-US" sz="900" u="none" cap="none" strike="noStrike">
                <a:solidFill>
                  <a:srgbClr val="9090B0"/>
                </a:solidFill>
                <a:latin typeface="Calibri"/>
                <a:ea typeface="Calibri"/>
                <a:cs typeface="Calibri"/>
                <a:sym typeface="Calibri"/>
              </a:rPr>
              <a:t>T+1 settlement currently in product</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t/>
            </a:r>
            <a:endParaRPr b="0" i="0" sz="900" u="none" cap="none" strike="noStrike">
              <a:solidFill>
                <a:schemeClr val="dk1"/>
              </a:solidFill>
              <a:latin typeface="Calibri"/>
              <a:ea typeface="Calibri"/>
              <a:cs typeface="Calibri"/>
              <a:sym typeface="Calibri"/>
            </a:endParaRPr>
          </a:p>
        </p:txBody>
      </p:sp>
      <p:sp>
        <p:nvSpPr>
          <p:cNvPr id="114" name="Google Shape;114;p4"/>
          <p:cNvSpPr/>
          <p:nvPr/>
        </p:nvSpPr>
        <p:spPr>
          <a:xfrm>
            <a:off x="347472" y="3017520"/>
            <a:ext cx="4251960" cy="166420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347472" y="3017520"/>
            <a:ext cx="425196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512064" y="3145536"/>
            <a:ext cx="347472" cy="256032"/>
          </a:xfrm>
          <a:prstGeom prst="rect">
            <a:avLst/>
          </a:prstGeom>
          <a:solidFill>
            <a:srgbClr val="7B3FE4">
              <a:alpha val="25098"/>
            </a:srgbClr>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512064" y="3145536"/>
            <a:ext cx="34747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B3FE4"/>
              </a:buClr>
              <a:buSzPts val="900"/>
              <a:buFont typeface="Calibri"/>
              <a:buNone/>
            </a:pPr>
            <a:r>
              <a:rPr b="1" i="0" lang="en-US" sz="900" u="none" cap="none" strike="noStrike">
                <a:solidFill>
                  <a:srgbClr val="7B3FE4"/>
                </a:solidFill>
                <a:latin typeface="Calibri"/>
                <a:ea typeface="Calibri"/>
                <a:cs typeface="Calibri"/>
                <a:sym typeface="Calibri"/>
              </a:rPr>
              <a:t>03</a:t>
            </a:r>
            <a:endParaRPr b="0" i="0" sz="900" u="none" cap="none" strike="noStrike">
              <a:solidFill>
                <a:schemeClr val="dk1"/>
              </a:solidFill>
              <a:latin typeface="Calibri"/>
              <a:ea typeface="Calibri"/>
              <a:cs typeface="Calibri"/>
              <a:sym typeface="Calibri"/>
            </a:endParaRPr>
          </a:p>
        </p:txBody>
      </p:sp>
      <p:sp>
        <p:nvSpPr>
          <p:cNvPr id="118" name="Google Shape;118;p4"/>
          <p:cNvSpPr/>
          <p:nvPr/>
        </p:nvSpPr>
        <p:spPr>
          <a:xfrm>
            <a:off x="941832" y="3127248"/>
            <a:ext cx="2286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Yield</a:t>
            </a:r>
            <a:endParaRPr b="0" i="0" sz="2000" u="none" cap="none" strike="noStrike">
              <a:solidFill>
                <a:schemeClr val="dk1"/>
              </a:solidFill>
              <a:latin typeface="Calibri"/>
              <a:ea typeface="Calibri"/>
              <a:cs typeface="Calibri"/>
              <a:sym typeface="Calibri"/>
            </a:endParaRPr>
          </a:p>
        </p:txBody>
      </p:sp>
      <p:sp>
        <p:nvSpPr>
          <p:cNvPr id="119" name="Google Shape;119;p4"/>
          <p:cNvSpPr/>
          <p:nvPr/>
        </p:nvSpPr>
        <p:spPr>
          <a:xfrm>
            <a:off x="941832" y="3438144"/>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3FE4"/>
              </a:buClr>
              <a:buSzPts val="1000"/>
              <a:buFont typeface="Calibri"/>
              <a:buNone/>
            </a:pPr>
            <a:r>
              <a:rPr b="0" i="1" lang="en-US" sz="1000" u="none" cap="none" strike="noStrike">
                <a:solidFill>
                  <a:srgbClr val="7B3FE4"/>
                </a:solidFill>
                <a:latin typeface="Calibri"/>
                <a:ea typeface="Calibri"/>
                <a:cs typeface="Calibri"/>
                <a:sym typeface="Calibri"/>
              </a:rPr>
              <a:t>Grow your holdings intelligently.</a:t>
            </a:r>
            <a:endParaRPr b="0" i="0" sz="1000" u="none" cap="none" strike="noStrike">
              <a:solidFill>
                <a:schemeClr val="dk1"/>
              </a:solidFill>
              <a:latin typeface="Calibri"/>
              <a:ea typeface="Calibri"/>
              <a:cs typeface="Calibri"/>
              <a:sym typeface="Calibri"/>
            </a:endParaRPr>
          </a:p>
        </p:txBody>
      </p:sp>
      <p:sp>
        <p:nvSpPr>
          <p:cNvPr id="120" name="Google Shape;120;p4"/>
          <p:cNvSpPr/>
          <p:nvPr/>
        </p:nvSpPr>
        <p:spPr>
          <a:xfrm>
            <a:off x="512064" y="3675888"/>
            <a:ext cx="3886200" cy="18288"/>
          </a:xfrm>
          <a:prstGeom prst="rect">
            <a:avLst/>
          </a:prstGeom>
          <a:solidFill>
            <a:srgbClr val="2E2E46"/>
          </a:solidFill>
          <a:ln cap="flat" cmpd="sng" w="12700">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548640" y="3749040"/>
            <a:ext cx="3931920" cy="859536"/>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090B0"/>
              </a:buClr>
              <a:buSzPts val="900"/>
              <a:buFont typeface="Calibri"/>
              <a:buChar char="•"/>
            </a:pPr>
            <a:r>
              <a:rPr b="0" i="0" lang="en-US" sz="900" u="none" cap="none" strike="noStrike">
                <a:solidFill>
                  <a:srgbClr val="9090B0"/>
                </a:solidFill>
                <a:latin typeface="Calibri"/>
                <a:ea typeface="Calibri"/>
                <a:cs typeface="Calibri"/>
                <a:sym typeface="Calibri"/>
              </a:rPr>
              <a:t>Abra USD Yield Strategy — variable yield on stablecoins</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rPr b="0" i="0" lang="en-US" sz="900" u="none" cap="none" strike="noStrike">
                <a:solidFill>
                  <a:srgbClr val="9090B0"/>
                </a:solidFill>
                <a:latin typeface="Calibri"/>
                <a:ea typeface="Calibri"/>
                <a:cs typeface="Calibri"/>
                <a:sym typeface="Calibri"/>
              </a:rPr>
              <a:t>Abra Digital Income Strategy — beta + variable yield</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rPr b="0" i="0" lang="en-US" sz="900" u="none" cap="none" strike="noStrike">
                <a:solidFill>
                  <a:srgbClr val="9090B0"/>
                </a:solidFill>
                <a:latin typeface="Calibri"/>
                <a:ea typeface="Calibri"/>
                <a:cs typeface="Calibri"/>
                <a:sym typeface="Calibri"/>
              </a:rPr>
              <a:t>Abra Bitcoin Yield Strategy — monthly rate (2–3% APY range)</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rPr lang="en-US" sz="900">
                <a:solidFill>
                  <a:srgbClr val="9090B0"/>
                </a:solidFill>
                <a:latin typeface="Calibri"/>
                <a:ea typeface="Calibri"/>
                <a:cs typeface="Calibri"/>
                <a:sym typeface="Calibri"/>
              </a:rPr>
              <a:t>Levered ETH and SOL Strategies launching soon (~5% yield)</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rPr lang="en-US" sz="900">
                <a:solidFill>
                  <a:srgbClr val="9090B0"/>
                </a:solidFill>
                <a:latin typeface="Calibri"/>
                <a:ea typeface="Calibri"/>
                <a:cs typeface="Calibri"/>
                <a:sym typeface="Calibri"/>
              </a:rPr>
              <a:t>ETH, SOL staking </a:t>
            </a:r>
            <a:endParaRPr b="0" i="0" sz="900" u="none" cap="none" strike="noStrike">
              <a:solidFill>
                <a:schemeClr val="dk1"/>
              </a:solidFill>
              <a:latin typeface="Calibri"/>
              <a:ea typeface="Calibri"/>
              <a:cs typeface="Calibri"/>
              <a:sym typeface="Calibri"/>
            </a:endParaRPr>
          </a:p>
        </p:txBody>
      </p:sp>
      <p:sp>
        <p:nvSpPr>
          <p:cNvPr id="122" name="Google Shape;122;p4"/>
          <p:cNvSpPr/>
          <p:nvPr/>
        </p:nvSpPr>
        <p:spPr>
          <a:xfrm>
            <a:off x="4782312" y="3017520"/>
            <a:ext cx="4251960" cy="166420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4782312" y="3017520"/>
            <a:ext cx="4251960" cy="45720"/>
          </a:xfrm>
          <a:prstGeom prst="rect">
            <a:avLst/>
          </a:prstGeom>
          <a:solidFill>
            <a:srgbClr val="9B6AF0"/>
          </a:solidFill>
          <a:ln cap="flat" cmpd="sng" w="12700">
            <a:solidFill>
              <a:srgbClr val="9B6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4946904" y="3145536"/>
            <a:ext cx="347472" cy="256032"/>
          </a:xfrm>
          <a:prstGeom prst="rect">
            <a:avLst/>
          </a:prstGeom>
          <a:solidFill>
            <a:srgbClr val="9B6AF0">
              <a:alpha val="25098"/>
            </a:srgbClr>
          </a:solidFill>
          <a:ln cap="flat" cmpd="sng" w="9525">
            <a:solidFill>
              <a:srgbClr val="9B6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4946904" y="3145536"/>
            <a:ext cx="34747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B6AF0"/>
              </a:buClr>
              <a:buSzPts val="900"/>
              <a:buFont typeface="Calibri"/>
              <a:buNone/>
            </a:pPr>
            <a:r>
              <a:rPr b="1" i="0" lang="en-US" sz="900" u="none" cap="none" strike="noStrike">
                <a:solidFill>
                  <a:srgbClr val="9B6AF0"/>
                </a:solidFill>
                <a:latin typeface="Calibri"/>
                <a:ea typeface="Calibri"/>
                <a:cs typeface="Calibri"/>
                <a:sym typeface="Calibri"/>
              </a:rPr>
              <a:t>04</a:t>
            </a:r>
            <a:endParaRPr b="0" i="0" sz="900" u="none" cap="none" strike="noStrike">
              <a:solidFill>
                <a:schemeClr val="dk1"/>
              </a:solidFill>
              <a:latin typeface="Calibri"/>
              <a:ea typeface="Calibri"/>
              <a:cs typeface="Calibri"/>
              <a:sym typeface="Calibri"/>
            </a:endParaRPr>
          </a:p>
        </p:txBody>
      </p:sp>
      <p:sp>
        <p:nvSpPr>
          <p:cNvPr id="126" name="Google Shape;126;p4"/>
          <p:cNvSpPr/>
          <p:nvPr/>
        </p:nvSpPr>
        <p:spPr>
          <a:xfrm>
            <a:off x="5376672" y="3127248"/>
            <a:ext cx="2286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rebuchet MS"/>
              <a:buNone/>
            </a:pPr>
            <a:r>
              <a:rPr b="1" i="0" lang="en-US" sz="2000" u="none" cap="none" strike="noStrike">
                <a:solidFill>
                  <a:srgbClr val="FFFFFF"/>
                </a:solidFill>
                <a:latin typeface="Trebuchet MS"/>
                <a:ea typeface="Trebuchet MS"/>
                <a:cs typeface="Trebuchet MS"/>
                <a:sym typeface="Trebuchet MS"/>
              </a:rPr>
              <a:t>Loans</a:t>
            </a:r>
            <a:endParaRPr b="0" i="0" sz="2000" u="none" cap="none" strike="noStrike">
              <a:solidFill>
                <a:schemeClr val="dk1"/>
              </a:solidFill>
              <a:latin typeface="Calibri"/>
              <a:ea typeface="Calibri"/>
              <a:cs typeface="Calibri"/>
              <a:sym typeface="Calibri"/>
            </a:endParaRPr>
          </a:p>
        </p:txBody>
      </p:sp>
      <p:sp>
        <p:nvSpPr>
          <p:cNvPr id="127" name="Google Shape;127;p4"/>
          <p:cNvSpPr/>
          <p:nvPr/>
        </p:nvSpPr>
        <p:spPr>
          <a:xfrm>
            <a:off x="5376672" y="3438144"/>
            <a:ext cx="34747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000"/>
              <a:buFont typeface="Calibri"/>
              <a:buNone/>
            </a:pPr>
            <a:r>
              <a:rPr b="0" i="1" lang="en-US" sz="1000" u="none" cap="none" strike="noStrike">
                <a:solidFill>
                  <a:srgbClr val="9B6AF0"/>
                </a:solidFill>
                <a:latin typeface="Calibri"/>
                <a:ea typeface="Calibri"/>
                <a:cs typeface="Calibri"/>
                <a:sym typeface="Calibri"/>
              </a:rPr>
              <a:t>Unlock liquidity without selling.</a:t>
            </a:r>
            <a:endParaRPr b="0" i="0" sz="1000" u="none" cap="none" strike="noStrike">
              <a:solidFill>
                <a:schemeClr val="dk1"/>
              </a:solidFill>
              <a:latin typeface="Calibri"/>
              <a:ea typeface="Calibri"/>
              <a:cs typeface="Calibri"/>
              <a:sym typeface="Calibri"/>
            </a:endParaRPr>
          </a:p>
        </p:txBody>
      </p:sp>
      <p:sp>
        <p:nvSpPr>
          <p:cNvPr id="128" name="Google Shape;128;p4"/>
          <p:cNvSpPr/>
          <p:nvPr/>
        </p:nvSpPr>
        <p:spPr>
          <a:xfrm>
            <a:off x="4946904" y="3675888"/>
            <a:ext cx="3886200" cy="18288"/>
          </a:xfrm>
          <a:prstGeom prst="rect">
            <a:avLst/>
          </a:prstGeom>
          <a:solidFill>
            <a:srgbClr val="2E2E46"/>
          </a:solidFill>
          <a:ln cap="flat" cmpd="sng" w="12700">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4983480" y="3749040"/>
            <a:ext cx="3931920" cy="859536"/>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9090B0"/>
              </a:buClr>
              <a:buSzPts val="900"/>
              <a:buFont typeface="Calibri"/>
              <a:buChar char="•"/>
            </a:pPr>
            <a:r>
              <a:rPr b="0" i="0" lang="en-US" sz="900" u="none" cap="none" strike="noStrike">
                <a:solidFill>
                  <a:srgbClr val="9090B0"/>
                </a:solidFill>
                <a:latin typeface="Calibri"/>
                <a:ea typeface="Calibri"/>
                <a:cs typeface="Calibri"/>
                <a:sym typeface="Calibri"/>
              </a:rPr>
              <a:t>Borrow against BTC or ETH at up to 50% LTV — no credit checks</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rPr b="0" i="0" lang="en-US" sz="900" u="none" cap="none" strike="noStrike">
                <a:solidFill>
                  <a:srgbClr val="9090B0"/>
                </a:solidFill>
                <a:latin typeface="Calibri"/>
                <a:ea typeface="Calibri"/>
                <a:cs typeface="Calibri"/>
                <a:sym typeface="Calibri"/>
              </a:rPr>
              <a:t>Competitive rates 4–8% APR; interest accrues to principal, no monthly payments</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rPr b="0" i="0" lang="en-US" sz="900" u="none" cap="none" strike="noStrike">
                <a:solidFill>
                  <a:srgbClr val="9090B0"/>
                </a:solidFill>
                <a:latin typeface="Calibri"/>
                <a:ea typeface="Calibri"/>
                <a:cs typeface="Calibri"/>
                <a:sym typeface="Calibri"/>
              </a:rPr>
              <a:t>Open-term loans — repay when you choose, as long as LTV stays healthy</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rPr b="0" i="0" lang="en-US" sz="900" u="none" cap="none" strike="noStrike">
                <a:solidFill>
                  <a:srgbClr val="9090B0"/>
                </a:solidFill>
                <a:latin typeface="Calibri"/>
                <a:ea typeface="Calibri"/>
                <a:cs typeface="Calibri"/>
                <a:sym typeface="Calibri"/>
              </a:rPr>
              <a:t>Solana loan product in testing — 3-month build</a:t>
            </a:r>
            <a:endParaRPr b="0" i="0" sz="9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9090B0"/>
              </a:buClr>
              <a:buSzPts val="900"/>
              <a:buFont typeface="Calibri"/>
              <a:buChar char="•"/>
            </a:pPr>
            <a:r>
              <a:rPr b="0" i="0" lang="en-US" sz="900" u="none" cap="none" strike="noStrike">
                <a:solidFill>
                  <a:srgbClr val="9090B0"/>
                </a:solidFill>
                <a:latin typeface="Calibri"/>
                <a:ea typeface="Calibri"/>
                <a:cs typeface="Calibri"/>
                <a:sym typeface="Calibri"/>
              </a:rPr>
              <a:t>Low / no interest loan concept in development</a:t>
            </a:r>
            <a:endParaRPr b="0" i="0" sz="900" u="none" cap="none" strike="noStrike">
              <a:solidFill>
                <a:schemeClr val="dk1"/>
              </a:solidFill>
              <a:latin typeface="Calibri"/>
              <a:ea typeface="Calibri"/>
              <a:cs typeface="Calibri"/>
              <a:sym typeface="Calibri"/>
            </a:endParaRPr>
          </a:p>
        </p:txBody>
      </p:sp>
      <p:sp>
        <p:nvSpPr>
          <p:cNvPr id="130" name="Google Shape;130;p4"/>
          <p:cNvSpPr/>
          <p:nvPr/>
        </p:nvSpPr>
        <p:spPr>
          <a:xfrm>
            <a:off x="0" y="4873752"/>
            <a:ext cx="9144000" cy="269748"/>
          </a:xfrm>
          <a:prstGeom prst="rect">
            <a:avLst/>
          </a:prstGeom>
          <a:solidFill>
            <a:srgbClr val="1C1C2E"/>
          </a:solidFill>
          <a:ln cap="flat" cmpd="sng" w="12700">
            <a:solidFill>
              <a:srgbClr val="1C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506A"/>
              </a:buClr>
              <a:buSzPts val="800"/>
              <a:buFont typeface="Calibri"/>
              <a:buNone/>
            </a:pPr>
            <a:r>
              <a:rPr b="0" i="0" lang="en-US" sz="800" u="none" cap="none" strike="noStrike">
                <a:solidFill>
                  <a:srgbClr val="50506A"/>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132" name="Google Shape;132;p4"/>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131F"/>
        </a:solidFill>
      </p:bgPr>
    </p:bg>
    <p:spTree>
      <p:nvGrpSpPr>
        <p:cNvPr id="137" name="Shape 137"/>
        <p:cNvGrpSpPr/>
        <p:nvPr/>
      </p:nvGrpSpPr>
      <p:grpSpPr>
        <a:xfrm>
          <a:off x="0" y="0"/>
          <a:ext cx="0" cy="0"/>
          <a:chOff x="0" y="0"/>
          <a:chExt cx="0" cy="0"/>
        </a:xfrm>
      </p:grpSpPr>
      <p:sp>
        <p:nvSpPr>
          <p:cNvPr id="138" name="Google Shape;138;p5"/>
          <p:cNvSpPr/>
          <p:nvPr/>
        </p:nvSpPr>
        <p:spPr>
          <a:xfrm>
            <a:off x="7772400" y="-1097280"/>
            <a:ext cx="4389120" cy="438912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8138160" y="-640080"/>
            <a:ext cx="3566160" cy="356616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8503920" y="-182880"/>
            <a:ext cx="2743200" cy="274320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411480" y="164592"/>
            <a:ext cx="2926080" cy="246888"/>
          </a:xfrm>
          <a:prstGeom prst="rect">
            <a:avLst/>
          </a:prstGeom>
          <a:solidFill>
            <a:srgbClr val="EDE7FC"/>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411480" y="164592"/>
            <a:ext cx="292608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2DB8"/>
              </a:buClr>
              <a:buSzPts val="800"/>
              <a:buFont typeface="Calibri"/>
              <a:buNone/>
            </a:pPr>
            <a:r>
              <a:rPr b="1" i="0" lang="en-US" sz="800" u="none" cap="none" strike="noStrike">
                <a:solidFill>
                  <a:srgbClr val="5C2DB8"/>
                </a:solidFill>
                <a:latin typeface="Calibri"/>
                <a:ea typeface="Calibri"/>
                <a:cs typeface="Calibri"/>
                <a:sym typeface="Calibri"/>
              </a:rPr>
              <a:t>DAY 1  ·  YIELD STRATEGY DEEP DIVE</a:t>
            </a:r>
            <a:endParaRPr b="0" i="0" sz="800" u="none" cap="none" strike="noStrike">
              <a:solidFill>
                <a:schemeClr val="dk1"/>
              </a:solidFill>
              <a:latin typeface="Calibri"/>
              <a:ea typeface="Calibri"/>
              <a:cs typeface="Calibri"/>
              <a:sym typeface="Calibri"/>
            </a:endParaRPr>
          </a:p>
        </p:txBody>
      </p:sp>
      <p:sp>
        <p:nvSpPr>
          <p:cNvPr id="143" name="Google Shape;143;p5"/>
          <p:cNvSpPr/>
          <p:nvPr/>
        </p:nvSpPr>
        <p:spPr>
          <a:xfrm>
            <a:off x="411480" y="502920"/>
            <a:ext cx="77724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How We Generate Yield</a:t>
            </a:r>
            <a:endParaRPr b="0" i="0" sz="3000" u="none" cap="none" strike="noStrike">
              <a:solidFill>
                <a:schemeClr val="dk1"/>
              </a:solidFill>
              <a:latin typeface="Calibri"/>
              <a:ea typeface="Calibri"/>
              <a:cs typeface="Calibri"/>
              <a:sym typeface="Calibri"/>
            </a:endParaRPr>
          </a:p>
        </p:txBody>
      </p:sp>
      <p:sp>
        <p:nvSpPr>
          <p:cNvPr id="144" name="Google Shape;144;p5"/>
          <p:cNvSpPr/>
          <p:nvPr/>
        </p:nvSpPr>
        <p:spPr>
          <a:xfrm>
            <a:off x="411480" y="1005840"/>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3FE4"/>
              </a:buClr>
              <a:buSzPts val="1200"/>
              <a:buFont typeface="Calibri"/>
              <a:buNone/>
            </a:pPr>
            <a:r>
              <a:rPr b="0" i="0" lang="en-US" sz="1200" u="none" cap="none" strike="noStrike">
                <a:solidFill>
                  <a:srgbClr val="7B3FE4"/>
                </a:solidFill>
                <a:latin typeface="Calibri"/>
                <a:ea typeface="Calibri"/>
                <a:cs typeface="Calibri"/>
                <a:sym typeface="Calibri"/>
              </a:rPr>
              <a:t>Discussion with Bharat &amp; Willie  ·  CIO hiring / staffing needs</a:t>
            </a:r>
            <a:endParaRPr b="0" i="0" sz="1200" u="none" cap="none" strike="noStrike">
              <a:solidFill>
                <a:schemeClr val="dk1"/>
              </a:solidFill>
              <a:latin typeface="Calibri"/>
              <a:ea typeface="Calibri"/>
              <a:cs typeface="Calibri"/>
              <a:sym typeface="Calibri"/>
            </a:endParaRPr>
          </a:p>
        </p:txBody>
      </p:sp>
      <p:sp>
        <p:nvSpPr>
          <p:cNvPr id="145" name="Google Shape;145;p5"/>
          <p:cNvSpPr/>
          <p:nvPr/>
        </p:nvSpPr>
        <p:spPr>
          <a:xfrm>
            <a:off x="411480" y="1280160"/>
            <a:ext cx="832104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347472" y="1417320"/>
            <a:ext cx="2743200" cy="960120"/>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347472" y="1417320"/>
            <a:ext cx="274320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475488" y="1508760"/>
            <a:ext cx="25420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Perpetual LP Hedging</a:t>
            </a:r>
            <a:endParaRPr b="0" i="0" sz="1000" u="none" cap="none" strike="noStrike">
              <a:solidFill>
                <a:schemeClr val="dk1"/>
              </a:solidFill>
              <a:latin typeface="Calibri"/>
              <a:ea typeface="Calibri"/>
              <a:cs typeface="Calibri"/>
              <a:sym typeface="Calibri"/>
            </a:endParaRPr>
          </a:p>
        </p:txBody>
      </p:sp>
      <p:sp>
        <p:nvSpPr>
          <p:cNvPr id="149" name="Google Shape;149;p5"/>
          <p:cNvSpPr/>
          <p:nvPr/>
        </p:nvSpPr>
        <p:spPr>
          <a:xfrm>
            <a:off x="475488" y="1783080"/>
            <a:ext cx="254203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850"/>
              <a:buFont typeface="Calibri"/>
              <a:buNone/>
            </a:pPr>
            <a:r>
              <a:rPr b="0" i="0" lang="en-US" sz="850" u="none" cap="none" strike="noStrike">
                <a:solidFill>
                  <a:srgbClr val="9090B0"/>
                </a:solidFill>
                <a:latin typeface="Calibri"/>
                <a:ea typeface="Calibri"/>
                <a:cs typeface="Calibri"/>
                <a:sym typeface="Calibri"/>
              </a:rPr>
              <a:t>Delta-neutral exposure to perp exchange LP pools (JLP, GLP/GM). Captures trading fees &amp; borrowing revenue.</a:t>
            </a:r>
            <a:endParaRPr b="0" i="0" sz="850" u="none" cap="none" strike="noStrike">
              <a:solidFill>
                <a:schemeClr val="dk1"/>
              </a:solidFill>
              <a:latin typeface="Calibri"/>
              <a:ea typeface="Calibri"/>
              <a:cs typeface="Calibri"/>
              <a:sym typeface="Calibri"/>
            </a:endParaRPr>
          </a:p>
        </p:txBody>
      </p:sp>
      <p:sp>
        <p:nvSpPr>
          <p:cNvPr id="150" name="Google Shape;150;p5"/>
          <p:cNvSpPr/>
          <p:nvPr/>
        </p:nvSpPr>
        <p:spPr>
          <a:xfrm>
            <a:off x="3209544" y="1417320"/>
            <a:ext cx="2743200" cy="960120"/>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3209544" y="1417320"/>
            <a:ext cx="274320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3337560" y="1508760"/>
            <a:ext cx="25420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DeFi Market Making</a:t>
            </a:r>
            <a:endParaRPr b="0" i="0" sz="1000" u="none" cap="none" strike="noStrike">
              <a:solidFill>
                <a:schemeClr val="dk1"/>
              </a:solidFill>
              <a:latin typeface="Calibri"/>
              <a:ea typeface="Calibri"/>
              <a:cs typeface="Calibri"/>
              <a:sym typeface="Calibri"/>
            </a:endParaRPr>
          </a:p>
        </p:txBody>
      </p:sp>
      <p:sp>
        <p:nvSpPr>
          <p:cNvPr id="153" name="Google Shape;153;p5"/>
          <p:cNvSpPr/>
          <p:nvPr/>
        </p:nvSpPr>
        <p:spPr>
          <a:xfrm>
            <a:off x="3337560" y="1783080"/>
            <a:ext cx="254203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850"/>
              <a:buFont typeface="Calibri"/>
              <a:buNone/>
            </a:pPr>
            <a:r>
              <a:rPr b="0" i="0" lang="en-US" sz="850" u="none" cap="none" strike="noStrike">
                <a:solidFill>
                  <a:srgbClr val="9090B0"/>
                </a:solidFill>
                <a:latin typeface="Calibri"/>
                <a:ea typeface="Calibri"/>
                <a:cs typeface="Calibri"/>
                <a:sym typeface="Calibri"/>
              </a:rPr>
              <a:t>Concentrated &amp; full-range liquidity across AMMs. Active position management to optimize fee capture vs. impermanent loss.</a:t>
            </a:r>
            <a:endParaRPr b="0" i="0" sz="850" u="none" cap="none" strike="noStrike">
              <a:solidFill>
                <a:schemeClr val="dk1"/>
              </a:solidFill>
              <a:latin typeface="Calibri"/>
              <a:ea typeface="Calibri"/>
              <a:cs typeface="Calibri"/>
              <a:sym typeface="Calibri"/>
            </a:endParaRPr>
          </a:p>
        </p:txBody>
      </p:sp>
      <p:sp>
        <p:nvSpPr>
          <p:cNvPr id="154" name="Google Shape;154;p5"/>
          <p:cNvSpPr/>
          <p:nvPr/>
        </p:nvSpPr>
        <p:spPr>
          <a:xfrm>
            <a:off x="6071616" y="1417320"/>
            <a:ext cx="2743200" cy="960120"/>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6071616" y="1417320"/>
            <a:ext cx="274320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6199632" y="1508760"/>
            <a:ext cx="25420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Fixed Rate / Yield Tokenization</a:t>
            </a:r>
            <a:endParaRPr b="0" i="0" sz="1000" u="none" cap="none" strike="noStrike">
              <a:solidFill>
                <a:schemeClr val="dk1"/>
              </a:solidFill>
              <a:latin typeface="Calibri"/>
              <a:ea typeface="Calibri"/>
              <a:cs typeface="Calibri"/>
              <a:sym typeface="Calibri"/>
            </a:endParaRPr>
          </a:p>
        </p:txBody>
      </p:sp>
      <p:sp>
        <p:nvSpPr>
          <p:cNvPr id="157" name="Google Shape;157;p5"/>
          <p:cNvSpPr/>
          <p:nvPr/>
        </p:nvSpPr>
        <p:spPr>
          <a:xfrm>
            <a:off x="6199632" y="1783080"/>
            <a:ext cx="254203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850"/>
              <a:buFont typeface="Calibri"/>
              <a:buNone/>
            </a:pPr>
            <a:r>
              <a:rPr b="0" i="0" lang="en-US" sz="850" u="none" cap="none" strike="noStrike">
                <a:solidFill>
                  <a:srgbClr val="9090B0"/>
                </a:solidFill>
                <a:latin typeface="Calibri"/>
                <a:ea typeface="Calibri"/>
                <a:cs typeface="Calibri"/>
                <a:sym typeface="Calibri"/>
              </a:rPr>
              <a:t>Strategies on yield-splitting protocols (e.g. Pendle) to isolate fixed vs. variable rate exposure.</a:t>
            </a:r>
            <a:endParaRPr b="0" i="0" sz="850" u="none" cap="none" strike="noStrike">
              <a:solidFill>
                <a:schemeClr val="dk1"/>
              </a:solidFill>
              <a:latin typeface="Calibri"/>
              <a:ea typeface="Calibri"/>
              <a:cs typeface="Calibri"/>
              <a:sym typeface="Calibri"/>
            </a:endParaRPr>
          </a:p>
        </p:txBody>
      </p:sp>
      <p:sp>
        <p:nvSpPr>
          <p:cNvPr id="158" name="Google Shape;158;p5"/>
          <p:cNvSpPr/>
          <p:nvPr/>
        </p:nvSpPr>
        <p:spPr>
          <a:xfrm>
            <a:off x="347472" y="2468880"/>
            <a:ext cx="2743200" cy="960120"/>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347472" y="2468880"/>
            <a:ext cx="274320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475488" y="2560320"/>
            <a:ext cx="25420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Stablecoin Lending &amp; Looping</a:t>
            </a:r>
            <a:endParaRPr b="0" i="0" sz="1000" u="none" cap="none" strike="noStrike">
              <a:solidFill>
                <a:schemeClr val="dk1"/>
              </a:solidFill>
              <a:latin typeface="Calibri"/>
              <a:ea typeface="Calibri"/>
              <a:cs typeface="Calibri"/>
              <a:sym typeface="Calibri"/>
            </a:endParaRPr>
          </a:p>
        </p:txBody>
      </p:sp>
      <p:sp>
        <p:nvSpPr>
          <p:cNvPr id="161" name="Google Shape;161;p5"/>
          <p:cNvSpPr/>
          <p:nvPr/>
        </p:nvSpPr>
        <p:spPr>
          <a:xfrm>
            <a:off x="475488" y="2834640"/>
            <a:ext cx="254203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850"/>
              <a:buFont typeface="Calibri"/>
              <a:buNone/>
            </a:pPr>
            <a:r>
              <a:rPr b="0" i="0" lang="en-US" sz="850" u="none" cap="none" strike="noStrike">
                <a:solidFill>
                  <a:srgbClr val="9090B0"/>
                </a:solidFill>
                <a:latin typeface="Calibri"/>
                <a:ea typeface="Calibri"/>
                <a:cs typeface="Calibri"/>
                <a:sym typeface="Calibri"/>
              </a:rPr>
              <a:t>Leveraged supply-side: deposit → borrow → re-supply to amplify net lending yield.</a:t>
            </a:r>
            <a:endParaRPr b="0" i="0" sz="850" u="none" cap="none" strike="noStrike">
              <a:solidFill>
                <a:schemeClr val="dk1"/>
              </a:solidFill>
              <a:latin typeface="Calibri"/>
              <a:ea typeface="Calibri"/>
              <a:cs typeface="Calibri"/>
              <a:sym typeface="Calibri"/>
            </a:endParaRPr>
          </a:p>
        </p:txBody>
      </p:sp>
      <p:sp>
        <p:nvSpPr>
          <p:cNvPr id="162" name="Google Shape;162;p5"/>
          <p:cNvSpPr/>
          <p:nvPr/>
        </p:nvSpPr>
        <p:spPr>
          <a:xfrm>
            <a:off x="3209544" y="2468880"/>
            <a:ext cx="2743200" cy="960120"/>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3209544" y="2468880"/>
            <a:ext cx="274320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3337560" y="2560320"/>
            <a:ext cx="25420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Yield Aggregation</a:t>
            </a:r>
            <a:endParaRPr b="0" i="0" sz="1000" u="none" cap="none" strike="noStrike">
              <a:solidFill>
                <a:schemeClr val="dk1"/>
              </a:solidFill>
              <a:latin typeface="Calibri"/>
              <a:ea typeface="Calibri"/>
              <a:cs typeface="Calibri"/>
              <a:sym typeface="Calibri"/>
            </a:endParaRPr>
          </a:p>
        </p:txBody>
      </p:sp>
      <p:sp>
        <p:nvSpPr>
          <p:cNvPr id="165" name="Google Shape;165;p5"/>
          <p:cNvSpPr/>
          <p:nvPr/>
        </p:nvSpPr>
        <p:spPr>
          <a:xfrm>
            <a:off x="3337560" y="2834640"/>
            <a:ext cx="254203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850"/>
              <a:buFont typeface="Calibri"/>
              <a:buNone/>
            </a:pPr>
            <a:r>
              <a:rPr b="0" i="0" lang="en-US" sz="850" u="none" cap="none" strike="noStrike">
                <a:solidFill>
                  <a:srgbClr val="9090B0"/>
                </a:solidFill>
                <a:latin typeface="Calibri"/>
                <a:ea typeface="Calibri"/>
                <a:cs typeface="Calibri"/>
                <a:sym typeface="Calibri"/>
              </a:rPr>
              <a:t>Systematic allocation across lending markets &amp; vaults for highest risk-adjusted supply rates.</a:t>
            </a:r>
            <a:endParaRPr b="0" i="0" sz="850" u="none" cap="none" strike="noStrike">
              <a:solidFill>
                <a:schemeClr val="dk1"/>
              </a:solidFill>
              <a:latin typeface="Calibri"/>
              <a:ea typeface="Calibri"/>
              <a:cs typeface="Calibri"/>
              <a:sym typeface="Calibri"/>
            </a:endParaRPr>
          </a:p>
        </p:txBody>
      </p:sp>
      <p:sp>
        <p:nvSpPr>
          <p:cNvPr id="166" name="Google Shape;166;p5"/>
          <p:cNvSpPr/>
          <p:nvPr/>
        </p:nvSpPr>
        <p:spPr>
          <a:xfrm>
            <a:off x="6071616" y="2468880"/>
            <a:ext cx="2743200" cy="960120"/>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6071616" y="2468880"/>
            <a:ext cx="274320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6199632" y="2560320"/>
            <a:ext cx="25420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Staking &amp; Liquid Staking</a:t>
            </a:r>
            <a:endParaRPr b="0" i="0" sz="1000" u="none" cap="none" strike="noStrike">
              <a:solidFill>
                <a:schemeClr val="dk1"/>
              </a:solidFill>
              <a:latin typeface="Calibri"/>
              <a:ea typeface="Calibri"/>
              <a:cs typeface="Calibri"/>
              <a:sym typeface="Calibri"/>
            </a:endParaRPr>
          </a:p>
        </p:txBody>
      </p:sp>
      <p:sp>
        <p:nvSpPr>
          <p:cNvPr id="169" name="Google Shape;169;p5"/>
          <p:cNvSpPr/>
          <p:nvPr/>
        </p:nvSpPr>
        <p:spPr>
          <a:xfrm>
            <a:off x="6199632" y="2834640"/>
            <a:ext cx="254203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850"/>
              <a:buFont typeface="Calibri"/>
              <a:buNone/>
            </a:pPr>
            <a:r>
              <a:rPr b="0" i="0" lang="en-US" sz="850" u="none" cap="none" strike="noStrike">
                <a:solidFill>
                  <a:srgbClr val="9090B0"/>
                </a:solidFill>
                <a:latin typeface="Calibri"/>
                <a:ea typeface="Calibri"/>
                <a:cs typeface="Calibri"/>
                <a:sym typeface="Calibri"/>
              </a:rPr>
              <a:t>Native &amp; liquid staking across PoS networks. Includes restaking and LST yield optimization.</a:t>
            </a:r>
            <a:endParaRPr b="0" i="0" sz="850" u="none" cap="none" strike="noStrike">
              <a:solidFill>
                <a:schemeClr val="dk1"/>
              </a:solidFill>
              <a:latin typeface="Calibri"/>
              <a:ea typeface="Calibri"/>
              <a:cs typeface="Calibri"/>
              <a:sym typeface="Calibri"/>
            </a:endParaRPr>
          </a:p>
        </p:txBody>
      </p:sp>
      <p:sp>
        <p:nvSpPr>
          <p:cNvPr id="170" name="Google Shape;170;p5"/>
          <p:cNvSpPr/>
          <p:nvPr/>
        </p:nvSpPr>
        <p:spPr>
          <a:xfrm>
            <a:off x="347472" y="3520440"/>
            <a:ext cx="2743200" cy="960120"/>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347472" y="3520440"/>
            <a:ext cx="274320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475488" y="3611880"/>
            <a:ext cx="25420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Options Overlay</a:t>
            </a:r>
            <a:endParaRPr b="0" i="0" sz="1000" u="none" cap="none" strike="noStrike">
              <a:solidFill>
                <a:schemeClr val="dk1"/>
              </a:solidFill>
              <a:latin typeface="Calibri"/>
              <a:ea typeface="Calibri"/>
              <a:cs typeface="Calibri"/>
              <a:sym typeface="Calibri"/>
            </a:endParaRPr>
          </a:p>
        </p:txBody>
      </p:sp>
      <p:sp>
        <p:nvSpPr>
          <p:cNvPr id="173" name="Google Shape;173;p5"/>
          <p:cNvSpPr/>
          <p:nvPr/>
        </p:nvSpPr>
        <p:spPr>
          <a:xfrm>
            <a:off x="475488" y="3886200"/>
            <a:ext cx="254203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850"/>
              <a:buFont typeface="Calibri"/>
              <a:buNone/>
            </a:pPr>
            <a:r>
              <a:rPr b="0" i="0" lang="en-US" sz="850" u="none" cap="none" strike="noStrike">
                <a:solidFill>
                  <a:srgbClr val="9090B0"/>
                </a:solidFill>
                <a:latin typeface="Calibri"/>
                <a:ea typeface="Calibri"/>
                <a:cs typeface="Calibri"/>
                <a:sym typeface="Calibri"/>
              </a:rPr>
              <a:t>Systematic covered call writing on BTC/ETH via Deribit. Captures vol premium via theta decay.</a:t>
            </a:r>
            <a:endParaRPr b="0" i="0" sz="850" u="none" cap="none" strike="noStrike">
              <a:solidFill>
                <a:schemeClr val="dk1"/>
              </a:solidFill>
              <a:latin typeface="Calibri"/>
              <a:ea typeface="Calibri"/>
              <a:cs typeface="Calibri"/>
              <a:sym typeface="Calibri"/>
            </a:endParaRPr>
          </a:p>
        </p:txBody>
      </p:sp>
      <p:sp>
        <p:nvSpPr>
          <p:cNvPr id="174" name="Google Shape;174;p5"/>
          <p:cNvSpPr/>
          <p:nvPr/>
        </p:nvSpPr>
        <p:spPr>
          <a:xfrm>
            <a:off x="3209544" y="3520440"/>
            <a:ext cx="2743200" cy="960120"/>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3209544" y="3520440"/>
            <a:ext cx="274320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5"/>
          <p:cNvSpPr/>
          <p:nvPr/>
        </p:nvSpPr>
        <p:spPr>
          <a:xfrm>
            <a:off x="3337560" y="3611880"/>
            <a:ext cx="25420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Basis Trading</a:t>
            </a:r>
            <a:endParaRPr b="0" i="0" sz="1000" u="none" cap="none" strike="noStrike">
              <a:solidFill>
                <a:schemeClr val="dk1"/>
              </a:solidFill>
              <a:latin typeface="Calibri"/>
              <a:ea typeface="Calibri"/>
              <a:cs typeface="Calibri"/>
              <a:sym typeface="Calibri"/>
            </a:endParaRPr>
          </a:p>
        </p:txBody>
      </p:sp>
      <p:sp>
        <p:nvSpPr>
          <p:cNvPr id="177" name="Google Shape;177;p5"/>
          <p:cNvSpPr/>
          <p:nvPr/>
        </p:nvSpPr>
        <p:spPr>
          <a:xfrm>
            <a:off x="3337560" y="3886200"/>
            <a:ext cx="254203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850"/>
              <a:buFont typeface="Calibri"/>
              <a:buNone/>
            </a:pPr>
            <a:r>
              <a:rPr b="0" i="0" lang="en-US" sz="850" u="none" cap="none" strike="noStrike">
                <a:solidFill>
                  <a:srgbClr val="9090B0"/>
                </a:solidFill>
                <a:latin typeface="Calibri"/>
                <a:ea typeface="Calibri"/>
                <a:cs typeface="Calibri"/>
                <a:sym typeface="Calibri"/>
              </a:rPr>
              <a:t>Long spot, short perp. Yield source: funding rate collection from persistent spread.</a:t>
            </a:r>
            <a:endParaRPr b="0" i="0" sz="850" u="none" cap="none" strike="noStrike">
              <a:solidFill>
                <a:schemeClr val="dk1"/>
              </a:solidFill>
              <a:latin typeface="Calibri"/>
              <a:ea typeface="Calibri"/>
              <a:cs typeface="Calibri"/>
              <a:sym typeface="Calibri"/>
            </a:endParaRPr>
          </a:p>
        </p:txBody>
      </p:sp>
      <p:sp>
        <p:nvSpPr>
          <p:cNvPr id="178" name="Google Shape;178;p5"/>
          <p:cNvSpPr/>
          <p:nvPr/>
        </p:nvSpPr>
        <p:spPr>
          <a:xfrm>
            <a:off x="6071616" y="3520440"/>
            <a:ext cx="2743200" cy="960120"/>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6071616" y="3520440"/>
            <a:ext cx="274320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6199632" y="3611880"/>
            <a:ext cx="25420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Funding Rate Arbitrage</a:t>
            </a:r>
            <a:endParaRPr b="0" i="0" sz="1000" u="none" cap="none" strike="noStrike">
              <a:solidFill>
                <a:schemeClr val="dk1"/>
              </a:solidFill>
              <a:latin typeface="Calibri"/>
              <a:ea typeface="Calibri"/>
              <a:cs typeface="Calibri"/>
              <a:sym typeface="Calibri"/>
            </a:endParaRPr>
          </a:p>
        </p:txBody>
      </p:sp>
      <p:sp>
        <p:nvSpPr>
          <p:cNvPr id="181" name="Google Shape;181;p5"/>
          <p:cNvSpPr/>
          <p:nvPr/>
        </p:nvSpPr>
        <p:spPr>
          <a:xfrm>
            <a:off x="6199632" y="3886200"/>
            <a:ext cx="254203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850"/>
              <a:buFont typeface="Calibri"/>
              <a:buNone/>
            </a:pPr>
            <a:r>
              <a:rPr b="0" i="0" lang="en-US" sz="850" u="none" cap="none" strike="noStrike">
                <a:solidFill>
                  <a:srgbClr val="9090B0"/>
                </a:solidFill>
                <a:latin typeface="Calibri"/>
                <a:ea typeface="Calibri"/>
                <a:cs typeface="Calibri"/>
                <a:sym typeface="Calibri"/>
              </a:rPr>
              <a:t>Cross-venue funding rate capture. Long on paying venue, short on charging. Market-neutral.</a:t>
            </a:r>
            <a:endParaRPr b="0" i="0" sz="850" u="none" cap="none" strike="noStrike">
              <a:solidFill>
                <a:schemeClr val="dk1"/>
              </a:solidFill>
              <a:latin typeface="Calibri"/>
              <a:ea typeface="Calibri"/>
              <a:cs typeface="Calibri"/>
              <a:sym typeface="Calibri"/>
            </a:endParaRPr>
          </a:p>
        </p:txBody>
      </p:sp>
      <p:sp>
        <p:nvSpPr>
          <p:cNvPr id="182" name="Google Shape;182;p5"/>
          <p:cNvSpPr/>
          <p:nvPr/>
        </p:nvSpPr>
        <p:spPr>
          <a:xfrm>
            <a:off x="347472" y="4581144"/>
            <a:ext cx="8430768" cy="219456"/>
          </a:xfrm>
          <a:prstGeom prst="rect">
            <a:avLst/>
          </a:prstGeom>
          <a:solidFill>
            <a:srgbClr val="5C2DB8">
              <a:alpha val="25098"/>
            </a:srgbClr>
          </a:solidFill>
          <a:ln cap="flat" cmpd="sng" w="12700">
            <a:solidFill>
              <a:srgbClr val="7B3FE4">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457200" y="4581144"/>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3FE4"/>
              </a:buClr>
              <a:buSzPts val="800"/>
              <a:buFont typeface="Calibri"/>
              <a:buNone/>
            </a:pPr>
            <a:r>
              <a:rPr b="1" i="0" lang="en-US" sz="800" u="none" cap="none" strike="noStrike">
                <a:solidFill>
                  <a:srgbClr val="7B3FE4"/>
                </a:solidFill>
                <a:latin typeface="Calibri"/>
                <a:ea typeface="Calibri"/>
                <a:cs typeface="Calibri"/>
                <a:sym typeface="Calibri"/>
              </a:rPr>
              <a:t>UPCOMING:  Higher yield BTC product (Marissa)  ·  ETH/SOL higher yield products (Bharat/Willie)</a:t>
            </a:r>
            <a:endParaRPr b="0" i="0" sz="800" u="none" cap="none" strike="noStrike">
              <a:solidFill>
                <a:schemeClr val="dk1"/>
              </a:solidFill>
              <a:latin typeface="Calibri"/>
              <a:ea typeface="Calibri"/>
              <a:cs typeface="Calibri"/>
              <a:sym typeface="Calibri"/>
            </a:endParaRPr>
          </a:p>
        </p:txBody>
      </p:sp>
      <p:sp>
        <p:nvSpPr>
          <p:cNvPr id="184" name="Google Shape;184;p5"/>
          <p:cNvSpPr/>
          <p:nvPr/>
        </p:nvSpPr>
        <p:spPr>
          <a:xfrm>
            <a:off x="0" y="4873752"/>
            <a:ext cx="9144000" cy="269748"/>
          </a:xfrm>
          <a:prstGeom prst="rect">
            <a:avLst/>
          </a:prstGeom>
          <a:solidFill>
            <a:srgbClr val="1C1C2E"/>
          </a:solidFill>
          <a:ln cap="flat" cmpd="sng" w="12700">
            <a:solidFill>
              <a:srgbClr val="1C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506A"/>
              </a:buClr>
              <a:buSzPts val="800"/>
              <a:buFont typeface="Calibri"/>
              <a:buNone/>
            </a:pPr>
            <a:r>
              <a:rPr b="0" i="0" lang="en-US" sz="800" u="none" cap="none" strike="noStrike">
                <a:solidFill>
                  <a:srgbClr val="50506A"/>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186" name="Google Shape;186;p5"/>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8"/>
        </a:solidFill>
      </p:bgPr>
    </p:bg>
    <p:spTree>
      <p:nvGrpSpPr>
        <p:cNvPr id="191" name="Shape 191"/>
        <p:cNvGrpSpPr/>
        <p:nvPr/>
      </p:nvGrpSpPr>
      <p:grpSpPr>
        <a:xfrm>
          <a:off x="0" y="0"/>
          <a:ext cx="0" cy="0"/>
          <a:chOff x="0" y="0"/>
          <a:chExt cx="0" cy="0"/>
        </a:xfrm>
      </p:grpSpPr>
      <p:sp>
        <p:nvSpPr>
          <p:cNvPr id="192" name="Google Shape;192;p6"/>
          <p:cNvSpPr/>
          <p:nvPr/>
        </p:nvSpPr>
        <p:spPr>
          <a:xfrm>
            <a:off x="411480" y="256032"/>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3000"/>
              <a:buFont typeface="Trebuchet MS"/>
              <a:buNone/>
            </a:pPr>
            <a:r>
              <a:rPr b="1" i="0" lang="en-US" sz="3000" u="none" cap="none" strike="noStrike">
                <a:solidFill>
                  <a:srgbClr val="13131F"/>
                </a:solidFill>
                <a:latin typeface="Trebuchet MS"/>
                <a:ea typeface="Trebuchet MS"/>
                <a:cs typeface="Trebuchet MS"/>
                <a:sym typeface="Trebuchet MS"/>
              </a:rPr>
              <a:t>Competitive Landscape</a:t>
            </a:r>
            <a:endParaRPr b="0" i="0" sz="3000" u="none" cap="none" strike="noStrike">
              <a:solidFill>
                <a:schemeClr val="dk1"/>
              </a:solidFill>
              <a:latin typeface="Calibri"/>
              <a:ea typeface="Calibri"/>
              <a:cs typeface="Calibri"/>
              <a:sym typeface="Calibri"/>
            </a:endParaRPr>
          </a:p>
        </p:txBody>
      </p:sp>
      <p:sp>
        <p:nvSpPr>
          <p:cNvPr id="193" name="Google Shape;193;p6"/>
          <p:cNvSpPr/>
          <p:nvPr/>
        </p:nvSpPr>
        <p:spPr>
          <a:xfrm>
            <a:off x="411480" y="777240"/>
            <a:ext cx="8321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1200"/>
              <a:buFont typeface="Calibri"/>
              <a:buNone/>
            </a:pPr>
            <a:r>
              <a:rPr b="0" i="1" lang="en-US" sz="1200" u="none" cap="none" strike="noStrike">
                <a:solidFill>
                  <a:srgbClr val="4A4A6A"/>
                </a:solidFill>
                <a:latin typeface="Calibri"/>
                <a:ea typeface="Calibri"/>
                <a:cs typeface="Calibri"/>
                <a:sym typeface="Calibri"/>
              </a:rPr>
              <a:t>Day 1  ·  12:00 PM – 2:00 PM  ·  Lief + Bill to join</a:t>
            </a:r>
            <a:endParaRPr b="0" i="0" sz="1200" u="none" cap="none" strike="noStrike">
              <a:solidFill>
                <a:schemeClr val="dk1"/>
              </a:solidFill>
              <a:latin typeface="Calibri"/>
              <a:ea typeface="Calibri"/>
              <a:cs typeface="Calibri"/>
              <a:sym typeface="Calibri"/>
            </a:endParaRPr>
          </a:p>
        </p:txBody>
      </p:sp>
      <p:sp>
        <p:nvSpPr>
          <p:cNvPr id="194" name="Google Shape;194;p6"/>
          <p:cNvSpPr/>
          <p:nvPr/>
        </p:nvSpPr>
        <p:spPr>
          <a:xfrm>
            <a:off x="411480" y="1051560"/>
            <a:ext cx="832104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347472" y="1170432"/>
            <a:ext cx="5376672" cy="3493008"/>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347472" y="1170432"/>
            <a:ext cx="5376672"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512064" y="1298448"/>
            <a:ext cx="5102352"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3FE4"/>
              </a:buClr>
              <a:buSzPts val="800"/>
              <a:buFont typeface="Calibri"/>
              <a:buNone/>
            </a:pPr>
            <a:r>
              <a:rPr b="1" i="0" lang="en-US" sz="800" u="none" cap="none" strike="noStrike">
                <a:solidFill>
                  <a:srgbClr val="7B3FE4"/>
                </a:solidFill>
                <a:latin typeface="Calibri"/>
                <a:ea typeface="Calibri"/>
                <a:cs typeface="Calibri"/>
                <a:sym typeface="Calibri"/>
              </a:rPr>
              <a:t>12:00 – 2:00 PM</a:t>
            </a:r>
            <a:endParaRPr b="0" i="0" sz="800" u="none" cap="none" strike="noStrike">
              <a:solidFill>
                <a:schemeClr val="dk1"/>
              </a:solidFill>
              <a:latin typeface="Calibri"/>
              <a:ea typeface="Calibri"/>
              <a:cs typeface="Calibri"/>
              <a:sym typeface="Calibri"/>
            </a:endParaRPr>
          </a:p>
        </p:txBody>
      </p:sp>
      <p:sp>
        <p:nvSpPr>
          <p:cNvPr id="198" name="Google Shape;198;p6"/>
          <p:cNvSpPr/>
          <p:nvPr/>
        </p:nvSpPr>
        <p:spPr>
          <a:xfrm>
            <a:off x="512064" y="1508760"/>
            <a:ext cx="510235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i="0" lang="en-US" sz="1200" u="none" cap="none" strike="noStrike">
                <a:solidFill>
                  <a:srgbClr val="13131F"/>
                </a:solidFill>
                <a:latin typeface="Calibri"/>
                <a:ea typeface="Calibri"/>
                <a:cs typeface="Calibri"/>
                <a:sym typeface="Calibri"/>
              </a:rPr>
              <a:t>Discussion Agenda</a:t>
            </a:r>
            <a:endParaRPr b="0" i="0" sz="1200" u="none" cap="none" strike="noStrike">
              <a:solidFill>
                <a:schemeClr val="dk1"/>
              </a:solidFill>
              <a:latin typeface="Calibri"/>
              <a:ea typeface="Calibri"/>
              <a:cs typeface="Calibri"/>
              <a:sym typeface="Calibri"/>
            </a:endParaRPr>
          </a:p>
        </p:txBody>
      </p:sp>
      <p:sp>
        <p:nvSpPr>
          <p:cNvPr id="199" name="Google Shape;199;p6"/>
          <p:cNvSpPr/>
          <p:nvPr/>
        </p:nvSpPr>
        <p:spPr>
          <a:xfrm>
            <a:off x="548640" y="1892808"/>
            <a:ext cx="5056632" cy="2679192"/>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How does Abra stack up to competitors?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What is our competitive edge?</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Main client objections — and how to overcome them</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Expected timelines to close different ICPs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Positioning vs. traditional custodians &amp; crypto-native platforms</a:t>
            </a:r>
            <a:endParaRPr b="0" i="0" sz="950" u="none" cap="none" strike="noStrike">
              <a:solidFill>
                <a:schemeClr val="dk1"/>
              </a:solidFill>
              <a:latin typeface="Calibri"/>
              <a:ea typeface="Calibri"/>
              <a:cs typeface="Calibri"/>
              <a:sym typeface="Calibri"/>
            </a:endParaRPr>
          </a:p>
        </p:txBody>
      </p:sp>
      <p:sp>
        <p:nvSpPr>
          <p:cNvPr id="200" name="Google Shape;200;p6"/>
          <p:cNvSpPr/>
          <p:nvPr/>
        </p:nvSpPr>
        <p:spPr>
          <a:xfrm>
            <a:off x="5833872" y="1170432"/>
            <a:ext cx="2944368" cy="3493008"/>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5833872" y="1170432"/>
            <a:ext cx="2944368"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5998464" y="1298448"/>
            <a:ext cx="2670048"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3FE4"/>
              </a:buClr>
              <a:buSzPts val="800"/>
              <a:buFont typeface="Calibri"/>
              <a:buNone/>
            </a:pPr>
            <a:r>
              <a:rPr b="1" i="0" lang="en-US" sz="800" u="none" cap="none" strike="noStrike">
                <a:solidFill>
                  <a:srgbClr val="7B3FE4"/>
                </a:solidFill>
                <a:latin typeface="Calibri"/>
                <a:ea typeface="Calibri"/>
                <a:cs typeface="Calibri"/>
                <a:sym typeface="Calibri"/>
              </a:rPr>
              <a:t>2:00 – 2:30 PM</a:t>
            </a:r>
            <a:endParaRPr b="0" i="0" sz="800" u="none" cap="none" strike="noStrike">
              <a:solidFill>
                <a:schemeClr val="dk1"/>
              </a:solidFill>
              <a:latin typeface="Calibri"/>
              <a:ea typeface="Calibri"/>
              <a:cs typeface="Calibri"/>
              <a:sym typeface="Calibri"/>
            </a:endParaRPr>
          </a:p>
        </p:txBody>
      </p:sp>
      <p:sp>
        <p:nvSpPr>
          <p:cNvPr id="203" name="Google Shape;203;p6"/>
          <p:cNvSpPr/>
          <p:nvPr/>
        </p:nvSpPr>
        <p:spPr>
          <a:xfrm>
            <a:off x="5998464" y="1508760"/>
            <a:ext cx="26700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i="0" lang="en-US" sz="1200" u="none" cap="none" strike="noStrike">
                <a:solidFill>
                  <a:srgbClr val="13131F"/>
                </a:solidFill>
                <a:latin typeface="Calibri"/>
                <a:ea typeface="Calibri"/>
                <a:cs typeface="Calibri"/>
                <a:sym typeface="Calibri"/>
              </a:rPr>
              <a:t>Fintrex Demo</a:t>
            </a:r>
            <a:endParaRPr b="0" i="0" sz="1200" u="none" cap="none" strike="noStrike">
              <a:solidFill>
                <a:schemeClr val="dk1"/>
              </a:solidFill>
              <a:latin typeface="Calibri"/>
              <a:ea typeface="Calibri"/>
              <a:cs typeface="Calibri"/>
              <a:sym typeface="Calibri"/>
            </a:endParaRPr>
          </a:p>
        </p:txBody>
      </p:sp>
      <p:sp>
        <p:nvSpPr>
          <p:cNvPr id="204" name="Google Shape;204;p6"/>
          <p:cNvSpPr/>
          <p:nvPr/>
        </p:nvSpPr>
        <p:spPr>
          <a:xfrm>
            <a:off x="6035040" y="1892808"/>
            <a:ext cx="2624328" cy="2679192"/>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Outbound lead generation platform</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Demo of capabilities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Integration with sales workflow</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Use cases for prospecting</a:t>
            </a:r>
            <a:endParaRPr b="0" i="0" sz="950" u="none" cap="none" strike="noStrike">
              <a:solidFill>
                <a:schemeClr val="dk1"/>
              </a:solidFill>
              <a:latin typeface="Calibri"/>
              <a:ea typeface="Calibri"/>
              <a:cs typeface="Calibri"/>
              <a:sym typeface="Calibri"/>
            </a:endParaRPr>
          </a:p>
        </p:txBody>
      </p:sp>
      <p:sp>
        <p:nvSpPr>
          <p:cNvPr id="205" name="Google Shape;205;p6"/>
          <p:cNvSpPr/>
          <p:nvPr/>
        </p:nvSpPr>
        <p:spPr>
          <a:xfrm>
            <a:off x="0" y="4873752"/>
            <a:ext cx="9144000" cy="269748"/>
          </a:xfrm>
          <a:prstGeom prst="rect">
            <a:avLst/>
          </a:prstGeom>
          <a:solidFill>
            <a:srgbClr val="E8E8F0"/>
          </a:solidFill>
          <a:ln cap="flat" cmpd="sng" w="12700">
            <a:solidFill>
              <a:srgbClr val="E8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A8"/>
              </a:buClr>
              <a:buSzPts val="800"/>
              <a:buFont typeface="Calibri"/>
              <a:buNone/>
            </a:pPr>
            <a:r>
              <a:rPr b="0" i="0" lang="en-US" sz="800" u="none" cap="none" strike="noStrike">
                <a:solidFill>
                  <a:srgbClr val="9090A8"/>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207" name="Google Shape;207;p6"/>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131F"/>
        </a:solidFill>
      </p:bgPr>
    </p:bg>
    <p:spTree>
      <p:nvGrpSpPr>
        <p:cNvPr id="212" name="Shape 212"/>
        <p:cNvGrpSpPr/>
        <p:nvPr/>
      </p:nvGrpSpPr>
      <p:grpSpPr>
        <a:xfrm>
          <a:off x="0" y="0"/>
          <a:ext cx="0" cy="0"/>
          <a:chOff x="0" y="0"/>
          <a:chExt cx="0" cy="0"/>
        </a:xfrm>
      </p:grpSpPr>
      <p:sp>
        <p:nvSpPr>
          <p:cNvPr id="213" name="Google Shape;213;p7"/>
          <p:cNvSpPr/>
          <p:nvPr/>
        </p:nvSpPr>
        <p:spPr>
          <a:xfrm>
            <a:off x="7772400" y="-1097280"/>
            <a:ext cx="4389120" cy="438912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7"/>
          <p:cNvSpPr/>
          <p:nvPr/>
        </p:nvSpPr>
        <p:spPr>
          <a:xfrm>
            <a:off x="8138160" y="-640080"/>
            <a:ext cx="3566160" cy="356616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p:nvPr/>
        </p:nvSpPr>
        <p:spPr>
          <a:xfrm>
            <a:off x="8503920" y="-182880"/>
            <a:ext cx="2743200" cy="274320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411480" y="164592"/>
            <a:ext cx="2560320" cy="246888"/>
          </a:xfrm>
          <a:prstGeom prst="rect">
            <a:avLst/>
          </a:prstGeom>
          <a:solidFill>
            <a:srgbClr val="EDE7FC"/>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411480" y="164592"/>
            <a:ext cx="256032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2DB8"/>
              </a:buClr>
              <a:buSzPts val="800"/>
              <a:buFont typeface="Calibri"/>
              <a:buNone/>
            </a:pPr>
            <a:r>
              <a:rPr b="1" i="0" lang="en-US" sz="800" u="none" cap="none" strike="noStrike">
                <a:solidFill>
                  <a:srgbClr val="5C2DB8"/>
                </a:solidFill>
                <a:latin typeface="Calibri"/>
                <a:ea typeface="Calibri"/>
                <a:cs typeface="Calibri"/>
                <a:sym typeface="Calibri"/>
              </a:rPr>
              <a:t>COMPETITIVE LANDSCAPE  ·  ICP</a:t>
            </a:r>
            <a:endParaRPr b="0" i="0" sz="800" u="none" cap="none" strike="noStrike">
              <a:solidFill>
                <a:schemeClr val="dk1"/>
              </a:solidFill>
              <a:latin typeface="Calibri"/>
              <a:ea typeface="Calibri"/>
              <a:cs typeface="Calibri"/>
              <a:sym typeface="Calibri"/>
            </a:endParaRPr>
          </a:p>
        </p:txBody>
      </p:sp>
      <p:sp>
        <p:nvSpPr>
          <p:cNvPr id="218" name="Google Shape;218;p7"/>
          <p:cNvSpPr/>
          <p:nvPr/>
        </p:nvSpPr>
        <p:spPr>
          <a:xfrm>
            <a:off x="411480" y="502920"/>
            <a:ext cx="82296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Who Is Abra For?</a:t>
            </a:r>
            <a:endParaRPr b="0" i="0" sz="3000" u="none" cap="none" strike="noStrike">
              <a:solidFill>
                <a:schemeClr val="dk1"/>
              </a:solidFill>
              <a:latin typeface="Calibri"/>
              <a:ea typeface="Calibri"/>
              <a:cs typeface="Calibri"/>
              <a:sym typeface="Calibri"/>
            </a:endParaRPr>
          </a:p>
        </p:txBody>
      </p:sp>
      <p:sp>
        <p:nvSpPr>
          <p:cNvPr id="219" name="Google Shape;219;p7"/>
          <p:cNvSpPr/>
          <p:nvPr/>
        </p:nvSpPr>
        <p:spPr>
          <a:xfrm>
            <a:off x="411480" y="1005840"/>
            <a:ext cx="832104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a:off x="347472" y="1143000"/>
            <a:ext cx="4251960" cy="1627632"/>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347472" y="1143000"/>
            <a:ext cx="425196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512064" y="1280160"/>
            <a:ext cx="1463040" cy="201168"/>
          </a:xfrm>
          <a:prstGeom prst="rect">
            <a:avLst/>
          </a:prstGeom>
          <a:solidFill>
            <a:srgbClr val="EDE7FC"/>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512064" y="1280160"/>
            <a:ext cx="14630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2DB8"/>
              </a:buClr>
              <a:buSzPts val="750"/>
              <a:buFont typeface="Calibri"/>
              <a:buNone/>
            </a:pPr>
            <a:r>
              <a:rPr b="1" i="0" lang="en-US" sz="750" u="none" cap="none" strike="noStrike">
                <a:solidFill>
                  <a:srgbClr val="5C2DB8"/>
                </a:solidFill>
                <a:latin typeface="Calibri"/>
                <a:ea typeface="Calibri"/>
                <a:cs typeface="Calibri"/>
                <a:sym typeface="Calibri"/>
              </a:rPr>
              <a:t>Short-term target</a:t>
            </a:r>
            <a:endParaRPr b="0" i="0" sz="750" u="none" cap="none" strike="noStrike">
              <a:solidFill>
                <a:schemeClr val="dk1"/>
              </a:solidFill>
              <a:latin typeface="Calibri"/>
              <a:ea typeface="Calibri"/>
              <a:cs typeface="Calibri"/>
              <a:sym typeface="Calibri"/>
            </a:endParaRPr>
          </a:p>
        </p:txBody>
      </p:sp>
      <p:sp>
        <p:nvSpPr>
          <p:cNvPr id="224" name="Google Shape;224;p7"/>
          <p:cNvSpPr/>
          <p:nvPr/>
        </p:nvSpPr>
        <p:spPr>
          <a:xfrm>
            <a:off x="512064" y="1545336"/>
            <a:ext cx="3886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HNW Crypto Holders</a:t>
            </a:r>
            <a:endParaRPr b="0" i="0" sz="1300" u="none" cap="none" strike="noStrike">
              <a:solidFill>
                <a:schemeClr val="dk1"/>
              </a:solidFill>
              <a:latin typeface="Calibri"/>
              <a:ea typeface="Calibri"/>
              <a:cs typeface="Calibri"/>
              <a:sym typeface="Calibri"/>
            </a:endParaRPr>
          </a:p>
        </p:txBody>
      </p:sp>
      <p:sp>
        <p:nvSpPr>
          <p:cNvPr id="225" name="Google Shape;225;p7"/>
          <p:cNvSpPr/>
          <p:nvPr/>
        </p:nvSpPr>
        <p:spPr>
          <a:xfrm>
            <a:off x="512064" y="1837944"/>
            <a:ext cx="3886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50"/>
              <a:buFont typeface="Calibri"/>
              <a:buNone/>
            </a:pPr>
            <a:r>
              <a:rPr b="0" i="0" lang="en-US" sz="950" u="none" cap="none" strike="noStrike">
                <a:solidFill>
                  <a:srgbClr val="9090B0"/>
                </a:solidFill>
                <a:latin typeface="Calibri"/>
                <a:ea typeface="Calibri"/>
                <a:cs typeface="Calibri"/>
                <a:sym typeface="Calibri"/>
              </a:rPr>
              <a:t>Long-term holders on Ledn, Coinbase, Gemini, Kraken, Nexo or self-custody. Successful and wealthy. Not active DeFi users. Want complexity abstracted away.</a:t>
            </a:r>
            <a:endParaRPr b="0" i="0" sz="950" u="none" cap="none" strike="noStrike">
              <a:solidFill>
                <a:schemeClr val="dk1"/>
              </a:solidFill>
              <a:latin typeface="Calibri"/>
              <a:ea typeface="Calibri"/>
              <a:cs typeface="Calibri"/>
              <a:sym typeface="Calibri"/>
            </a:endParaRPr>
          </a:p>
        </p:txBody>
      </p:sp>
      <p:sp>
        <p:nvSpPr>
          <p:cNvPr id="226" name="Google Shape;226;p7"/>
          <p:cNvSpPr/>
          <p:nvPr/>
        </p:nvSpPr>
        <p:spPr>
          <a:xfrm>
            <a:off x="4782312" y="1143000"/>
            <a:ext cx="4251960" cy="1627632"/>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4782312" y="1143000"/>
            <a:ext cx="425196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
          <p:cNvSpPr/>
          <p:nvPr/>
        </p:nvSpPr>
        <p:spPr>
          <a:xfrm>
            <a:off x="4946904" y="1280160"/>
            <a:ext cx="1463040" cy="201168"/>
          </a:xfrm>
          <a:prstGeom prst="rect">
            <a:avLst/>
          </a:prstGeom>
          <a:solidFill>
            <a:srgbClr val="EDE7FC"/>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4946904" y="1280160"/>
            <a:ext cx="14630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2DB8"/>
              </a:buClr>
              <a:buSzPts val="750"/>
              <a:buFont typeface="Calibri"/>
              <a:buNone/>
            </a:pPr>
            <a:r>
              <a:rPr b="1" i="0" lang="en-US" sz="750" u="none" cap="none" strike="noStrike">
                <a:solidFill>
                  <a:srgbClr val="5C2DB8"/>
                </a:solidFill>
                <a:latin typeface="Calibri"/>
                <a:ea typeface="Calibri"/>
                <a:cs typeface="Calibri"/>
                <a:sym typeface="Calibri"/>
              </a:rPr>
              <a:t>Long-term target</a:t>
            </a:r>
            <a:endParaRPr b="0" i="0" sz="750" u="none" cap="none" strike="noStrike">
              <a:solidFill>
                <a:schemeClr val="dk1"/>
              </a:solidFill>
              <a:latin typeface="Calibri"/>
              <a:ea typeface="Calibri"/>
              <a:cs typeface="Calibri"/>
              <a:sym typeface="Calibri"/>
            </a:endParaRPr>
          </a:p>
        </p:txBody>
      </p:sp>
      <p:sp>
        <p:nvSpPr>
          <p:cNvPr id="230" name="Google Shape;230;p7"/>
          <p:cNvSpPr/>
          <p:nvPr/>
        </p:nvSpPr>
        <p:spPr>
          <a:xfrm>
            <a:off x="4946904" y="1545336"/>
            <a:ext cx="3886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RIAs &amp; Wealth Advisors</a:t>
            </a:r>
            <a:endParaRPr b="0" i="0" sz="1300" u="none" cap="none" strike="noStrike">
              <a:solidFill>
                <a:schemeClr val="dk1"/>
              </a:solidFill>
              <a:latin typeface="Calibri"/>
              <a:ea typeface="Calibri"/>
              <a:cs typeface="Calibri"/>
              <a:sym typeface="Calibri"/>
            </a:endParaRPr>
          </a:p>
        </p:txBody>
      </p:sp>
      <p:sp>
        <p:nvSpPr>
          <p:cNvPr id="231" name="Google Shape;231;p7"/>
          <p:cNvSpPr/>
          <p:nvPr/>
        </p:nvSpPr>
        <p:spPr>
          <a:xfrm>
            <a:off x="4946904" y="1837944"/>
            <a:ext cx="3886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50"/>
              <a:buFont typeface="Calibri"/>
              <a:buNone/>
            </a:pPr>
            <a:r>
              <a:rPr b="0" i="0" lang="en-US" sz="950" u="none" cap="none" strike="noStrike">
                <a:solidFill>
                  <a:srgbClr val="9090B0"/>
                </a:solidFill>
                <a:latin typeface="Calibri"/>
                <a:ea typeface="Calibri"/>
                <a:cs typeface="Calibri"/>
                <a:sym typeface="Calibri"/>
              </a:rPr>
              <a:t>$100T in wealth reallocating in 5 years. Major platforms recommending 1–4% crypto exposure. Abra provides white-label SMA infrastructure for digital asset advisory.</a:t>
            </a:r>
            <a:endParaRPr b="0" i="0" sz="950" u="none" cap="none" strike="noStrike">
              <a:solidFill>
                <a:schemeClr val="dk1"/>
              </a:solidFill>
              <a:latin typeface="Calibri"/>
              <a:ea typeface="Calibri"/>
              <a:cs typeface="Calibri"/>
              <a:sym typeface="Calibri"/>
            </a:endParaRPr>
          </a:p>
        </p:txBody>
      </p:sp>
      <p:sp>
        <p:nvSpPr>
          <p:cNvPr id="232" name="Google Shape;232;p7"/>
          <p:cNvSpPr/>
          <p:nvPr/>
        </p:nvSpPr>
        <p:spPr>
          <a:xfrm>
            <a:off x="347472" y="2926080"/>
            <a:ext cx="4251960" cy="1627632"/>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347472" y="2926080"/>
            <a:ext cx="425196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512064" y="3063240"/>
            <a:ext cx="1463040" cy="201168"/>
          </a:xfrm>
          <a:prstGeom prst="rect">
            <a:avLst/>
          </a:prstGeom>
          <a:solidFill>
            <a:srgbClr val="EDE7FC"/>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512064" y="3063240"/>
            <a:ext cx="14630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2DB8"/>
              </a:buClr>
              <a:buSzPts val="750"/>
              <a:buFont typeface="Calibri"/>
              <a:buNone/>
            </a:pPr>
            <a:r>
              <a:rPr b="1" i="0" lang="en-US" sz="750" u="none" cap="none" strike="noStrike">
                <a:solidFill>
                  <a:srgbClr val="5C2DB8"/>
                </a:solidFill>
                <a:latin typeface="Calibri"/>
                <a:ea typeface="Calibri"/>
                <a:cs typeface="Calibri"/>
                <a:sym typeface="Calibri"/>
              </a:rPr>
              <a:t>High-value segment</a:t>
            </a:r>
            <a:endParaRPr b="0" i="0" sz="750" u="none" cap="none" strike="noStrike">
              <a:solidFill>
                <a:schemeClr val="dk1"/>
              </a:solidFill>
              <a:latin typeface="Calibri"/>
              <a:ea typeface="Calibri"/>
              <a:cs typeface="Calibri"/>
              <a:sym typeface="Calibri"/>
            </a:endParaRPr>
          </a:p>
        </p:txBody>
      </p:sp>
      <p:sp>
        <p:nvSpPr>
          <p:cNvPr id="236" name="Google Shape;236;p7"/>
          <p:cNvSpPr/>
          <p:nvPr/>
        </p:nvSpPr>
        <p:spPr>
          <a:xfrm>
            <a:off x="512064" y="3328416"/>
            <a:ext cx="3886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Family Offices</a:t>
            </a:r>
            <a:endParaRPr b="0" i="0" sz="1300" u="none" cap="none" strike="noStrike">
              <a:solidFill>
                <a:schemeClr val="dk1"/>
              </a:solidFill>
              <a:latin typeface="Calibri"/>
              <a:ea typeface="Calibri"/>
              <a:cs typeface="Calibri"/>
              <a:sym typeface="Calibri"/>
            </a:endParaRPr>
          </a:p>
        </p:txBody>
      </p:sp>
      <p:sp>
        <p:nvSpPr>
          <p:cNvPr id="237" name="Google Shape;237;p7"/>
          <p:cNvSpPr/>
          <p:nvPr/>
        </p:nvSpPr>
        <p:spPr>
          <a:xfrm>
            <a:off x="512064" y="3621024"/>
            <a:ext cx="3886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50"/>
              <a:buFont typeface="Calibri"/>
              <a:buNone/>
            </a:pPr>
            <a:r>
              <a:rPr b="0" i="0" lang="en-US" sz="950" u="none" cap="none" strike="noStrike">
                <a:solidFill>
                  <a:srgbClr val="9090B0"/>
                </a:solidFill>
                <a:latin typeface="Calibri"/>
                <a:ea typeface="Calibri"/>
                <a:cs typeface="Calibri"/>
                <a:sym typeface="Calibri"/>
              </a:rPr>
              <a:t>Multi-generational wealth managers needing fiduciary-grade governance, tax efficiency, reporting, and segregated custody with institutional-grade infrastructure.</a:t>
            </a:r>
            <a:endParaRPr b="0" i="0" sz="950" u="none" cap="none" strike="noStrike">
              <a:solidFill>
                <a:schemeClr val="dk1"/>
              </a:solidFill>
              <a:latin typeface="Calibri"/>
              <a:ea typeface="Calibri"/>
              <a:cs typeface="Calibri"/>
              <a:sym typeface="Calibri"/>
            </a:endParaRPr>
          </a:p>
        </p:txBody>
      </p:sp>
      <p:sp>
        <p:nvSpPr>
          <p:cNvPr id="238" name="Google Shape;238;p7"/>
          <p:cNvSpPr/>
          <p:nvPr/>
        </p:nvSpPr>
        <p:spPr>
          <a:xfrm>
            <a:off x="4782312" y="2926080"/>
            <a:ext cx="4251960" cy="1627632"/>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7"/>
          <p:cNvSpPr/>
          <p:nvPr/>
        </p:nvSpPr>
        <p:spPr>
          <a:xfrm>
            <a:off x="4782312" y="2926080"/>
            <a:ext cx="425196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7"/>
          <p:cNvSpPr/>
          <p:nvPr/>
        </p:nvSpPr>
        <p:spPr>
          <a:xfrm>
            <a:off x="4946904" y="3063240"/>
            <a:ext cx="1463040" cy="201168"/>
          </a:xfrm>
          <a:prstGeom prst="rect">
            <a:avLst/>
          </a:prstGeom>
          <a:solidFill>
            <a:srgbClr val="EDE7FC"/>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7"/>
          <p:cNvSpPr/>
          <p:nvPr/>
        </p:nvSpPr>
        <p:spPr>
          <a:xfrm>
            <a:off x="4946904" y="3063240"/>
            <a:ext cx="14630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2DB8"/>
              </a:buClr>
              <a:buSzPts val="750"/>
              <a:buFont typeface="Calibri"/>
              <a:buNone/>
            </a:pPr>
            <a:r>
              <a:rPr b="1" i="0" lang="en-US" sz="750" u="none" cap="none" strike="noStrike">
                <a:solidFill>
                  <a:srgbClr val="5C2DB8"/>
                </a:solidFill>
                <a:latin typeface="Calibri"/>
                <a:ea typeface="Calibri"/>
                <a:cs typeface="Calibri"/>
                <a:sym typeface="Calibri"/>
              </a:rPr>
              <a:t>Treasury management</a:t>
            </a:r>
            <a:endParaRPr b="0" i="0" sz="750" u="none" cap="none" strike="noStrike">
              <a:solidFill>
                <a:schemeClr val="dk1"/>
              </a:solidFill>
              <a:latin typeface="Calibri"/>
              <a:ea typeface="Calibri"/>
              <a:cs typeface="Calibri"/>
              <a:sym typeface="Calibri"/>
            </a:endParaRPr>
          </a:p>
        </p:txBody>
      </p:sp>
      <p:sp>
        <p:nvSpPr>
          <p:cNvPr id="242" name="Google Shape;242;p7"/>
          <p:cNvSpPr/>
          <p:nvPr/>
        </p:nvSpPr>
        <p:spPr>
          <a:xfrm>
            <a:off x="4946904" y="3328416"/>
            <a:ext cx="3886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Corporates &amp; Miners</a:t>
            </a:r>
            <a:endParaRPr b="0" i="0" sz="1300" u="none" cap="none" strike="noStrike">
              <a:solidFill>
                <a:schemeClr val="dk1"/>
              </a:solidFill>
              <a:latin typeface="Calibri"/>
              <a:ea typeface="Calibri"/>
              <a:cs typeface="Calibri"/>
              <a:sym typeface="Calibri"/>
            </a:endParaRPr>
          </a:p>
        </p:txBody>
      </p:sp>
      <p:sp>
        <p:nvSpPr>
          <p:cNvPr id="243" name="Google Shape;243;p7"/>
          <p:cNvSpPr/>
          <p:nvPr/>
        </p:nvSpPr>
        <p:spPr>
          <a:xfrm>
            <a:off x="4946904" y="3621024"/>
            <a:ext cx="3886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50"/>
              <a:buFont typeface="Calibri"/>
              <a:buNone/>
            </a:pPr>
            <a:r>
              <a:rPr b="0" i="0" lang="en-US" sz="950" u="none" cap="none" strike="noStrike">
                <a:solidFill>
                  <a:srgbClr val="9090B0"/>
                </a:solidFill>
                <a:latin typeface="Calibri"/>
                <a:ea typeface="Calibri"/>
                <a:cs typeface="Calibri"/>
                <a:sym typeface="Calibri"/>
              </a:rPr>
              <a:t>ATM operators, miners, treasury companies managing BTC/stablecoin reserves. Need yield on idle assets, credit lines, and operational efficiency without counterparty risk.</a:t>
            </a:r>
            <a:endParaRPr b="0" i="0" sz="950" u="none" cap="none" strike="noStrike">
              <a:solidFill>
                <a:schemeClr val="dk1"/>
              </a:solidFill>
              <a:latin typeface="Calibri"/>
              <a:ea typeface="Calibri"/>
              <a:cs typeface="Calibri"/>
              <a:sym typeface="Calibri"/>
            </a:endParaRPr>
          </a:p>
        </p:txBody>
      </p:sp>
      <p:sp>
        <p:nvSpPr>
          <p:cNvPr id="244" name="Google Shape;244;p7"/>
          <p:cNvSpPr/>
          <p:nvPr/>
        </p:nvSpPr>
        <p:spPr>
          <a:xfrm>
            <a:off x="0" y="4873752"/>
            <a:ext cx="9144000" cy="269748"/>
          </a:xfrm>
          <a:prstGeom prst="rect">
            <a:avLst/>
          </a:prstGeom>
          <a:solidFill>
            <a:srgbClr val="1C1C2E"/>
          </a:solidFill>
          <a:ln cap="flat" cmpd="sng" w="12700">
            <a:solidFill>
              <a:srgbClr val="1C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506A"/>
              </a:buClr>
              <a:buSzPts val="800"/>
              <a:buFont typeface="Calibri"/>
              <a:buNone/>
            </a:pPr>
            <a:r>
              <a:rPr b="0" i="0" lang="en-US" sz="800" u="none" cap="none" strike="noStrike">
                <a:solidFill>
                  <a:srgbClr val="50506A"/>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246" name="Google Shape;246;p7"/>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8"/>
        </a:solidFill>
      </p:bgPr>
    </p:bg>
    <p:spTree>
      <p:nvGrpSpPr>
        <p:cNvPr id="251" name="Shape 251"/>
        <p:cNvGrpSpPr/>
        <p:nvPr/>
      </p:nvGrpSpPr>
      <p:grpSpPr>
        <a:xfrm>
          <a:off x="0" y="0"/>
          <a:ext cx="0" cy="0"/>
          <a:chOff x="0" y="0"/>
          <a:chExt cx="0" cy="0"/>
        </a:xfrm>
      </p:grpSpPr>
      <p:sp>
        <p:nvSpPr>
          <p:cNvPr id="252" name="Google Shape;252;p8"/>
          <p:cNvSpPr/>
          <p:nvPr/>
        </p:nvSpPr>
        <p:spPr>
          <a:xfrm>
            <a:off x="411480" y="256032"/>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3000"/>
              <a:buFont typeface="Trebuchet MS"/>
              <a:buNone/>
            </a:pPr>
            <a:r>
              <a:rPr b="1" i="0" lang="en-US" sz="3000" u="none" cap="none" strike="noStrike">
                <a:solidFill>
                  <a:srgbClr val="13131F"/>
                </a:solidFill>
                <a:latin typeface="Trebuchet MS"/>
                <a:ea typeface="Trebuchet MS"/>
                <a:cs typeface="Trebuchet MS"/>
                <a:sym typeface="Trebuchet MS"/>
              </a:rPr>
              <a:t>Competitor Comparison</a:t>
            </a:r>
            <a:endParaRPr b="0" i="0" sz="3000" u="none" cap="none" strike="noStrike">
              <a:solidFill>
                <a:schemeClr val="dk1"/>
              </a:solidFill>
              <a:latin typeface="Calibri"/>
              <a:ea typeface="Calibri"/>
              <a:cs typeface="Calibri"/>
              <a:sym typeface="Calibri"/>
            </a:endParaRPr>
          </a:p>
        </p:txBody>
      </p:sp>
      <p:sp>
        <p:nvSpPr>
          <p:cNvPr id="253" name="Google Shape;253;p8"/>
          <p:cNvSpPr/>
          <p:nvPr/>
        </p:nvSpPr>
        <p:spPr>
          <a:xfrm>
            <a:off x="411480" y="777240"/>
            <a:ext cx="8321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1200"/>
              <a:buFont typeface="Calibri"/>
              <a:buNone/>
            </a:pPr>
            <a:r>
              <a:rPr b="0" i="1" lang="en-US" sz="1200" u="none" cap="none" strike="noStrike">
                <a:solidFill>
                  <a:srgbClr val="4A4A6A"/>
                </a:solidFill>
                <a:latin typeface="Calibri"/>
                <a:ea typeface="Calibri"/>
                <a:cs typeface="Calibri"/>
                <a:sym typeface="Calibri"/>
              </a:rPr>
              <a:t>Abra vs. Ledn · Coinbase · Nexo · Custodians</a:t>
            </a:r>
            <a:endParaRPr b="0" i="0" sz="1200" u="none" cap="none" strike="noStrike">
              <a:solidFill>
                <a:schemeClr val="dk1"/>
              </a:solidFill>
              <a:latin typeface="Calibri"/>
              <a:ea typeface="Calibri"/>
              <a:cs typeface="Calibri"/>
              <a:sym typeface="Calibri"/>
            </a:endParaRPr>
          </a:p>
        </p:txBody>
      </p:sp>
      <p:sp>
        <p:nvSpPr>
          <p:cNvPr id="254" name="Google Shape;254;p8"/>
          <p:cNvSpPr/>
          <p:nvPr/>
        </p:nvSpPr>
        <p:spPr>
          <a:xfrm>
            <a:off x="411480" y="1051560"/>
            <a:ext cx="832104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256032" y="1170432"/>
            <a:ext cx="1508760" cy="329184"/>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256032" y="1170432"/>
            <a:ext cx="15087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Feature</a:t>
            </a:r>
            <a:endParaRPr b="0" i="0" sz="900" u="none" cap="none" strike="noStrike">
              <a:solidFill>
                <a:schemeClr val="dk1"/>
              </a:solidFill>
              <a:latin typeface="Calibri"/>
              <a:ea typeface="Calibri"/>
              <a:cs typeface="Calibri"/>
              <a:sym typeface="Calibri"/>
            </a:endParaRPr>
          </a:p>
        </p:txBody>
      </p:sp>
      <p:sp>
        <p:nvSpPr>
          <p:cNvPr id="257" name="Google Shape;257;p8"/>
          <p:cNvSpPr/>
          <p:nvPr/>
        </p:nvSpPr>
        <p:spPr>
          <a:xfrm>
            <a:off x="1764792" y="1170432"/>
            <a:ext cx="1298448" cy="329184"/>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1764792" y="1170432"/>
            <a:ext cx="129844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Abra (ACM)</a:t>
            </a:r>
            <a:endParaRPr b="0" i="0" sz="900" u="none" cap="none" strike="noStrike">
              <a:solidFill>
                <a:schemeClr val="dk1"/>
              </a:solidFill>
              <a:latin typeface="Calibri"/>
              <a:ea typeface="Calibri"/>
              <a:cs typeface="Calibri"/>
              <a:sym typeface="Calibri"/>
            </a:endParaRPr>
          </a:p>
        </p:txBody>
      </p:sp>
      <p:sp>
        <p:nvSpPr>
          <p:cNvPr id="259" name="Google Shape;259;p8"/>
          <p:cNvSpPr/>
          <p:nvPr/>
        </p:nvSpPr>
        <p:spPr>
          <a:xfrm>
            <a:off x="3063240" y="1170432"/>
            <a:ext cx="1298448" cy="329184"/>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3063240" y="1170432"/>
            <a:ext cx="129844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Ledn</a:t>
            </a:r>
            <a:endParaRPr b="0" i="0" sz="900" u="none" cap="none" strike="noStrike">
              <a:solidFill>
                <a:schemeClr val="dk1"/>
              </a:solidFill>
              <a:latin typeface="Calibri"/>
              <a:ea typeface="Calibri"/>
              <a:cs typeface="Calibri"/>
              <a:sym typeface="Calibri"/>
            </a:endParaRPr>
          </a:p>
        </p:txBody>
      </p:sp>
      <p:sp>
        <p:nvSpPr>
          <p:cNvPr id="261" name="Google Shape;261;p8"/>
          <p:cNvSpPr/>
          <p:nvPr/>
        </p:nvSpPr>
        <p:spPr>
          <a:xfrm>
            <a:off x="4361688" y="1170432"/>
            <a:ext cx="1298448" cy="329184"/>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4361688" y="1170432"/>
            <a:ext cx="129844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Coinbase Prime</a:t>
            </a:r>
            <a:endParaRPr b="0" i="0" sz="900" u="none" cap="none" strike="noStrike">
              <a:solidFill>
                <a:schemeClr val="dk1"/>
              </a:solidFill>
              <a:latin typeface="Calibri"/>
              <a:ea typeface="Calibri"/>
              <a:cs typeface="Calibri"/>
              <a:sym typeface="Calibri"/>
            </a:endParaRPr>
          </a:p>
        </p:txBody>
      </p:sp>
      <p:sp>
        <p:nvSpPr>
          <p:cNvPr id="263" name="Google Shape;263;p8"/>
          <p:cNvSpPr/>
          <p:nvPr/>
        </p:nvSpPr>
        <p:spPr>
          <a:xfrm>
            <a:off x="5660136" y="1170432"/>
            <a:ext cx="1298448" cy="329184"/>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5660136" y="1170432"/>
            <a:ext cx="129844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Nexo</a:t>
            </a:r>
            <a:endParaRPr b="0" i="0" sz="900" u="none" cap="none" strike="noStrike">
              <a:solidFill>
                <a:schemeClr val="dk1"/>
              </a:solidFill>
              <a:latin typeface="Calibri"/>
              <a:ea typeface="Calibri"/>
              <a:cs typeface="Calibri"/>
              <a:sym typeface="Calibri"/>
            </a:endParaRPr>
          </a:p>
        </p:txBody>
      </p:sp>
      <p:sp>
        <p:nvSpPr>
          <p:cNvPr id="265" name="Google Shape;265;p8"/>
          <p:cNvSpPr/>
          <p:nvPr/>
        </p:nvSpPr>
        <p:spPr>
          <a:xfrm>
            <a:off x="6958584" y="1170432"/>
            <a:ext cx="1298448" cy="329184"/>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6958584" y="1170432"/>
            <a:ext cx="129844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Custodians</a:t>
            </a:r>
            <a:endParaRPr b="0" i="0" sz="900" u="none" cap="none" strike="noStrike">
              <a:solidFill>
                <a:schemeClr val="dk1"/>
              </a:solidFill>
              <a:latin typeface="Calibri"/>
              <a:ea typeface="Calibri"/>
              <a:cs typeface="Calibri"/>
              <a:sym typeface="Calibri"/>
            </a:endParaRPr>
          </a:p>
        </p:txBody>
      </p:sp>
      <p:sp>
        <p:nvSpPr>
          <p:cNvPr id="267" name="Google Shape;267;p8"/>
          <p:cNvSpPr/>
          <p:nvPr/>
        </p:nvSpPr>
        <p:spPr>
          <a:xfrm>
            <a:off x="256032" y="1499616"/>
            <a:ext cx="1508760"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310896" y="1536192"/>
            <a:ext cx="14173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850"/>
              <a:buFont typeface="Calibri"/>
              <a:buNone/>
            </a:pPr>
            <a:r>
              <a:rPr b="1" i="0" lang="en-US" sz="850" u="none" cap="none" strike="noStrike">
                <a:solidFill>
                  <a:srgbClr val="13131F"/>
                </a:solidFill>
                <a:latin typeface="Calibri"/>
                <a:ea typeface="Calibri"/>
                <a:cs typeface="Calibri"/>
                <a:sym typeface="Calibri"/>
              </a:rPr>
              <a:t>Regulatory</a:t>
            </a:r>
            <a:endParaRPr b="0" i="0" sz="850" u="none" cap="none" strike="noStrike">
              <a:solidFill>
                <a:schemeClr val="dk1"/>
              </a:solidFill>
              <a:latin typeface="Calibri"/>
              <a:ea typeface="Calibri"/>
              <a:cs typeface="Calibri"/>
              <a:sym typeface="Calibri"/>
            </a:endParaRPr>
          </a:p>
        </p:txBody>
      </p:sp>
      <p:sp>
        <p:nvSpPr>
          <p:cNvPr id="269" name="Google Shape;269;p8"/>
          <p:cNvSpPr/>
          <p:nvPr/>
        </p:nvSpPr>
        <p:spPr>
          <a:xfrm>
            <a:off x="1764792" y="1499616"/>
            <a:ext cx="1298448" cy="475488"/>
          </a:xfrm>
          <a:prstGeom prst="rect">
            <a:avLst/>
          </a:prstGeom>
          <a:solidFill>
            <a:srgbClr val="EDE7FC"/>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1819656" y="1536192"/>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2DB8"/>
              </a:buClr>
              <a:buSzPts val="850"/>
              <a:buFont typeface="Calibri"/>
              <a:buNone/>
            </a:pPr>
            <a:r>
              <a:rPr b="1" i="0" lang="en-US" sz="850" u="none" cap="none" strike="noStrike">
                <a:solidFill>
                  <a:srgbClr val="5C2DB8"/>
                </a:solidFill>
                <a:latin typeface="Calibri"/>
                <a:ea typeface="Calibri"/>
                <a:cs typeface="Calibri"/>
                <a:sym typeface="Calibri"/>
              </a:rPr>
              <a:t>SEC-registered RIA (fiduciary)</a:t>
            </a:r>
            <a:endParaRPr b="0" i="0" sz="850" u="none" cap="none" strike="noStrike">
              <a:solidFill>
                <a:schemeClr val="dk1"/>
              </a:solidFill>
              <a:latin typeface="Calibri"/>
              <a:ea typeface="Calibri"/>
              <a:cs typeface="Calibri"/>
              <a:sym typeface="Calibri"/>
            </a:endParaRPr>
          </a:p>
        </p:txBody>
      </p:sp>
      <p:sp>
        <p:nvSpPr>
          <p:cNvPr id="271" name="Google Shape;271;p8"/>
          <p:cNvSpPr/>
          <p:nvPr/>
        </p:nvSpPr>
        <p:spPr>
          <a:xfrm>
            <a:off x="3063240" y="1499616"/>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
          <p:cNvSpPr/>
          <p:nvPr/>
        </p:nvSpPr>
        <p:spPr>
          <a:xfrm>
            <a:off x="3118104" y="1536192"/>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No RIA; MTLs only</a:t>
            </a:r>
            <a:endParaRPr b="0" i="0" sz="850" u="none" cap="none" strike="noStrike">
              <a:solidFill>
                <a:schemeClr val="dk1"/>
              </a:solidFill>
              <a:latin typeface="Calibri"/>
              <a:ea typeface="Calibri"/>
              <a:cs typeface="Calibri"/>
              <a:sym typeface="Calibri"/>
            </a:endParaRPr>
          </a:p>
        </p:txBody>
      </p:sp>
      <p:sp>
        <p:nvSpPr>
          <p:cNvPr id="273" name="Google Shape;273;p8"/>
          <p:cNvSpPr/>
          <p:nvPr/>
        </p:nvSpPr>
        <p:spPr>
          <a:xfrm>
            <a:off x="4361688" y="1499616"/>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
          <p:cNvSpPr/>
          <p:nvPr/>
        </p:nvSpPr>
        <p:spPr>
          <a:xfrm>
            <a:off x="4416552" y="1536192"/>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No RIA; Exchange</a:t>
            </a:r>
            <a:endParaRPr b="0" i="0" sz="850" u="none" cap="none" strike="noStrike">
              <a:solidFill>
                <a:schemeClr val="dk1"/>
              </a:solidFill>
              <a:latin typeface="Calibri"/>
              <a:ea typeface="Calibri"/>
              <a:cs typeface="Calibri"/>
              <a:sym typeface="Calibri"/>
            </a:endParaRPr>
          </a:p>
        </p:txBody>
      </p:sp>
      <p:sp>
        <p:nvSpPr>
          <p:cNvPr id="275" name="Google Shape;275;p8"/>
          <p:cNvSpPr/>
          <p:nvPr/>
        </p:nvSpPr>
        <p:spPr>
          <a:xfrm>
            <a:off x="5660136" y="1499616"/>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5715000" y="1536192"/>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Re-entered US Feb 2026</a:t>
            </a:r>
            <a:endParaRPr b="0" i="0" sz="850" u="none" cap="none" strike="noStrike">
              <a:solidFill>
                <a:schemeClr val="dk1"/>
              </a:solidFill>
              <a:latin typeface="Calibri"/>
              <a:ea typeface="Calibri"/>
              <a:cs typeface="Calibri"/>
              <a:sym typeface="Calibri"/>
            </a:endParaRPr>
          </a:p>
        </p:txBody>
      </p:sp>
      <p:sp>
        <p:nvSpPr>
          <p:cNvPr id="277" name="Google Shape;277;p8"/>
          <p:cNvSpPr/>
          <p:nvPr/>
        </p:nvSpPr>
        <p:spPr>
          <a:xfrm>
            <a:off x="6958584" y="1499616"/>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7013448" y="1536192"/>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Trusts / OCC Charters</a:t>
            </a:r>
            <a:endParaRPr b="0" i="0" sz="850" u="none" cap="none" strike="noStrike">
              <a:solidFill>
                <a:schemeClr val="dk1"/>
              </a:solidFill>
              <a:latin typeface="Calibri"/>
              <a:ea typeface="Calibri"/>
              <a:cs typeface="Calibri"/>
              <a:sym typeface="Calibri"/>
            </a:endParaRPr>
          </a:p>
        </p:txBody>
      </p:sp>
      <p:sp>
        <p:nvSpPr>
          <p:cNvPr id="279" name="Google Shape;279;p8"/>
          <p:cNvSpPr/>
          <p:nvPr/>
        </p:nvSpPr>
        <p:spPr>
          <a:xfrm>
            <a:off x="256032" y="1975104"/>
            <a:ext cx="1508760"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310896" y="2011680"/>
            <a:ext cx="14173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850"/>
              <a:buFont typeface="Calibri"/>
              <a:buNone/>
            </a:pPr>
            <a:r>
              <a:rPr b="1" i="0" lang="en-US" sz="850" u="none" cap="none" strike="noStrike">
                <a:solidFill>
                  <a:srgbClr val="13131F"/>
                </a:solidFill>
                <a:latin typeface="Calibri"/>
                <a:ea typeface="Calibri"/>
                <a:cs typeface="Calibri"/>
                <a:sym typeface="Calibri"/>
              </a:rPr>
              <a:t>Accounts</a:t>
            </a:r>
            <a:endParaRPr b="0" i="0" sz="850" u="none" cap="none" strike="noStrike">
              <a:solidFill>
                <a:schemeClr val="dk1"/>
              </a:solidFill>
              <a:latin typeface="Calibri"/>
              <a:ea typeface="Calibri"/>
              <a:cs typeface="Calibri"/>
              <a:sym typeface="Calibri"/>
            </a:endParaRPr>
          </a:p>
        </p:txBody>
      </p:sp>
      <p:sp>
        <p:nvSpPr>
          <p:cNvPr id="281" name="Google Shape;281;p8"/>
          <p:cNvSpPr/>
          <p:nvPr/>
        </p:nvSpPr>
        <p:spPr>
          <a:xfrm>
            <a:off x="1764792" y="1975104"/>
            <a:ext cx="1298448" cy="475488"/>
          </a:xfrm>
          <a:prstGeom prst="rect">
            <a:avLst/>
          </a:prstGeom>
          <a:solidFill>
            <a:srgbClr val="EDE7FC"/>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1819656" y="2011680"/>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2DB8"/>
              </a:buClr>
              <a:buSzPts val="850"/>
              <a:buFont typeface="Calibri"/>
              <a:buNone/>
            </a:pPr>
            <a:r>
              <a:rPr b="1" i="0" lang="en-US" sz="850" u="none" cap="none" strike="noStrike">
                <a:solidFill>
                  <a:srgbClr val="5C2DB8"/>
                </a:solidFill>
                <a:latin typeface="Calibri"/>
                <a:ea typeface="Calibri"/>
                <a:cs typeface="Calibri"/>
                <a:sym typeface="Calibri"/>
              </a:rPr>
              <a:t>Segregated SMAs</a:t>
            </a:r>
            <a:endParaRPr b="0" i="0" sz="850" u="none" cap="none" strike="noStrike">
              <a:solidFill>
                <a:schemeClr val="dk1"/>
              </a:solidFill>
              <a:latin typeface="Calibri"/>
              <a:ea typeface="Calibri"/>
              <a:cs typeface="Calibri"/>
              <a:sym typeface="Calibri"/>
            </a:endParaRPr>
          </a:p>
        </p:txBody>
      </p:sp>
      <p:sp>
        <p:nvSpPr>
          <p:cNvPr id="283" name="Google Shape;283;p8"/>
          <p:cNvSpPr/>
          <p:nvPr/>
        </p:nvSpPr>
        <p:spPr>
          <a:xfrm>
            <a:off x="3063240" y="1975104"/>
            <a:ext cx="1298448"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8"/>
          <p:cNvSpPr/>
          <p:nvPr/>
        </p:nvSpPr>
        <p:spPr>
          <a:xfrm>
            <a:off x="3118104" y="2011680"/>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Omnibus / pooled</a:t>
            </a:r>
            <a:endParaRPr b="0" i="0" sz="850" u="none" cap="none" strike="noStrike">
              <a:solidFill>
                <a:schemeClr val="dk1"/>
              </a:solidFill>
              <a:latin typeface="Calibri"/>
              <a:ea typeface="Calibri"/>
              <a:cs typeface="Calibri"/>
              <a:sym typeface="Calibri"/>
            </a:endParaRPr>
          </a:p>
        </p:txBody>
      </p:sp>
      <p:sp>
        <p:nvSpPr>
          <p:cNvPr id="285" name="Google Shape;285;p8"/>
          <p:cNvSpPr/>
          <p:nvPr/>
        </p:nvSpPr>
        <p:spPr>
          <a:xfrm>
            <a:off x="4361688" y="1975104"/>
            <a:ext cx="1298448"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8"/>
          <p:cNvSpPr/>
          <p:nvPr/>
        </p:nvSpPr>
        <p:spPr>
          <a:xfrm>
            <a:off x="4416552" y="2011680"/>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Omnibus / pooled</a:t>
            </a:r>
            <a:endParaRPr b="0" i="0" sz="850" u="none" cap="none" strike="noStrike">
              <a:solidFill>
                <a:schemeClr val="dk1"/>
              </a:solidFill>
              <a:latin typeface="Calibri"/>
              <a:ea typeface="Calibri"/>
              <a:cs typeface="Calibri"/>
              <a:sym typeface="Calibri"/>
            </a:endParaRPr>
          </a:p>
        </p:txBody>
      </p:sp>
      <p:sp>
        <p:nvSpPr>
          <p:cNvPr id="287" name="Google Shape;287;p8"/>
          <p:cNvSpPr/>
          <p:nvPr/>
        </p:nvSpPr>
        <p:spPr>
          <a:xfrm>
            <a:off x="5660136" y="1975104"/>
            <a:ext cx="1298448"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a:off x="5715000" y="2011680"/>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Omnibus / pooled</a:t>
            </a:r>
            <a:endParaRPr b="0" i="0" sz="850" u="none" cap="none" strike="noStrike">
              <a:solidFill>
                <a:schemeClr val="dk1"/>
              </a:solidFill>
              <a:latin typeface="Calibri"/>
              <a:ea typeface="Calibri"/>
              <a:cs typeface="Calibri"/>
              <a:sym typeface="Calibri"/>
            </a:endParaRPr>
          </a:p>
        </p:txBody>
      </p:sp>
      <p:sp>
        <p:nvSpPr>
          <p:cNvPr id="289" name="Google Shape;289;p8"/>
          <p:cNvSpPr/>
          <p:nvPr/>
        </p:nvSpPr>
        <p:spPr>
          <a:xfrm>
            <a:off x="6958584" y="1975104"/>
            <a:ext cx="1298448"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8"/>
          <p:cNvSpPr/>
          <p:nvPr/>
        </p:nvSpPr>
        <p:spPr>
          <a:xfrm>
            <a:off x="7013448" y="2011680"/>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Segregated</a:t>
            </a:r>
            <a:endParaRPr b="0" i="0" sz="850" u="none" cap="none" strike="noStrike">
              <a:solidFill>
                <a:schemeClr val="dk1"/>
              </a:solidFill>
              <a:latin typeface="Calibri"/>
              <a:ea typeface="Calibri"/>
              <a:cs typeface="Calibri"/>
              <a:sym typeface="Calibri"/>
            </a:endParaRPr>
          </a:p>
        </p:txBody>
      </p:sp>
      <p:sp>
        <p:nvSpPr>
          <p:cNvPr id="291" name="Google Shape;291;p8"/>
          <p:cNvSpPr/>
          <p:nvPr/>
        </p:nvSpPr>
        <p:spPr>
          <a:xfrm>
            <a:off x="256032" y="2450592"/>
            <a:ext cx="1508760"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310896" y="2487168"/>
            <a:ext cx="14173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850"/>
              <a:buFont typeface="Calibri"/>
              <a:buNone/>
            </a:pPr>
            <a:r>
              <a:rPr b="1" i="0" lang="en-US" sz="850" u="none" cap="none" strike="noStrike">
                <a:solidFill>
                  <a:srgbClr val="13131F"/>
                </a:solidFill>
                <a:latin typeface="Calibri"/>
                <a:ea typeface="Calibri"/>
                <a:cs typeface="Calibri"/>
                <a:sym typeface="Calibri"/>
              </a:rPr>
              <a:t>Rehypoth.</a:t>
            </a:r>
            <a:endParaRPr b="0" i="0" sz="850" u="none" cap="none" strike="noStrike">
              <a:solidFill>
                <a:schemeClr val="dk1"/>
              </a:solidFill>
              <a:latin typeface="Calibri"/>
              <a:ea typeface="Calibri"/>
              <a:cs typeface="Calibri"/>
              <a:sym typeface="Calibri"/>
            </a:endParaRPr>
          </a:p>
        </p:txBody>
      </p:sp>
      <p:sp>
        <p:nvSpPr>
          <p:cNvPr id="293" name="Google Shape;293;p8"/>
          <p:cNvSpPr/>
          <p:nvPr/>
        </p:nvSpPr>
        <p:spPr>
          <a:xfrm>
            <a:off x="1764792" y="2450592"/>
            <a:ext cx="1298448" cy="475488"/>
          </a:xfrm>
          <a:prstGeom prst="rect">
            <a:avLst/>
          </a:prstGeom>
          <a:solidFill>
            <a:srgbClr val="EDE7FC"/>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1819656" y="2487168"/>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2DB8"/>
              </a:buClr>
              <a:buSzPts val="850"/>
              <a:buFont typeface="Calibri"/>
              <a:buNone/>
            </a:pPr>
            <a:r>
              <a:rPr b="1" i="0" lang="en-US" sz="850" u="none" cap="none" strike="noStrike">
                <a:solidFill>
                  <a:srgbClr val="5C2DB8"/>
                </a:solidFill>
                <a:latin typeface="Calibri"/>
                <a:ea typeface="Calibri"/>
                <a:cs typeface="Calibri"/>
                <a:sym typeface="Calibri"/>
              </a:rPr>
              <a:t>Zero ✓</a:t>
            </a:r>
            <a:endParaRPr b="0" i="0" sz="850" u="none" cap="none" strike="noStrike">
              <a:solidFill>
                <a:schemeClr val="dk1"/>
              </a:solidFill>
              <a:latin typeface="Calibri"/>
              <a:ea typeface="Calibri"/>
              <a:cs typeface="Calibri"/>
              <a:sym typeface="Calibri"/>
            </a:endParaRPr>
          </a:p>
        </p:txBody>
      </p:sp>
      <p:sp>
        <p:nvSpPr>
          <p:cNvPr id="295" name="Google Shape;295;p8"/>
          <p:cNvSpPr/>
          <p:nvPr/>
        </p:nvSpPr>
        <p:spPr>
          <a:xfrm>
            <a:off x="3063240" y="2450592"/>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3118104" y="2487168"/>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Removed mid-2025</a:t>
            </a:r>
            <a:endParaRPr b="0" i="0" sz="850" u="none" cap="none" strike="noStrike">
              <a:solidFill>
                <a:schemeClr val="dk1"/>
              </a:solidFill>
              <a:latin typeface="Calibri"/>
              <a:ea typeface="Calibri"/>
              <a:cs typeface="Calibri"/>
              <a:sym typeface="Calibri"/>
            </a:endParaRPr>
          </a:p>
        </p:txBody>
      </p:sp>
      <p:sp>
        <p:nvSpPr>
          <p:cNvPr id="297" name="Google Shape;297;p8"/>
          <p:cNvSpPr/>
          <p:nvPr/>
        </p:nvSpPr>
        <p:spPr>
          <a:xfrm>
            <a:off x="4361688" y="2450592"/>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4416552" y="2487168"/>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No</a:t>
            </a:r>
            <a:endParaRPr b="0" i="0" sz="850" u="none" cap="none" strike="noStrike">
              <a:solidFill>
                <a:schemeClr val="dk1"/>
              </a:solidFill>
              <a:latin typeface="Calibri"/>
              <a:ea typeface="Calibri"/>
              <a:cs typeface="Calibri"/>
              <a:sym typeface="Calibri"/>
            </a:endParaRPr>
          </a:p>
        </p:txBody>
      </p:sp>
      <p:sp>
        <p:nvSpPr>
          <p:cNvPr id="299" name="Google Shape;299;p8"/>
          <p:cNvSpPr/>
          <p:nvPr/>
        </p:nvSpPr>
        <p:spPr>
          <a:xfrm>
            <a:off x="5660136" y="2450592"/>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
          <p:cNvSpPr/>
          <p:nvPr/>
        </p:nvSpPr>
        <p:spPr>
          <a:xfrm>
            <a:off x="5715000" y="2487168"/>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Uses client assets</a:t>
            </a:r>
            <a:endParaRPr b="0" i="0" sz="850" u="none" cap="none" strike="noStrike">
              <a:solidFill>
                <a:schemeClr val="dk1"/>
              </a:solidFill>
              <a:latin typeface="Calibri"/>
              <a:ea typeface="Calibri"/>
              <a:cs typeface="Calibri"/>
              <a:sym typeface="Calibri"/>
            </a:endParaRPr>
          </a:p>
        </p:txBody>
      </p:sp>
      <p:sp>
        <p:nvSpPr>
          <p:cNvPr id="301" name="Google Shape;301;p8"/>
          <p:cNvSpPr/>
          <p:nvPr/>
        </p:nvSpPr>
        <p:spPr>
          <a:xfrm>
            <a:off x="6958584" y="2450592"/>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8"/>
          <p:cNvSpPr/>
          <p:nvPr/>
        </p:nvSpPr>
        <p:spPr>
          <a:xfrm>
            <a:off x="7013448" y="2487168"/>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No</a:t>
            </a:r>
            <a:endParaRPr b="0" i="0" sz="850" u="none" cap="none" strike="noStrike">
              <a:solidFill>
                <a:schemeClr val="dk1"/>
              </a:solidFill>
              <a:latin typeface="Calibri"/>
              <a:ea typeface="Calibri"/>
              <a:cs typeface="Calibri"/>
              <a:sym typeface="Calibri"/>
            </a:endParaRPr>
          </a:p>
        </p:txBody>
      </p:sp>
      <p:sp>
        <p:nvSpPr>
          <p:cNvPr id="303" name="Google Shape;303;p8"/>
          <p:cNvSpPr/>
          <p:nvPr/>
        </p:nvSpPr>
        <p:spPr>
          <a:xfrm>
            <a:off x="256032" y="2926080"/>
            <a:ext cx="1508760"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8"/>
          <p:cNvSpPr/>
          <p:nvPr/>
        </p:nvSpPr>
        <p:spPr>
          <a:xfrm>
            <a:off x="310896" y="2962656"/>
            <a:ext cx="14173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850"/>
              <a:buFont typeface="Calibri"/>
              <a:buNone/>
            </a:pPr>
            <a:r>
              <a:rPr b="1" i="0" lang="en-US" sz="850" u="none" cap="none" strike="noStrike">
                <a:solidFill>
                  <a:srgbClr val="13131F"/>
                </a:solidFill>
                <a:latin typeface="Calibri"/>
                <a:ea typeface="Calibri"/>
                <a:cs typeface="Calibri"/>
                <a:sym typeface="Calibri"/>
              </a:rPr>
              <a:t>Assets</a:t>
            </a:r>
            <a:endParaRPr b="0" i="0" sz="850" u="none" cap="none" strike="noStrike">
              <a:solidFill>
                <a:schemeClr val="dk1"/>
              </a:solidFill>
              <a:latin typeface="Calibri"/>
              <a:ea typeface="Calibri"/>
              <a:cs typeface="Calibri"/>
              <a:sym typeface="Calibri"/>
            </a:endParaRPr>
          </a:p>
        </p:txBody>
      </p:sp>
      <p:sp>
        <p:nvSpPr>
          <p:cNvPr id="305" name="Google Shape;305;p8"/>
          <p:cNvSpPr/>
          <p:nvPr/>
        </p:nvSpPr>
        <p:spPr>
          <a:xfrm>
            <a:off x="1764792" y="2926080"/>
            <a:ext cx="1298448" cy="475488"/>
          </a:xfrm>
          <a:prstGeom prst="rect">
            <a:avLst/>
          </a:prstGeom>
          <a:solidFill>
            <a:srgbClr val="EDE7FC"/>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p:nvPr/>
        </p:nvSpPr>
        <p:spPr>
          <a:xfrm>
            <a:off x="1819656" y="2962656"/>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2DB8"/>
              </a:buClr>
              <a:buSzPts val="850"/>
              <a:buFont typeface="Calibri"/>
              <a:buNone/>
            </a:pPr>
            <a:r>
              <a:rPr b="1" i="0" lang="en-US" sz="850" u="none" cap="none" strike="noStrike">
                <a:solidFill>
                  <a:srgbClr val="5C2DB8"/>
                </a:solidFill>
                <a:latin typeface="Calibri"/>
                <a:ea typeface="Calibri"/>
                <a:cs typeface="Calibri"/>
                <a:sym typeface="Calibri"/>
              </a:rPr>
              <a:t>BTC, ETH, SOL, stables, RWA</a:t>
            </a:r>
            <a:endParaRPr b="0" i="0" sz="850" u="none" cap="none" strike="noStrike">
              <a:solidFill>
                <a:schemeClr val="dk1"/>
              </a:solidFill>
              <a:latin typeface="Calibri"/>
              <a:ea typeface="Calibri"/>
              <a:cs typeface="Calibri"/>
              <a:sym typeface="Calibri"/>
            </a:endParaRPr>
          </a:p>
        </p:txBody>
      </p:sp>
      <p:sp>
        <p:nvSpPr>
          <p:cNvPr id="307" name="Google Shape;307;p8"/>
          <p:cNvSpPr/>
          <p:nvPr/>
        </p:nvSpPr>
        <p:spPr>
          <a:xfrm>
            <a:off x="3063240" y="2926080"/>
            <a:ext cx="1298448"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8"/>
          <p:cNvSpPr/>
          <p:nvPr/>
        </p:nvSpPr>
        <p:spPr>
          <a:xfrm>
            <a:off x="3118104" y="2962656"/>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BTC only (dropped ETH)</a:t>
            </a:r>
            <a:endParaRPr b="0" i="0" sz="850" u="none" cap="none" strike="noStrike">
              <a:solidFill>
                <a:schemeClr val="dk1"/>
              </a:solidFill>
              <a:latin typeface="Calibri"/>
              <a:ea typeface="Calibri"/>
              <a:cs typeface="Calibri"/>
              <a:sym typeface="Calibri"/>
            </a:endParaRPr>
          </a:p>
        </p:txBody>
      </p:sp>
      <p:sp>
        <p:nvSpPr>
          <p:cNvPr id="309" name="Google Shape;309;p8"/>
          <p:cNvSpPr/>
          <p:nvPr/>
        </p:nvSpPr>
        <p:spPr>
          <a:xfrm>
            <a:off x="4361688" y="2926080"/>
            <a:ext cx="1298448"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4416552" y="2962656"/>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470+ assets</a:t>
            </a:r>
            <a:endParaRPr b="0" i="0" sz="850" u="none" cap="none" strike="noStrike">
              <a:solidFill>
                <a:schemeClr val="dk1"/>
              </a:solidFill>
              <a:latin typeface="Calibri"/>
              <a:ea typeface="Calibri"/>
              <a:cs typeface="Calibri"/>
              <a:sym typeface="Calibri"/>
            </a:endParaRPr>
          </a:p>
        </p:txBody>
      </p:sp>
      <p:sp>
        <p:nvSpPr>
          <p:cNvPr id="311" name="Google Shape;311;p8"/>
          <p:cNvSpPr/>
          <p:nvPr/>
        </p:nvSpPr>
        <p:spPr>
          <a:xfrm>
            <a:off x="5660136" y="2926080"/>
            <a:ext cx="1298448"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
          <p:cNvSpPr/>
          <p:nvPr/>
        </p:nvSpPr>
        <p:spPr>
          <a:xfrm>
            <a:off x="5715000" y="2962656"/>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Multi-asset</a:t>
            </a:r>
            <a:endParaRPr b="0" i="0" sz="850" u="none" cap="none" strike="noStrike">
              <a:solidFill>
                <a:schemeClr val="dk1"/>
              </a:solidFill>
              <a:latin typeface="Calibri"/>
              <a:ea typeface="Calibri"/>
              <a:cs typeface="Calibri"/>
              <a:sym typeface="Calibri"/>
            </a:endParaRPr>
          </a:p>
        </p:txBody>
      </p:sp>
      <p:sp>
        <p:nvSpPr>
          <p:cNvPr id="313" name="Google Shape;313;p8"/>
          <p:cNvSpPr/>
          <p:nvPr/>
        </p:nvSpPr>
        <p:spPr>
          <a:xfrm>
            <a:off x="6958584" y="2926080"/>
            <a:ext cx="1298448"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8"/>
          <p:cNvSpPr/>
          <p:nvPr/>
        </p:nvSpPr>
        <p:spPr>
          <a:xfrm>
            <a:off x="7013448" y="2962656"/>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Broad</a:t>
            </a:r>
            <a:endParaRPr b="0" i="0" sz="850" u="none" cap="none" strike="noStrike">
              <a:solidFill>
                <a:schemeClr val="dk1"/>
              </a:solidFill>
              <a:latin typeface="Calibri"/>
              <a:ea typeface="Calibri"/>
              <a:cs typeface="Calibri"/>
              <a:sym typeface="Calibri"/>
            </a:endParaRPr>
          </a:p>
        </p:txBody>
      </p:sp>
      <p:sp>
        <p:nvSpPr>
          <p:cNvPr id="315" name="Google Shape;315;p8"/>
          <p:cNvSpPr/>
          <p:nvPr/>
        </p:nvSpPr>
        <p:spPr>
          <a:xfrm>
            <a:off x="256032" y="3401568"/>
            <a:ext cx="1508760"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8"/>
          <p:cNvSpPr/>
          <p:nvPr/>
        </p:nvSpPr>
        <p:spPr>
          <a:xfrm>
            <a:off x="310896" y="3438144"/>
            <a:ext cx="14173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850"/>
              <a:buFont typeface="Calibri"/>
              <a:buNone/>
            </a:pPr>
            <a:r>
              <a:rPr b="1" i="0" lang="en-US" sz="850" u="none" cap="none" strike="noStrike">
                <a:solidFill>
                  <a:srgbClr val="13131F"/>
                </a:solidFill>
                <a:latin typeface="Calibri"/>
                <a:ea typeface="Calibri"/>
                <a:cs typeface="Calibri"/>
                <a:sym typeface="Calibri"/>
              </a:rPr>
              <a:t>Yield</a:t>
            </a:r>
            <a:endParaRPr b="0" i="0" sz="850" u="none" cap="none" strike="noStrike">
              <a:solidFill>
                <a:schemeClr val="dk1"/>
              </a:solidFill>
              <a:latin typeface="Calibri"/>
              <a:ea typeface="Calibri"/>
              <a:cs typeface="Calibri"/>
              <a:sym typeface="Calibri"/>
            </a:endParaRPr>
          </a:p>
        </p:txBody>
      </p:sp>
      <p:sp>
        <p:nvSpPr>
          <p:cNvPr id="317" name="Google Shape;317;p8"/>
          <p:cNvSpPr/>
          <p:nvPr/>
        </p:nvSpPr>
        <p:spPr>
          <a:xfrm>
            <a:off x="1764792" y="3401568"/>
            <a:ext cx="1298448" cy="475488"/>
          </a:xfrm>
          <a:prstGeom prst="rect">
            <a:avLst/>
          </a:prstGeom>
          <a:solidFill>
            <a:srgbClr val="EDE7FC"/>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8"/>
          <p:cNvSpPr/>
          <p:nvPr/>
        </p:nvSpPr>
        <p:spPr>
          <a:xfrm>
            <a:off x="1819656" y="3438144"/>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2DB8"/>
              </a:buClr>
              <a:buSzPts val="850"/>
              <a:buFont typeface="Calibri"/>
              <a:buNone/>
            </a:pPr>
            <a:r>
              <a:rPr b="1" i="0" lang="en-US" sz="850" u="none" cap="none" strike="noStrike">
                <a:solidFill>
                  <a:srgbClr val="5C2DB8"/>
                </a:solidFill>
                <a:latin typeface="Calibri"/>
                <a:ea typeface="Calibri"/>
                <a:cs typeface="Calibri"/>
                <a:sym typeface="Calibri"/>
              </a:rPr>
              <a:t>DeFi, staking, model portfolios</a:t>
            </a:r>
            <a:endParaRPr b="0" i="0" sz="850" u="none" cap="none" strike="noStrike">
              <a:solidFill>
                <a:schemeClr val="dk1"/>
              </a:solidFill>
              <a:latin typeface="Calibri"/>
              <a:ea typeface="Calibri"/>
              <a:cs typeface="Calibri"/>
              <a:sym typeface="Calibri"/>
            </a:endParaRPr>
          </a:p>
        </p:txBody>
      </p:sp>
      <p:sp>
        <p:nvSpPr>
          <p:cNvPr id="319" name="Google Shape;319;p8"/>
          <p:cNvSpPr/>
          <p:nvPr/>
        </p:nvSpPr>
        <p:spPr>
          <a:xfrm>
            <a:off x="3063240" y="3401568"/>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8"/>
          <p:cNvSpPr/>
          <p:nvPr/>
        </p:nvSpPr>
        <p:spPr>
          <a:xfrm>
            <a:off x="3118104" y="3438144"/>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Up to 8% USDC / 5.25% BTC</a:t>
            </a:r>
            <a:endParaRPr b="0" i="0" sz="850" u="none" cap="none" strike="noStrike">
              <a:solidFill>
                <a:schemeClr val="dk1"/>
              </a:solidFill>
              <a:latin typeface="Calibri"/>
              <a:ea typeface="Calibri"/>
              <a:cs typeface="Calibri"/>
              <a:sym typeface="Calibri"/>
            </a:endParaRPr>
          </a:p>
        </p:txBody>
      </p:sp>
      <p:sp>
        <p:nvSpPr>
          <p:cNvPr id="321" name="Google Shape;321;p8"/>
          <p:cNvSpPr/>
          <p:nvPr/>
        </p:nvSpPr>
        <p:spPr>
          <a:xfrm>
            <a:off x="4361688" y="3401568"/>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p:nvPr/>
        </p:nvSpPr>
        <p:spPr>
          <a:xfrm>
            <a:off x="4416552" y="3438144"/>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Staking (Figment)</a:t>
            </a:r>
            <a:endParaRPr b="0" i="0" sz="850" u="none" cap="none" strike="noStrike">
              <a:solidFill>
                <a:schemeClr val="dk1"/>
              </a:solidFill>
              <a:latin typeface="Calibri"/>
              <a:ea typeface="Calibri"/>
              <a:cs typeface="Calibri"/>
              <a:sym typeface="Calibri"/>
            </a:endParaRPr>
          </a:p>
        </p:txBody>
      </p:sp>
      <p:sp>
        <p:nvSpPr>
          <p:cNvPr id="323" name="Google Shape;323;p8"/>
          <p:cNvSpPr/>
          <p:nvPr/>
        </p:nvSpPr>
        <p:spPr>
          <a:xfrm>
            <a:off x="5660136" y="3401568"/>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a:off x="5715000" y="3438144"/>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Flexible &amp; fixed-term</a:t>
            </a:r>
            <a:endParaRPr b="0" i="0" sz="850" u="none" cap="none" strike="noStrike">
              <a:solidFill>
                <a:schemeClr val="dk1"/>
              </a:solidFill>
              <a:latin typeface="Calibri"/>
              <a:ea typeface="Calibri"/>
              <a:cs typeface="Calibri"/>
              <a:sym typeface="Calibri"/>
            </a:endParaRPr>
          </a:p>
        </p:txBody>
      </p:sp>
      <p:sp>
        <p:nvSpPr>
          <p:cNvPr id="325" name="Google Shape;325;p8"/>
          <p:cNvSpPr/>
          <p:nvPr/>
        </p:nvSpPr>
        <p:spPr>
          <a:xfrm>
            <a:off x="6958584" y="3401568"/>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8"/>
          <p:cNvSpPr/>
          <p:nvPr/>
        </p:nvSpPr>
        <p:spPr>
          <a:xfrm>
            <a:off x="7013448" y="3438144"/>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Staking</a:t>
            </a:r>
            <a:endParaRPr b="0" i="0" sz="850" u="none" cap="none" strike="noStrike">
              <a:solidFill>
                <a:schemeClr val="dk1"/>
              </a:solidFill>
              <a:latin typeface="Calibri"/>
              <a:ea typeface="Calibri"/>
              <a:cs typeface="Calibri"/>
              <a:sym typeface="Calibri"/>
            </a:endParaRPr>
          </a:p>
        </p:txBody>
      </p:sp>
      <p:sp>
        <p:nvSpPr>
          <p:cNvPr id="327" name="Google Shape;327;p8"/>
          <p:cNvSpPr/>
          <p:nvPr/>
        </p:nvSpPr>
        <p:spPr>
          <a:xfrm>
            <a:off x="256032" y="3877056"/>
            <a:ext cx="1508760"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8"/>
          <p:cNvSpPr/>
          <p:nvPr/>
        </p:nvSpPr>
        <p:spPr>
          <a:xfrm>
            <a:off x="310896" y="3913632"/>
            <a:ext cx="14173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850"/>
              <a:buFont typeface="Calibri"/>
              <a:buNone/>
            </a:pPr>
            <a:r>
              <a:rPr b="1" i="0" lang="en-US" sz="850" u="none" cap="none" strike="noStrike">
                <a:solidFill>
                  <a:srgbClr val="13131F"/>
                </a:solidFill>
                <a:latin typeface="Calibri"/>
                <a:ea typeface="Calibri"/>
                <a:cs typeface="Calibri"/>
                <a:sym typeface="Calibri"/>
              </a:rPr>
              <a:t>Lending</a:t>
            </a:r>
            <a:endParaRPr b="0" i="0" sz="850" u="none" cap="none" strike="noStrike">
              <a:solidFill>
                <a:schemeClr val="dk1"/>
              </a:solidFill>
              <a:latin typeface="Calibri"/>
              <a:ea typeface="Calibri"/>
              <a:cs typeface="Calibri"/>
              <a:sym typeface="Calibri"/>
            </a:endParaRPr>
          </a:p>
        </p:txBody>
      </p:sp>
      <p:sp>
        <p:nvSpPr>
          <p:cNvPr id="329" name="Google Shape;329;p8"/>
          <p:cNvSpPr/>
          <p:nvPr/>
        </p:nvSpPr>
        <p:spPr>
          <a:xfrm>
            <a:off x="1764792" y="3877056"/>
            <a:ext cx="1298448" cy="475488"/>
          </a:xfrm>
          <a:prstGeom prst="rect">
            <a:avLst/>
          </a:prstGeom>
          <a:solidFill>
            <a:srgbClr val="EDE7FC"/>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8"/>
          <p:cNvSpPr/>
          <p:nvPr/>
        </p:nvSpPr>
        <p:spPr>
          <a:xfrm>
            <a:off x="1819656" y="3913632"/>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2DB8"/>
              </a:buClr>
              <a:buSzPts val="850"/>
              <a:buFont typeface="Calibri"/>
              <a:buNone/>
            </a:pPr>
            <a:r>
              <a:rPr b="1" i="0" lang="en-US" sz="850" u="none" cap="none" strike="noStrike">
                <a:solidFill>
                  <a:srgbClr val="5C2DB8"/>
                </a:solidFill>
                <a:latin typeface="Calibri"/>
                <a:ea typeface="Calibri"/>
                <a:cs typeface="Calibri"/>
                <a:sym typeface="Calibri"/>
              </a:rPr>
              <a:t>Crypto-backed via DeFi</a:t>
            </a:r>
            <a:endParaRPr b="0" i="0" sz="850" u="none" cap="none" strike="noStrike">
              <a:solidFill>
                <a:schemeClr val="dk1"/>
              </a:solidFill>
              <a:latin typeface="Calibri"/>
              <a:ea typeface="Calibri"/>
              <a:cs typeface="Calibri"/>
              <a:sym typeface="Calibri"/>
            </a:endParaRPr>
          </a:p>
        </p:txBody>
      </p:sp>
      <p:sp>
        <p:nvSpPr>
          <p:cNvPr id="331" name="Google Shape;331;p8"/>
          <p:cNvSpPr/>
          <p:nvPr/>
        </p:nvSpPr>
        <p:spPr>
          <a:xfrm>
            <a:off x="3063240" y="3877056"/>
            <a:ext cx="1298448"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8"/>
          <p:cNvSpPr/>
          <p:nvPr/>
        </p:nvSpPr>
        <p:spPr>
          <a:xfrm>
            <a:off x="3118104" y="3913632"/>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BTC loans, 50% LTV, 12% APR</a:t>
            </a:r>
            <a:endParaRPr b="0" i="0" sz="850" u="none" cap="none" strike="noStrike">
              <a:solidFill>
                <a:schemeClr val="dk1"/>
              </a:solidFill>
              <a:latin typeface="Calibri"/>
              <a:ea typeface="Calibri"/>
              <a:cs typeface="Calibri"/>
              <a:sym typeface="Calibri"/>
            </a:endParaRPr>
          </a:p>
        </p:txBody>
      </p:sp>
      <p:sp>
        <p:nvSpPr>
          <p:cNvPr id="333" name="Google Shape;333;p8"/>
          <p:cNvSpPr/>
          <p:nvPr/>
        </p:nvSpPr>
        <p:spPr>
          <a:xfrm>
            <a:off x="4361688" y="3877056"/>
            <a:ext cx="1298448"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8"/>
          <p:cNvSpPr/>
          <p:nvPr/>
        </p:nvSpPr>
        <p:spPr>
          <a:xfrm>
            <a:off x="4416552" y="3913632"/>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BTC/ETH up to $5M</a:t>
            </a:r>
            <a:endParaRPr b="0" i="0" sz="850" u="none" cap="none" strike="noStrike">
              <a:solidFill>
                <a:schemeClr val="dk1"/>
              </a:solidFill>
              <a:latin typeface="Calibri"/>
              <a:ea typeface="Calibri"/>
              <a:cs typeface="Calibri"/>
              <a:sym typeface="Calibri"/>
            </a:endParaRPr>
          </a:p>
        </p:txBody>
      </p:sp>
      <p:sp>
        <p:nvSpPr>
          <p:cNvPr id="335" name="Google Shape;335;p8"/>
          <p:cNvSpPr/>
          <p:nvPr/>
        </p:nvSpPr>
        <p:spPr>
          <a:xfrm>
            <a:off x="5660136" y="3877056"/>
            <a:ext cx="1298448"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8"/>
          <p:cNvSpPr/>
          <p:nvPr/>
        </p:nvSpPr>
        <p:spPr>
          <a:xfrm>
            <a:off x="5715000" y="3913632"/>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Credit lines, 2.9%+</a:t>
            </a:r>
            <a:endParaRPr b="0" i="0" sz="850" u="none" cap="none" strike="noStrike">
              <a:solidFill>
                <a:schemeClr val="dk1"/>
              </a:solidFill>
              <a:latin typeface="Calibri"/>
              <a:ea typeface="Calibri"/>
              <a:cs typeface="Calibri"/>
              <a:sym typeface="Calibri"/>
            </a:endParaRPr>
          </a:p>
        </p:txBody>
      </p:sp>
      <p:sp>
        <p:nvSpPr>
          <p:cNvPr id="337" name="Google Shape;337;p8"/>
          <p:cNvSpPr/>
          <p:nvPr/>
        </p:nvSpPr>
        <p:spPr>
          <a:xfrm>
            <a:off x="6958584" y="3877056"/>
            <a:ext cx="1298448" cy="475488"/>
          </a:xfrm>
          <a:prstGeom prst="rect">
            <a:avLst/>
          </a:prstGeom>
          <a:solidFill>
            <a:srgbClr val="ECEDF5"/>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8"/>
          <p:cNvSpPr/>
          <p:nvPr/>
        </p:nvSpPr>
        <p:spPr>
          <a:xfrm>
            <a:off x="7013448" y="3913632"/>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No</a:t>
            </a:r>
            <a:endParaRPr b="0" i="0" sz="850" u="none" cap="none" strike="noStrike">
              <a:solidFill>
                <a:schemeClr val="dk1"/>
              </a:solidFill>
              <a:latin typeface="Calibri"/>
              <a:ea typeface="Calibri"/>
              <a:cs typeface="Calibri"/>
              <a:sym typeface="Calibri"/>
            </a:endParaRPr>
          </a:p>
        </p:txBody>
      </p:sp>
      <p:sp>
        <p:nvSpPr>
          <p:cNvPr id="339" name="Google Shape;339;p8"/>
          <p:cNvSpPr/>
          <p:nvPr/>
        </p:nvSpPr>
        <p:spPr>
          <a:xfrm>
            <a:off x="256032" y="4352544"/>
            <a:ext cx="1508760"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8"/>
          <p:cNvSpPr/>
          <p:nvPr/>
        </p:nvSpPr>
        <p:spPr>
          <a:xfrm>
            <a:off x="310896" y="4389120"/>
            <a:ext cx="14173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850"/>
              <a:buFont typeface="Calibri"/>
              <a:buNone/>
            </a:pPr>
            <a:r>
              <a:rPr b="1" i="0" lang="en-US" sz="850" u="none" cap="none" strike="noStrike">
                <a:solidFill>
                  <a:srgbClr val="13131F"/>
                </a:solidFill>
                <a:latin typeface="Calibri"/>
                <a:ea typeface="Calibri"/>
                <a:cs typeface="Calibri"/>
                <a:sym typeface="Calibri"/>
              </a:rPr>
              <a:t>Weakness</a:t>
            </a:r>
            <a:endParaRPr b="0" i="0" sz="850" u="none" cap="none" strike="noStrike">
              <a:solidFill>
                <a:schemeClr val="dk1"/>
              </a:solidFill>
              <a:latin typeface="Calibri"/>
              <a:ea typeface="Calibri"/>
              <a:cs typeface="Calibri"/>
              <a:sym typeface="Calibri"/>
            </a:endParaRPr>
          </a:p>
        </p:txBody>
      </p:sp>
      <p:sp>
        <p:nvSpPr>
          <p:cNvPr id="341" name="Google Shape;341;p8"/>
          <p:cNvSpPr/>
          <p:nvPr/>
        </p:nvSpPr>
        <p:spPr>
          <a:xfrm>
            <a:off x="1764792" y="4352544"/>
            <a:ext cx="1298448" cy="475488"/>
          </a:xfrm>
          <a:prstGeom prst="rect">
            <a:avLst/>
          </a:prstGeom>
          <a:solidFill>
            <a:srgbClr val="EDE7FC"/>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8"/>
          <p:cNvSpPr/>
          <p:nvPr/>
        </p:nvSpPr>
        <p:spPr>
          <a:xfrm>
            <a:off x="1819656" y="4389120"/>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2DB8"/>
              </a:buClr>
              <a:buSzPts val="850"/>
              <a:buFont typeface="Calibri"/>
              <a:buNone/>
            </a:pPr>
            <a:r>
              <a:rPr b="1" i="0" lang="en-US" sz="850" u="none" cap="none" strike="noStrike">
                <a:solidFill>
                  <a:srgbClr val="5C2DB8"/>
                </a:solidFill>
                <a:latin typeface="Calibri"/>
                <a:ea typeface="Calibri"/>
                <a:cs typeface="Calibri"/>
                <a:sym typeface="Calibri"/>
              </a:rPr>
              <a:t>Smaller brand; pre-public</a:t>
            </a:r>
            <a:endParaRPr b="0" i="0" sz="850" u="none" cap="none" strike="noStrike">
              <a:solidFill>
                <a:schemeClr val="dk1"/>
              </a:solidFill>
              <a:latin typeface="Calibri"/>
              <a:ea typeface="Calibri"/>
              <a:cs typeface="Calibri"/>
              <a:sym typeface="Calibri"/>
            </a:endParaRPr>
          </a:p>
        </p:txBody>
      </p:sp>
      <p:sp>
        <p:nvSpPr>
          <p:cNvPr id="343" name="Google Shape;343;p8"/>
          <p:cNvSpPr/>
          <p:nvPr/>
        </p:nvSpPr>
        <p:spPr>
          <a:xfrm>
            <a:off x="3063240" y="4352544"/>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8"/>
          <p:cNvSpPr/>
          <p:nvPr/>
        </p:nvSpPr>
        <p:spPr>
          <a:xfrm>
            <a:off x="3118104" y="4389120"/>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BTC-only limits appeal</a:t>
            </a:r>
            <a:endParaRPr b="0" i="0" sz="850" u="none" cap="none" strike="noStrike">
              <a:solidFill>
                <a:schemeClr val="dk1"/>
              </a:solidFill>
              <a:latin typeface="Calibri"/>
              <a:ea typeface="Calibri"/>
              <a:cs typeface="Calibri"/>
              <a:sym typeface="Calibri"/>
            </a:endParaRPr>
          </a:p>
        </p:txBody>
      </p:sp>
      <p:sp>
        <p:nvSpPr>
          <p:cNvPr id="345" name="Google Shape;345;p8"/>
          <p:cNvSpPr/>
          <p:nvPr/>
        </p:nvSpPr>
        <p:spPr>
          <a:xfrm>
            <a:off x="4361688" y="4352544"/>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8"/>
          <p:cNvSpPr/>
          <p:nvPr/>
        </p:nvSpPr>
        <p:spPr>
          <a:xfrm>
            <a:off x="4416552" y="4389120"/>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No fiduciary duty</a:t>
            </a:r>
            <a:endParaRPr b="0" i="0" sz="850" u="none" cap="none" strike="noStrike">
              <a:solidFill>
                <a:schemeClr val="dk1"/>
              </a:solidFill>
              <a:latin typeface="Calibri"/>
              <a:ea typeface="Calibri"/>
              <a:cs typeface="Calibri"/>
              <a:sym typeface="Calibri"/>
            </a:endParaRPr>
          </a:p>
        </p:txBody>
      </p:sp>
      <p:sp>
        <p:nvSpPr>
          <p:cNvPr id="347" name="Google Shape;347;p8"/>
          <p:cNvSpPr/>
          <p:nvPr/>
        </p:nvSpPr>
        <p:spPr>
          <a:xfrm>
            <a:off x="5660136" y="4352544"/>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
          <p:cNvSpPr/>
          <p:nvPr/>
        </p:nvSpPr>
        <p:spPr>
          <a:xfrm>
            <a:off x="5715000" y="4389120"/>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Trust deficit from 2023</a:t>
            </a:r>
            <a:endParaRPr b="0" i="0" sz="850" u="none" cap="none" strike="noStrike">
              <a:solidFill>
                <a:schemeClr val="dk1"/>
              </a:solidFill>
              <a:latin typeface="Calibri"/>
              <a:ea typeface="Calibri"/>
              <a:cs typeface="Calibri"/>
              <a:sym typeface="Calibri"/>
            </a:endParaRPr>
          </a:p>
        </p:txBody>
      </p:sp>
      <p:sp>
        <p:nvSpPr>
          <p:cNvPr id="349" name="Google Shape;349;p8"/>
          <p:cNvSpPr/>
          <p:nvPr/>
        </p:nvSpPr>
        <p:spPr>
          <a:xfrm>
            <a:off x="6958584" y="4352544"/>
            <a:ext cx="1298448" cy="475488"/>
          </a:xfrm>
          <a:prstGeom prst="rect">
            <a:avLst/>
          </a:prstGeom>
          <a:solidFill>
            <a:srgbClr val="F4F4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8"/>
          <p:cNvSpPr/>
          <p:nvPr/>
        </p:nvSpPr>
        <p:spPr>
          <a:xfrm>
            <a:off x="7013448" y="4389120"/>
            <a:ext cx="120700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850"/>
              <a:buFont typeface="Calibri"/>
              <a:buNone/>
            </a:pPr>
            <a:r>
              <a:rPr b="0" i="0" lang="en-US" sz="850" u="none" cap="none" strike="noStrike">
                <a:solidFill>
                  <a:srgbClr val="4A4A6A"/>
                </a:solidFill>
                <a:latin typeface="Calibri"/>
                <a:ea typeface="Calibri"/>
                <a:cs typeface="Calibri"/>
                <a:sym typeface="Calibri"/>
              </a:rPr>
              <a:t>—</a:t>
            </a:r>
            <a:endParaRPr b="0" i="0" sz="850" u="none" cap="none" strike="noStrike">
              <a:solidFill>
                <a:schemeClr val="dk1"/>
              </a:solidFill>
              <a:latin typeface="Calibri"/>
              <a:ea typeface="Calibri"/>
              <a:cs typeface="Calibri"/>
              <a:sym typeface="Calibri"/>
            </a:endParaRPr>
          </a:p>
        </p:txBody>
      </p:sp>
      <p:sp>
        <p:nvSpPr>
          <p:cNvPr id="351" name="Google Shape;351;p8"/>
          <p:cNvSpPr/>
          <p:nvPr/>
        </p:nvSpPr>
        <p:spPr>
          <a:xfrm>
            <a:off x="0" y="4873752"/>
            <a:ext cx="9144000" cy="269748"/>
          </a:xfrm>
          <a:prstGeom prst="rect">
            <a:avLst/>
          </a:prstGeom>
          <a:solidFill>
            <a:srgbClr val="E8E8F0"/>
          </a:solidFill>
          <a:ln cap="flat" cmpd="sng" w="12700">
            <a:solidFill>
              <a:srgbClr val="E8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8"/>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A8"/>
              </a:buClr>
              <a:buSzPts val="800"/>
              <a:buFont typeface="Calibri"/>
              <a:buNone/>
            </a:pPr>
            <a:r>
              <a:rPr b="0" i="0" lang="en-US" sz="800" u="none" cap="none" strike="noStrike">
                <a:solidFill>
                  <a:srgbClr val="9090A8"/>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353" name="Google Shape;353;p8"/>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131F"/>
        </a:solidFill>
      </p:bgPr>
    </p:bg>
    <p:spTree>
      <p:nvGrpSpPr>
        <p:cNvPr id="358" name="Shape 358"/>
        <p:cNvGrpSpPr/>
        <p:nvPr/>
      </p:nvGrpSpPr>
      <p:grpSpPr>
        <a:xfrm>
          <a:off x="0" y="0"/>
          <a:ext cx="0" cy="0"/>
          <a:chOff x="0" y="0"/>
          <a:chExt cx="0" cy="0"/>
        </a:xfrm>
      </p:grpSpPr>
      <p:sp>
        <p:nvSpPr>
          <p:cNvPr id="359" name="Google Shape;359;p9"/>
          <p:cNvSpPr/>
          <p:nvPr/>
        </p:nvSpPr>
        <p:spPr>
          <a:xfrm>
            <a:off x="7772400" y="-1097280"/>
            <a:ext cx="4389120" cy="438912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9"/>
          <p:cNvSpPr/>
          <p:nvPr/>
        </p:nvSpPr>
        <p:spPr>
          <a:xfrm>
            <a:off x="8138160" y="-640080"/>
            <a:ext cx="3566160" cy="356616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9"/>
          <p:cNvSpPr/>
          <p:nvPr/>
        </p:nvSpPr>
        <p:spPr>
          <a:xfrm>
            <a:off x="8503920" y="-182880"/>
            <a:ext cx="2743200" cy="274320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
          <p:cNvSpPr/>
          <p:nvPr/>
        </p:nvSpPr>
        <p:spPr>
          <a:xfrm>
            <a:off x="411480" y="164592"/>
            <a:ext cx="3200400" cy="246888"/>
          </a:xfrm>
          <a:prstGeom prst="rect">
            <a:avLst/>
          </a:prstGeom>
          <a:solidFill>
            <a:srgbClr val="EDE7FC"/>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9"/>
          <p:cNvSpPr/>
          <p:nvPr/>
        </p:nvSpPr>
        <p:spPr>
          <a:xfrm>
            <a:off x="411480" y="164592"/>
            <a:ext cx="320040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2DB8"/>
              </a:buClr>
              <a:buSzPts val="800"/>
              <a:buFont typeface="Calibri"/>
              <a:buNone/>
            </a:pPr>
            <a:r>
              <a:rPr b="1" i="0" lang="en-US" sz="800" u="none" cap="none" strike="noStrike">
                <a:solidFill>
                  <a:srgbClr val="5C2DB8"/>
                </a:solidFill>
                <a:latin typeface="Calibri"/>
                <a:ea typeface="Calibri"/>
                <a:cs typeface="Calibri"/>
                <a:sym typeface="Calibri"/>
              </a:rPr>
              <a:t>COMPETITIVE LANDSCAPE  ·  DIFFERENTIATORS</a:t>
            </a:r>
            <a:endParaRPr b="0" i="0" sz="800" u="none" cap="none" strike="noStrike">
              <a:solidFill>
                <a:schemeClr val="dk1"/>
              </a:solidFill>
              <a:latin typeface="Calibri"/>
              <a:ea typeface="Calibri"/>
              <a:cs typeface="Calibri"/>
              <a:sym typeface="Calibri"/>
            </a:endParaRPr>
          </a:p>
        </p:txBody>
      </p:sp>
      <p:sp>
        <p:nvSpPr>
          <p:cNvPr id="364" name="Google Shape;364;p9"/>
          <p:cNvSpPr/>
          <p:nvPr/>
        </p:nvSpPr>
        <p:spPr>
          <a:xfrm>
            <a:off x="411480" y="502920"/>
            <a:ext cx="82296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Abra's Key Differentiators</a:t>
            </a:r>
            <a:endParaRPr b="0" i="0" sz="3000" u="none" cap="none" strike="noStrike">
              <a:solidFill>
                <a:schemeClr val="dk1"/>
              </a:solidFill>
              <a:latin typeface="Calibri"/>
              <a:ea typeface="Calibri"/>
              <a:cs typeface="Calibri"/>
              <a:sym typeface="Calibri"/>
            </a:endParaRPr>
          </a:p>
        </p:txBody>
      </p:sp>
      <p:sp>
        <p:nvSpPr>
          <p:cNvPr id="365" name="Google Shape;365;p9"/>
          <p:cNvSpPr/>
          <p:nvPr/>
        </p:nvSpPr>
        <p:spPr>
          <a:xfrm>
            <a:off x="411480" y="1005840"/>
            <a:ext cx="832104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9"/>
          <p:cNvSpPr/>
          <p:nvPr/>
        </p:nvSpPr>
        <p:spPr>
          <a:xfrm>
            <a:off x="347472" y="1133856"/>
            <a:ext cx="8430768" cy="65836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
          <p:cNvSpPr/>
          <p:nvPr/>
        </p:nvSpPr>
        <p:spPr>
          <a:xfrm>
            <a:off x="411480" y="1261872"/>
            <a:ext cx="347472" cy="347472"/>
          </a:xfrm>
          <a:prstGeom prst="ellipse">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9"/>
          <p:cNvSpPr/>
          <p:nvPr/>
        </p:nvSpPr>
        <p:spPr>
          <a:xfrm>
            <a:off x="411480" y="126187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369" name="Google Shape;369;p9"/>
          <p:cNvSpPr/>
          <p:nvPr/>
        </p:nvSpPr>
        <p:spPr>
          <a:xfrm>
            <a:off x="914400" y="1207008"/>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Segregated SMA Vaults</a:t>
            </a:r>
            <a:endParaRPr b="0" i="0" sz="1200" u="none" cap="none" strike="noStrike">
              <a:solidFill>
                <a:schemeClr val="dk1"/>
              </a:solidFill>
              <a:latin typeface="Calibri"/>
              <a:ea typeface="Calibri"/>
              <a:cs typeface="Calibri"/>
              <a:sym typeface="Calibri"/>
            </a:endParaRPr>
          </a:p>
        </p:txBody>
      </p:sp>
      <p:sp>
        <p:nvSpPr>
          <p:cNvPr id="370" name="Google Shape;370;p9"/>
          <p:cNvSpPr/>
          <p:nvPr/>
        </p:nvSpPr>
        <p:spPr>
          <a:xfrm>
            <a:off x="914400" y="1463040"/>
            <a:ext cx="7680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50"/>
              <a:buFont typeface="Calibri"/>
              <a:buNone/>
            </a:pPr>
            <a:r>
              <a:rPr b="0" i="0" lang="en-US" sz="950" u="none" cap="none" strike="noStrike">
                <a:solidFill>
                  <a:srgbClr val="9090B0"/>
                </a:solidFill>
                <a:latin typeface="Calibri"/>
                <a:ea typeface="Calibri"/>
                <a:cs typeface="Calibri"/>
                <a:sym typeface="Calibri"/>
              </a:rPr>
              <a:t>Client retains legal title. Assets independently verifiable on-chain. No commingling risk — directly addresses post-Celsius anxiety.</a:t>
            </a:r>
            <a:endParaRPr b="0" i="0" sz="950" u="none" cap="none" strike="noStrike">
              <a:solidFill>
                <a:schemeClr val="dk1"/>
              </a:solidFill>
              <a:latin typeface="Calibri"/>
              <a:ea typeface="Calibri"/>
              <a:cs typeface="Calibri"/>
              <a:sym typeface="Calibri"/>
            </a:endParaRPr>
          </a:p>
        </p:txBody>
      </p:sp>
      <p:sp>
        <p:nvSpPr>
          <p:cNvPr id="371" name="Google Shape;371;p9"/>
          <p:cNvSpPr/>
          <p:nvPr/>
        </p:nvSpPr>
        <p:spPr>
          <a:xfrm>
            <a:off x="347472" y="1856232"/>
            <a:ext cx="8430768" cy="65836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9"/>
          <p:cNvSpPr/>
          <p:nvPr/>
        </p:nvSpPr>
        <p:spPr>
          <a:xfrm>
            <a:off x="411480" y="1984248"/>
            <a:ext cx="347472" cy="347472"/>
          </a:xfrm>
          <a:prstGeom prst="ellipse">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p:nvPr/>
        </p:nvSpPr>
        <p:spPr>
          <a:xfrm>
            <a:off x="411480" y="198424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374" name="Google Shape;374;p9"/>
          <p:cNvSpPr/>
          <p:nvPr/>
        </p:nvSpPr>
        <p:spPr>
          <a:xfrm>
            <a:off x="914400" y="1929384"/>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SEC-Registered RIA (Fiduciary)</a:t>
            </a:r>
            <a:endParaRPr b="0" i="0" sz="1200" u="none" cap="none" strike="noStrike">
              <a:solidFill>
                <a:schemeClr val="dk1"/>
              </a:solidFill>
              <a:latin typeface="Calibri"/>
              <a:ea typeface="Calibri"/>
              <a:cs typeface="Calibri"/>
              <a:sym typeface="Calibri"/>
            </a:endParaRPr>
          </a:p>
        </p:txBody>
      </p:sp>
      <p:sp>
        <p:nvSpPr>
          <p:cNvPr id="375" name="Google Shape;375;p9"/>
          <p:cNvSpPr/>
          <p:nvPr/>
        </p:nvSpPr>
        <p:spPr>
          <a:xfrm>
            <a:off x="914400" y="2185416"/>
            <a:ext cx="7680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50"/>
              <a:buFont typeface="Calibri"/>
              <a:buNone/>
            </a:pPr>
            <a:r>
              <a:rPr b="0" i="0" lang="en-US" sz="950" u="none" cap="none" strike="noStrike">
                <a:solidFill>
                  <a:srgbClr val="9090B0"/>
                </a:solidFill>
                <a:latin typeface="Calibri"/>
                <a:ea typeface="Calibri"/>
                <a:cs typeface="Calibri"/>
                <a:sym typeface="Calibri"/>
              </a:rPr>
              <a:t>Legal obligation to act in client's best interest. No other crypto-native competitor in this comparison operates under a fiduciary standard.</a:t>
            </a:r>
            <a:endParaRPr b="0" i="0" sz="950" u="none" cap="none" strike="noStrike">
              <a:solidFill>
                <a:schemeClr val="dk1"/>
              </a:solidFill>
              <a:latin typeface="Calibri"/>
              <a:ea typeface="Calibri"/>
              <a:cs typeface="Calibri"/>
              <a:sym typeface="Calibri"/>
            </a:endParaRPr>
          </a:p>
        </p:txBody>
      </p:sp>
      <p:sp>
        <p:nvSpPr>
          <p:cNvPr id="376" name="Google Shape;376;p9"/>
          <p:cNvSpPr/>
          <p:nvPr/>
        </p:nvSpPr>
        <p:spPr>
          <a:xfrm>
            <a:off x="347472" y="2578608"/>
            <a:ext cx="8430768" cy="65836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9"/>
          <p:cNvSpPr/>
          <p:nvPr/>
        </p:nvSpPr>
        <p:spPr>
          <a:xfrm>
            <a:off x="411480" y="2706624"/>
            <a:ext cx="347472" cy="347472"/>
          </a:xfrm>
          <a:prstGeom prst="ellipse">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9"/>
          <p:cNvSpPr/>
          <p:nvPr/>
        </p:nvSpPr>
        <p:spPr>
          <a:xfrm>
            <a:off x="411480" y="270662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379" name="Google Shape;379;p9"/>
          <p:cNvSpPr/>
          <p:nvPr/>
        </p:nvSpPr>
        <p:spPr>
          <a:xfrm>
            <a:off x="914400" y="2651760"/>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Proprietary Yield Strategies </a:t>
            </a:r>
            <a:endParaRPr b="0" i="0" sz="1200" u="none" cap="none" strike="noStrike">
              <a:solidFill>
                <a:schemeClr val="dk1"/>
              </a:solidFill>
              <a:latin typeface="Calibri"/>
              <a:ea typeface="Calibri"/>
              <a:cs typeface="Calibri"/>
              <a:sym typeface="Calibri"/>
            </a:endParaRPr>
          </a:p>
        </p:txBody>
      </p:sp>
      <p:sp>
        <p:nvSpPr>
          <p:cNvPr id="380" name="Google Shape;380;p9"/>
          <p:cNvSpPr/>
          <p:nvPr/>
        </p:nvSpPr>
        <p:spPr>
          <a:xfrm>
            <a:off x="914400" y="2907792"/>
            <a:ext cx="7680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50"/>
              <a:buFont typeface="Calibri"/>
              <a:buNone/>
            </a:pPr>
            <a:r>
              <a:rPr lang="en-US" sz="950">
                <a:solidFill>
                  <a:srgbClr val="9090B0"/>
                </a:solidFill>
                <a:latin typeface="Calibri"/>
                <a:ea typeface="Calibri"/>
                <a:cs typeface="Calibri"/>
                <a:sym typeface="Calibri"/>
              </a:rPr>
              <a:t>BTC, ETH, SOL, Stables, and more </a:t>
            </a:r>
            <a:endParaRPr b="0" i="0" sz="950" u="none" cap="none" strike="noStrike">
              <a:solidFill>
                <a:schemeClr val="dk1"/>
              </a:solidFill>
              <a:latin typeface="Calibri"/>
              <a:ea typeface="Calibri"/>
              <a:cs typeface="Calibri"/>
              <a:sym typeface="Calibri"/>
            </a:endParaRPr>
          </a:p>
        </p:txBody>
      </p:sp>
      <p:sp>
        <p:nvSpPr>
          <p:cNvPr id="381" name="Google Shape;381;p9"/>
          <p:cNvSpPr/>
          <p:nvPr/>
        </p:nvSpPr>
        <p:spPr>
          <a:xfrm>
            <a:off x="347472" y="3300984"/>
            <a:ext cx="8430768" cy="65836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9"/>
          <p:cNvSpPr/>
          <p:nvPr/>
        </p:nvSpPr>
        <p:spPr>
          <a:xfrm>
            <a:off x="411480" y="3429000"/>
            <a:ext cx="347472" cy="347472"/>
          </a:xfrm>
          <a:prstGeom prst="ellipse">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9"/>
          <p:cNvSpPr/>
          <p:nvPr/>
        </p:nvSpPr>
        <p:spPr>
          <a:xfrm>
            <a:off x="411480" y="342900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384" name="Google Shape;384;p9"/>
          <p:cNvSpPr/>
          <p:nvPr/>
        </p:nvSpPr>
        <p:spPr>
          <a:xfrm>
            <a:off x="914400" y="3374136"/>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chemeClr val="lt1"/>
                </a:solidFill>
                <a:latin typeface="Calibri"/>
                <a:ea typeface="Calibri"/>
                <a:cs typeface="Calibri"/>
                <a:sym typeface="Calibri"/>
              </a:rPr>
              <a:t>Loans </a:t>
            </a:r>
            <a:endParaRPr b="1" i="0" sz="1200" u="none" cap="none" strike="noStrike">
              <a:solidFill>
                <a:schemeClr val="lt1"/>
              </a:solidFill>
              <a:latin typeface="Calibri"/>
              <a:ea typeface="Calibri"/>
              <a:cs typeface="Calibri"/>
              <a:sym typeface="Calibri"/>
            </a:endParaRPr>
          </a:p>
        </p:txBody>
      </p:sp>
      <p:sp>
        <p:nvSpPr>
          <p:cNvPr id="385" name="Google Shape;385;p9"/>
          <p:cNvSpPr/>
          <p:nvPr/>
        </p:nvSpPr>
        <p:spPr>
          <a:xfrm>
            <a:off x="914400" y="3630168"/>
            <a:ext cx="7680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50"/>
              <a:buFont typeface="Calibri"/>
              <a:buNone/>
            </a:pPr>
            <a:r>
              <a:rPr lang="en-US" sz="950">
                <a:solidFill>
                  <a:srgbClr val="9090B0"/>
                </a:solidFill>
                <a:latin typeface="Calibri"/>
                <a:ea typeface="Calibri"/>
                <a:cs typeface="Calibri"/>
                <a:sym typeface="Calibri"/>
              </a:rPr>
              <a:t>Extremely</a:t>
            </a:r>
            <a:r>
              <a:rPr lang="en-US" sz="950">
                <a:solidFill>
                  <a:srgbClr val="9090B0"/>
                </a:solidFill>
                <a:latin typeface="Calibri"/>
                <a:ea typeface="Calibri"/>
                <a:cs typeface="Calibri"/>
                <a:sym typeface="Calibri"/>
              </a:rPr>
              <a:t> competitive rates, no </a:t>
            </a:r>
            <a:r>
              <a:rPr lang="en-US" sz="950">
                <a:solidFill>
                  <a:srgbClr val="9090B0"/>
                </a:solidFill>
                <a:latin typeface="Calibri"/>
                <a:ea typeface="Calibri"/>
                <a:cs typeface="Calibri"/>
                <a:sym typeface="Calibri"/>
              </a:rPr>
              <a:t>rehypothecation</a:t>
            </a:r>
            <a:r>
              <a:rPr lang="en-US" sz="950">
                <a:solidFill>
                  <a:srgbClr val="9090B0"/>
                </a:solidFill>
                <a:latin typeface="Calibri"/>
                <a:ea typeface="Calibri"/>
                <a:cs typeface="Calibri"/>
                <a:sym typeface="Calibri"/>
              </a:rPr>
              <a:t>, no limits on loan size, no terms. </a:t>
            </a:r>
            <a:endParaRPr b="0" i="0" sz="950" u="none" cap="none" strike="noStrike">
              <a:solidFill>
                <a:schemeClr val="dk1"/>
              </a:solidFill>
              <a:latin typeface="Calibri"/>
              <a:ea typeface="Calibri"/>
              <a:cs typeface="Calibri"/>
              <a:sym typeface="Calibri"/>
            </a:endParaRPr>
          </a:p>
        </p:txBody>
      </p:sp>
      <p:sp>
        <p:nvSpPr>
          <p:cNvPr id="386" name="Google Shape;386;p9"/>
          <p:cNvSpPr/>
          <p:nvPr/>
        </p:nvSpPr>
        <p:spPr>
          <a:xfrm>
            <a:off x="347472" y="4023360"/>
            <a:ext cx="8430768" cy="65836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9"/>
          <p:cNvSpPr/>
          <p:nvPr/>
        </p:nvSpPr>
        <p:spPr>
          <a:xfrm>
            <a:off x="411480" y="4151376"/>
            <a:ext cx="347472" cy="347472"/>
          </a:xfrm>
          <a:prstGeom prst="ellipse">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9"/>
          <p:cNvSpPr/>
          <p:nvPr/>
        </p:nvSpPr>
        <p:spPr>
          <a:xfrm>
            <a:off x="411480" y="4151376"/>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389" name="Google Shape;389;p9"/>
          <p:cNvSpPr/>
          <p:nvPr/>
        </p:nvSpPr>
        <p:spPr>
          <a:xfrm>
            <a:off x="914400" y="4096512"/>
            <a:ext cx="2926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Unified Platform</a:t>
            </a:r>
            <a:endParaRPr b="0" i="0" sz="1200" u="none" cap="none" strike="noStrike">
              <a:solidFill>
                <a:schemeClr val="dk1"/>
              </a:solidFill>
              <a:latin typeface="Calibri"/>
              <a:ea typeface="Calibri"/>
              <a:cs typeface="Calibri"/>
              <a:sym typeface="Calibri"/>
            </a:endParaRPr>
          </a:p>
        </p:txBody>
      </p:sp>
      <p:sp>
        <p:nvSpPr>
          <p:cNvPr id="390" name="Google Shape;390;p9"/>
          <p:cNvSpPr/>
          <p:nvPr/>
        </p:nvSpPr>
        <p:spPr>
          <a:xfrm>
            <a:off x="914400" y="4352544"/>
            <a:ext cx="7680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50"/>
              <a:buFont typeface="Calibri"/>
              <a:buNone/>
            </a:pPr>
            <a:r>
              <a:rPr b="0" i="0" lang="en-US" sz="950" u="none" cap="none" strike="noStrike">
                <a:solidFill>
                  <a:srgbClr val="9090B0"/>
                </a:solidFill>
                <a:latin typeface="Calibri"/>
                <a:ea typeface="Calibri"/>
                <a:cs typeface="Calibri"/>
                <a:sym typeface="Calibri"/>
              </a:rPr>
              <a:t>Custody, trading, lending, yield, staking, and portfolio management in one interface. Eliminates fragmentation across 3–4 tools.</a:t>
            </a:r>
            <a:endParaRPr b="0" i="0" sz="950" u="none" cap="none" strike="noStrike">
              <a:solidFill>
                <a:schemeClr val="dk1"/>
              </a:solidFill>
              <a:latin typeface="Calibri"/>
              <a:ea typeface="Calibri"/>
              <a:cs typeface="Calibri"/>
              <a:sym typeface="Calibri"/>
            </a:endParaRPr>
          </a:p>
        </p:txBody>
      </p:sp>
      <p:sp>
        <p:nvSpPr>
          <p:cNvPr id="391" name="Google Shape;391;p9"/>
          <p:cNvSpPr/>
          <p:nvPr/>
        </p:nvSpPr>
        <p:spPr>
          <a:xfrm>
            <a:off x="0" y="4873752"/>
            <a:ext cx="9144000" cy="269748"/>
          </a:xfrm>
          <a:prstGeom prst="rect">
            <a:avLst/>
          </a:prstGeom>
          <a:solidFill>
            <a:srgbClr val="1C1C2E"/>
          </a:solidFill>
          <a:ln cap="flat" cmpd="sng" w="12700">
            <a:solidFill>
              <a:srgbClr val="1C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9"/>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506A"/>
              </a:buClr>
              <a:buSzPts val="800"/>
              <a:buFont typeface="Calibri"/>
              <a:buNone/>
            </a:pPr>
            <a:r>
              <a:rPr b="0" i="0" lang="en-US" sz="800" u="none" cap="none" strike="noStrike">
                <a:solidFill>
                  <a:srgbClr val="50506A"/>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393" name="Google Shape;393;p9"/>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8"/>
        </a:solidFill>
      </p:bgPr>
    </p:bg>
    <p:spTree>
      <p:nvGrpSpPr>
        <p:cNvPr id="398" name="Shape 398"/>
        <p:cNvGrpSpPr/>
        <p:nvPr/>
      </p:nvGrpSpPr>
      <p:grpSpPr>
        <a:xfrm>
          <a:off x="0" y="0"/>
          <a:ext cx="0" cy="0"/>
          <a:chOff x="0" y="0"/>
          <a:chExt cx="0" cy="0"/>
        </a:xfrm>
      </p:grpSpPr>
      <p:sp>
        <p:nvSpPr>
          <p:cNvPr id="399" name="Google Shape;399;p10"/>
          <p:cNvSpPr/>
          <p:nvPr/>
        </p:nvSpPr>
        <p:spPr>
          <a:xfrm>
            <a:off x="411480" y="256032"/>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3000"/>
              <a:buFont typeface="Trebuchet MS"/>
              <a:buNone/>
            </a:pPr>
            <a:r>
              <a:rPr b="1" i="0" lang="en-US" sz="3000" u="none" cap="none" strike="noStrike">
                <a:solidFill>
                  <a:srgbClr val="13131F"/>
                </a:solidFill>
                <a:latin typeface="Trebuchet MS"/>
                <a:ea typeface="Trebuchet MS"/>
                <a:cs typeface="Trebuchet MS"/>
                <a:sym typeface="Trebuchet MS"/>
              </a:rPr>
              <a:t>Target Personas &amp; Switching Triggers</a:t>
            </a:r>
            <a:endParaRPr b="0" i="0" sz="3000" u="none" cap="none" strike="noStrike">
              <a:solidFill>
                <a:schemeClr val="dk1"/>
              </a:solidFill>
              <a:latin typeface="Calibri"/>
              <a:ea typeface="Calibri"/>
              <a:cs typeface="Calibri"/>
              <a:sym typeface="Calibri"/>
            </a:endParaRPr>
          </a:p>
        </p:txBody>
      </p:sp>
      <p:sp>
        <p:nvSpPr>
          <p:cNvPr id="400" name="Google Shape;400;p10"/>
          <p:cNvSpPr/>
          <p:nvPr/>
        </p:nvSpPr>
        <p:spPr>
          <a:xfrm>
            <a:off x="411480" y="777240"/>
            <a:ext cx="8321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1200"/>
              <a:buFont typeface="Calibri"/>
              <a:buNone/>
            </a:pPr>
            <a:r>
              <a:rPr b="0" i="1" lang="en-US" sz="1200" u="none" cap="none" strike="noStrike">
                <a:solidFill>
                  <a:srgbClr val="4A4A6A"/>
                </a:solidFill>
                <a:latin typeface="Calibri"/>
                <a:ea typeface="Calibri"/>
                <a:cs typeface="Calibri"/>
                <a:sym typeface="Calibri"/>
              </a:rPr>
              <a:t>Who we're targeting and why they move to Abra</a:t>
            </a:r>
            <a:endParaRPr b="0" i="0" sz="1200" u="none" cap="none" strike="noStrike">
              <a:solidFill>
                <a:schemeClr val="dk1"/>
              </a:solidFill>
              <a:latin typeface="Calibri"/>
              <a:ea typeface="Calibri"/>
              <a:cs typeface="Calibri"/>
              <a:sym typeface="Calibri"/>
            </a:endParaRPr>
          </a:p>
        </p:txBody>
      </p:sp>
      <p:sp>
        <p:nvSpPr>
          <p:cNvPr id="401" name="Google Shape;401;p10"/>
          <p:cNvSpPr/>
          <p:nvPr/>
        </p:nvSpPr>
        <p:spPr>
          <a:xfrm>
            <a:off x="411480" y="1051560"/>
            <a:ext cx="832104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0"/>
          <p:cNvSpPr/>
          <p:nvPr/>
        </p:nvSpPr>
        <p:spPr>
          <a:xfrm>
            <a:off x="274320" y="1143000"/>
            <a:ext cx="1645920" cy="292608"/>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0"/>
          <p:cNvSpPr/>
          <p:nvPr/>
        </p:nvSpPr>
        <p:spPr>
          <a:xfrm>
            <a:off x="274320" y="1143000"/>
            <a:ext cx="16459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Persona</a:t>
            </a:r>
            <a:endParaRPr b="0" i="0" sz="950" u="none" cap="none" strike="noStrike">
              <a:solidFill>
                <a:schemeClr val="dk1"/>
              </a:solidFill>
              <a:latin typeface="Calibri"/>
              <a:ea typeface="Calibri"/>
              <a:cs typeface="Calibri"/>
              <a:sym typeface="Calibri"/>
            </a:endParaRPr>
          </a:p>
        </p:txBody>
      </p:sp>
      <p:sp>
        <p:nvSpPr>
          <p:cNvPr id="404" name="Google Shape;404;p10"/>
          <p:cNvSpPr/>
          <p:nvPr/>
        </p:nvSpPr>
        <p:spPr>
          <a:xfrm>
            <a:off x="1920240" y="1143000"/>
            <a:ext cx="1645920" cy="292608"/>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0"/>
          <p:cNvSpPr/>
          <p:nvPr/>
        </p:nvSpPr>
        <p:spPr>
          <a:xfrm>
            <a:off x="1920240" y="1143000"/>
            <a:ext cx="16459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Current Platform</a:t>
            </a:r>
            <a:endParaRPr b="0" i="0" sz="950" u="none" cap="none" strike="noStrike">
              <a:solidFill>
                <a:schemeClr val="dk1"/>
              </a:solidFill>
              <a:latin typeface="Calibri"/>
              <a:ea typeface="Calibri"/>
              <a:cs typeface="Calibri"/>
              <a:sym typeface="Calibri"/>
            </a:endParaRPr>
          </a:p>
        </p:txBody>
      </p:sp>
      <p:sp>
        <p:nvSpPr>
          <p:cNvPr id="406" name="Google Shape;406;p10"/>
          <p:cNvSpPr/>
          <p:nvPr/>
        </p:nvSpPr>
        <p:spPr>
          <a:xfrm>
            <a:off x="3566160" y="1143000"/>
            <a:ext cx="2560320" cy="292608"/>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0"/>
          <p:cNvSpPr/>
          <p:nvPr/>
        </p:nvSpPr>
        <p:spPr>
          <a:xfrm>
            <a:off x="3566160" y="1143000"/>
            <a:ext cx="25603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Pain Point</a:t>
            </a:r>
            <a:endParaRPr b="0" i="0" sz="950" u="none" cap="none" strike="noStrike">
              <a:solidFill>
                <a:schemeClr val="dk1"/>
              </a:solidFill>
              <a:latin typeface="Calibri"/>
              <a:ea typeface="Calibri"/>
              <a:cs typeface="Calibri"/>
              <a:sym typeface="Calibri"/>
            </a:endParaRPr>
          </a:p>
        </p:txBody>
      </p:sp>
      <p:sp>
        <p:nvSpPr>
          <p:cNvPr id="408" name="Google Shape;408;p10"/>
          <p:cNvSpPr/>
          <p:nvPr/>
        </p:nvSpPr>
        <p:spPr>
          <a:xfrm>
            <a:off x="6126480" y="1143000"/>
            <a:ext cx="2468880" cy="292608"/>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0"/>
          <p:cNvSpPr/>
          <p:nvPr/>
        </p:nvSpPr>
        <p:spPr>
          <a:xfrm>
            <a:off x="6126480" y="1143000"/>
            <a:ext cx="24688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Abra's Hook</a:t>
            </a:r>
            <a:endParaRPr b="0" i="0" sz="950" u="none" cap="none" strike="noStrike">
              <a:solidFill>
                <a:schemeClr val="dk1"/>
              </a:solidFill>
              <a:latin typeface="Calibri"/>
              <a:ea typeface="Calibri"/>
              <a:cs typeface="Calibri"/>
              <a:sym typeface="Calibri"/>
            </a:endParaRPr>
          </a:p>
        </p:txBody>
      </p:sp>
      <p:sp>
        <p:nvSpPr>
          <p:cNvPr id="410" name="Google Shape;410;p10"/>
          <p:cNvSpPr/>
          <p:nvPr/>
        </p:nvSpPr>
        <p:spPr>
          <a:xfrm>
            <a:off x="274320" y="1435608"/>
            <a:ext cx="1645920" cy="658368"/>
          </a:xfrm>
          <a:prstGeom prst="rect">
            <a:avLst/>
          </a:prstGeom>
          <a:solidFill>
            <a:srgbClr val="FFFFFF"/>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0"/>
          <p:cNvSpPr/>
          <p:nvPr/>
        </p:nvSpPr>
        <p:spPr>
          <a:xfrm>
            <a:off x="347472" y="1490472"/>
            <a:ext cx="15179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1" i="0" lang="en-US" sz="900" u="none" cap="none" strike="noStrike">
                <a:solidFill>
                  <a:srgbClr val="4A4A6A"/>
                </a:solidFill>
                <a:latin typeface="Calibri"/>
                <a:ea typeface="Calibri"/>
                <a:cs typeface="Calibri"/>
                <a:sym typeface="Calibri"/>
              </a:rPr>
              <a:t>BTC Whale / Long-Term Holder</a:t>
            </a:r>
            <a:endParaRPr b="0" i="0" sz="900" u="none" cap="none" strike="noStrike">
              <a:solidFill>
                <a:schemeClr val="dk1"/>
              </a:solidFill>
              <a:latin typeface="Calibri"/>
              <a:ea typeface="Calibri"/>
              <a:cs typeface="Calibri"/>
              <a:sym typeface="Calibri"/>
            </a:endParaRPr>
          </a:p>
        </p:txBody>
      </p:sp>
      <p:sp>
        <p:nvSpPr>
          <p:cNvPr id="412" name="Google Shape;412;p10"/>
          <p:cNvSpPr/>
          <p:nvPr/>
        </p:nvSpPr>
        <p:spPr>
          <a:xfrm>
            <a:off x="1920240" y="1435608"/>
            <a:ext cx="1645920" cy="658368"/>
          </a:xfrm>
          <a:prstGeom prst="rect">
            <a:avLst/>
          </a:prstGeom>
          <a:solidFill>
            <a:srgbClr val="FFFFFF"/>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0"/>
          <p:cNvSpPr/>
          <p:nvPr/>
        </p:nvSpPr>
        <p:spPr>
          <a:xfrm>
            <a:off x="1993392" y="1490472"/>
            <a:ext cx="15179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0" i="0" lang="en-US" sz="900" u="none" cap="none" strike="noStrike">
                <a:solidFill>
                  <a:srgbClr val="4A4A6A"/>
                </a:solidFill>
                <a:latin typeface="Calibri"/>
                <a:ea typeface="Calibri"/>
                <a:cs typeface="Calibri"/>
                <a:sym typeface="Calibri"/>
              </a:rPr>
              <a:t>Ledn</a:t>
            </a:r>
            <a:endParaRPr b="0" i="0" sz="900" u="none" cap="none" strike="noStrike">
              <a:solidFill>
                <a:schemeClr val="dk1"/>
              </a:solidFill>
              <a:latin typeface="Calibri"/>
              <a:ea typeface="Calibri"/>
              <a:cs typeface="Calibri"/>
              <a:sym typeface="Calibri"/>
            </a:endParaRPr>
          </a:p>
        </p:txBody>
      </p:sp>
      <p:sp>
        <p:nvSpPr>
          <p:cNvPr id="414" name="Google Shape;414;p10"/>
          <p:cNvSpPr/>
          <p:nvPr/>
        </p:nvSpPr>
        <p:spPr>
          <a:xfrm>
            <a:off x="3566160" y="1435608"/>
            <a:ext cx="2560320" cy="658368"/>
          </a:xfrm>
          <a:prstGeom prst="rect">
            <a:avLst/>
          </a:prstGeom>
          <a:solidFill>
            <a:srgbClr val="FFFFFF"/>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0"/>
          <p:cNvSpPr/>
          <p:nvPr/>
        </p:nvSpPr>
        <p:spPr>
          <a:xfrm>
            <a:off x="3639312" y="1490472"/>
            <a:ext cx="24323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0" i="0" lang="en-US" sz="900" u="none" cap="none" strike="noStrike">
                <a:solidFill>
                  <a:srgbClr val="4A4A6A"/>
                </a:solidFill>
                <a:latin typeface="Calibri"/>
                <a:ea typeface="Calibri"/>
                <a:cs typeface="Calibri"/>
                <a:sym typeface="Calibri"/>
              </a:rPr>
              <a:t>BTC-only limitation; wants multi-asset + tokenization</a:t>
            </a:r>
            <a:endParaRPr b="0" i="0" sz="900" u="none" cap="none" strike="noStrike">
              <a:solidFill>
                <a:schemeClr val="dk1"/>
              </a:solidFill>
              <a:latin typeface="Calibri"/>
              <a:ea typeface="Calibri"/>
              <a:cs typeface="Calibri"/>
              <a:sym typeface="Calibri"/>
            </a:endParaRPr>
          </a:p>
        </p:txBody>
      </p:sp>
      <p:sp>
        <p:nvSpPr>
          <p:cNvPr id="416" name="Google Shape;416;p10"/>
          <p:cNvSpPr/>
          <p:nvPr/>
        </p:nvSpPr>
        <p:spPr>
          <a:xfrm>
            <a:off x="6126480" y="1435608"/>
            <a:ext cx="2468880" cy="658368"/>
          </a:xfrm>
          <a:prstGeom prst="rect">
            <a:avLst/>
          </a:prstGeom>
          <a:solidFill>
            <a:srgbClr val="EDE7FC"/>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0"/>
          <p:cNvSpPr/>
          <p:nvPr/>
        </p:nvSpPr>
        <p:spPr>
          <a:xfrm>
            <a:off x="6199632" y="1490472"/>
            <a:ext cx="23408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2DB8"/>
              </a:buClr>
              <a:buSzPts val="900"/>
              <a:buFont typeface="Calibri"/>
              <a:buNone/>
            </a:pPr>
            <a:r>
              <a:rPr b="0" i="0" lang="en-US" sz="900" u="none" cap="none" strike="noStrike">
                <a:solidFill>
                  <a:srgbClr val="5C2DB8"/>
                </a:solidFill>
                <a:latin typeface="Calibri"/>
                <a:ea typeface="Calibri"/>
                <a:cs typeface="Calibri"/>
                <a:sym typeface="Calibri"/>
              </a:rPr>
              <a:t>Multi-asset SMA + USDAF yield + zero rehypothecation</a:t>
            </a:r>
            <a:endParaRPr b="0" i="0" sz="900" u="none" cap="none" strike="noStrike">
              <a:solidFill>
                <a:schemeClr val="dk1"/>
              </a:solidFill>
              <a:latin typeface="Calibri"/>
              <a:ea typeface="Calibri"/>
              <a:cs typeface="Calibri"/>
              <a:sym typeface="Calibri"/>
            </a:endParaRPr>
          </a:p>
        </p:txBody>
      </p:sp>
      <p:sp>
        <p:nvSpPr>
          <p:cNvPr id="418" name="Google Shape;418;p10"/>
          <p:cNvSpPr/>
          <p:nvPr/>
        </p:nvSpPr>
        <p:spPr>
          <a:xfrm>
            <a:off x="274320" y="2093976"/>
            <a:ext cx="1645920" cy="658368"/>
          </a:xfrm>
          <a:prstGeom prst="rect">
            <a:avLst/>
          </a:prstGeom>
          <a:solidFill>
            <a:srgbClr val="F0F0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0"/>
          <p:cNvSpPr/>
          <p:nvPr/>
        </p:nvSpPr>
        <p:spPr>
          <a:xfrm>
            <a:off x="347472" y="2148840"/>
            <a:ext cx="15179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1" i="0" lang="en-US" sz="900" u="none" cap="none" strike="noStrike">
                <a:solidFill>
                  <a:srgbClr val="4A4A6A"/>
                </a:solidFill>
                <a:latin typeface="Calibri"/>
                <a:ea typeface="Calibri"/>
                <a:cs typeface="Calibri"/>
                <a:sym typeface="Calibri"/>
              </a:rPr>
              <a:t>Family Office</a:t>
            </a:r>
            <a:endParaRPr b="0" i="0" sz="900" u="none" cap="none" strike="noStrike">
              <a:solidFill>
                <a:schemeClr val="dk1"/>
              </a:solidFill>
              <a:latin typeface="Calibri"/>
              <a:ea typeface="Calibri"/>
              <a:cs typeface="Calibri"/>
              <a:sym typeface="Calibri"/>
            </a:endParaRPr>
          </a:p>
        </p:txBody>
      </p:sp>
      <p:sp>
        <p:nvSpPr>
          <p:cNvPr id="420" name="Google Shape;420;p10"/>
          <p:cNvSpPr/>
          <p:nvPr/>
        </p:nvSpPr>
        <p:spPr>
          <a:xfrm>
            <a:off x="1920240" y="2093976"/>
            <a:ext cx="1645920" cy="658368"/>
          </a:xfrm>
          <a:prstGeom prst="rect">
            <a:avLst/>
          </a:prstGeom>
          <a:solidFill>
            <a:srgbClr val="F0F0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0"/>
          <p:cNvSpPr/>
          <p:nvPr/>
        </p:nvSpPr>
        <p:spPr>
          <a:xfrm>
            <a:off x="1993392" y="2148840"/>
            <a:ext cx="15179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0" i="0" lang="en-US" sz="900" u="none" cap="none" strike="noStrike">
                <a:solidFill>
                  <a:srgbClr val="4A4A6A"/>
                </a:solidFill>
                <a:latin typeface="Calibri"/>
                <a:ea typeface="Calibri"/>
                <a:cs typeface="Calibri"/>
                <a:sym typeface="Calibri"/>
              </a:rPr>
              <a:t>Coinbase Prime / self-custody</a:t>
            </a:r>
            <a:endParaRPr b="0" i="0" sz="900" u="none" cap="none" strike="noStrike">
              <a:solidFill>
                <a:schemeClr val="dk1"/>
              </a:solidFill>
              <a:latin typeface="Calibri"/>
              <a:ea typeface="Calibri"/>
              <a:cs typeface="Calibri"/>
              <a:sym typeface="Calibri"/>
            </a:endParaRPr>
          </a:p>
        </p:txBody>
      </p:sp>
      <p:sp>
        <p:nvSpPr>
          <p:cNvPr id="422" name="Google Shape;422;p10"/>
          <p:cNvSpPr/>
          <p:nvPr/>
        </p:nvSpPr>
        <p:spPr>
          <a:xfrm>
            <a:off x="3566160" y="2093976"/>
            <a:ext cx="2560320" cy="658368"/>
          </a:xfrm>
          <a:prstGeom prst="rect">
            <a:avLst/>
          </a:prstGeom>
          <a:solidFill>
            <a:srgbClr val="F0F0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0"/>
          <p:cNvSpPr/>
          <p:nvPr/>
        </p:nvSpPr>
        <p:spPr>
          <a:xfrm>
            <a:off x="3639312" y="2148840"/>
            <a:ext cx="24323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0" i="0" lang="en-US" sz="900" u="none" cap="none" strike="noStrike">
                <a:solidFill>
                  <a:srgbClr val="4A4A6A"/>
                </a:solidFill>
                <a:latin typeface="Calibri"/>
                <a:ea typeface="Calibri"/>
                <a:cs typeface="Calibri"/>
                <a:sym typeface="Calibri"/>
              </a:rPr>
              <a:t>Needs fiduciary-grade governance, reporting, tax efficiency</a:t>
            </a:r>
            <a:endParaRPr b="0" i="0" sz="900" u="none" cap="none" strike="noStrike">
              <a:solidFill>
                <a:schemeClr val="dk1"/>
              </a:solidFill>
              <a:latin typeface="Calibri"/>
              <a:ea typeface="Calibri"/>
              <a:cs typeface="Calibri"/>
              <a:sym typeface="Calibri"/>
            </a:endParaRPr>
          </a:p>
        </p:txBody>
      </p:sp>
      <p:sp>
        <p:nvSpPr>
          <p:cNvPr id="424" name="Google Shape;424;p10"/>
          <p:cNvSpPr/>
          <p:nvPr/>
        </p:nvSpPr>
        <p:spPr>
          <a:xfrm>
            <a:off x="6126480" y="2093976"/>
            <a:ext cx="2468880" cy="658368"/>
          </a:xfrm>
          <a:prstGeom prst="rect">
            <a:avLst/>
          </a:prstGeom>
          <a:solidFill>
            <a:srgbClr val="EDE7FC"/>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0"/>
          <p:cNvSpPr/>
          <p:nvPr/>
        </p:nvSpPr>
        <p:spPr>
          <a:xfrm>
            <a:off x="6199632" y="2148840"/>
            <a:ext cx="23408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2DB8"/>
              </a:buClr>
              <a:buSzPts val="900"/>
              <a:buFont typeface="Calibri"/>
              <a:buNone/>
            </a:pPr>
            <a:r>
              <a:rPr b="0" i="0" lang="en-US" sz="900" u="none" cap="none" strike="noStrike">
                <a:solidFill>
                  <a:srgbClr val="5C2DB8"/>
                </a:solidFill>
                <a:latin typeface="Calibri"/>
                <a:ea typeface="Calibri"/>
                <a:cs typeface="Calibri"/>
                <a:sym typeface="Calibri"/>
              </a:rPr>
              <a:t>RIA fiduciary + segregated vaults + model portfolios</a:t>
            </a:r>
            <a:endParaRPr b="0" i="0" sz="900" u="none" cap="none" strike="noStrike">
              <a:solidFill>
                <a:schemeClr val="dk1"/>
              </a:solidFill>
              <a:latin typeface="Calibri"/>
              <a:ea typeface="Calibri"/>
              <a:cs typeface="Calibri"/>
              <a:sym typeface="Calibri"/>
            </a:endParaRPr>
          </a:p>
        </p:txBody>
      </p:sp>
      <p:sp>
        <p:nvSpPr>
          <p:cNvPr id="426" name="Google Shape;426;p10"/>
          <p:cNvSpPr/>
          <p:nvPr/>
        </p:nvSpPr>
        <p:spPr>
          <a:xfrm>
            <a:off x="274320" y="2752344"/>
            <a:ext cx="1645920" cy="658368"/>
          </a:xfrm>
          <a:prstGeom prst="rect">
            <a:avLst/>
          </a:prstGeom>
          <a:solidFill>
            <a:srgbClr val="FFFFFF"/>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0"/>
          <p:cNvSpPr/>
          <p:nvPr/>
        </p:nvSpPr>
        <p:spPr>
          <a:xfrm>
            <a:off x="347472" y="2807208"/>
            <a:ext cx="15179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1" i="0" lang="en-US" sz="900" u="none" cap="none" strike="noStrike">
                <a:solidFill>
                  <a:srgbClr val="4A4A6A"/>
                </a:solidFill>
                <a:latin typeface="Calibri"/>
                <a:ea typeface="Calibri"/>
                <a:cs typeface="Calibri"/>
                <a:sym typeface="Calibri"/>
              </a:rPr>
              <a:t>Corporate Treasury</a:t>
            </a:r>
            <a:endParaRPr b="0" i="0" sz="900" u="none" cap="none" strike="noStrike">
              <a:solidFill>
                <a:schemeClr val="dk1"/>
              </a:solidFill>
              <a:latin typeface="Calibri"/>
              <a:ea typeface="Calibri"/>
              <a:cs typeface="Calibri"/>
              <a:sym typeface="Calibri"/>
            </a:endParaRPr>
          </a:p>
        </p:txBody>
      </p:sp>
      <p:sp>
        <p:nvSpPr>
          <p:cNvPr id="428" name="Google Shape;428;p10"/>
          <p:cNvSpPr/>
          <p:nvPr/>
        </p:nvSpPr>
        <p:spPr>
          <a:xfrm>
            <a:off x="1920240" y="2752344"/>
            <a:ext cx="1645920" cy="658368"/>
          </a:xfrm>
          <a:prstGeom prst="rect">
            <a:avLst/>
          </a:prstGeom>
          <a:solidFill>
            <a:srgbClr val="FFFFFF"/>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0"/>
          <p:cNvSpPr/>
          <p:nvPr/>
        </p:nvSpPr>
        <p:spPr>
          <a:xfrm>
            <a:off x="1993392" y="2807208"/>
            <a:ext cx="15179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0" i="0" lang="en-US" sz="900" u="none" cap="none" strike="noStrike">
                <a:solidFill>
                  <a:srgbClr val="4A4A6A"/>
                </a:solidFill>
                <a:latin typeface="Calibri"/>
                <a:ea typeface="Calibri"/>
                <a:cs typeface="Calibri"/>
                <a:sym typeface="Calibri"/>
              </a:rPr>
              <a:t>Coinbase / self-managed</a:t>
            </a:r>
            <a:endParaRPr b="0" i="0" sz="900" u="none" cap="none" strike="noStrike">
              <a:solidFill>
                <a:schemeClr val="dk1"/>
              </a:solidFill>
              <a:latin typeface="Calibri"/>
              <a:ea typeface="Calibri"/>
              <a:cs typeface="Calibri"/>
              <a:sym typeface="Calibri"/>
            </a:endParaRPr>
          </a:p>
        </p:txBody>
      </p:sp>
      <p:sp>
        <p:nvSpPr>
          <p:cNvPr id="430" name="Google Shape;430;p10"/>
          <p:cNvSpPr/>
          <p:nvPr/>
        </p:nvSpPr>
        <p:spPr>
          <a:xfrm>
            <a:off x="3566160" y="2752344"/>
            <a:ext cx="2560320" cy="658368"/>
          </a:xfrm>
          <a:prstGeom prst="rect">
            <a:avLst/>
          </a:prstGeom>
          <a:solidFill>
            <a:srgbClr val="FFFFFF"/>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0"/>
          <p:cNvSpPr/>
          <p:nvPr/>
        </p:nvSpPr>
        <p:spPr>
          <a:xfrm>
            <a:off x="3639312" y="2807208"/>
            <a:ext cx="24323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0" i="0" lang="en-US" sz="900" u="none" cap="none" strike="noStrike">
                <a:solidFill>
                  <a:srgbClr val="4A4A6A"/>
                </a:solidFill>
                <a:latin typeface="Calibri"/>
                <a:ea typeface="Calibri"/>
                <a:cs typeface="Calibri"/>
                <a:sym typeface="Calibri"/>
              </a:rPr>
              <a:t>Wants yield on idle BTC/stablecoin reserves without counterparty risk</a:t>
            </a:r>
            <a:endParaRPr b="0" i="0" sz="900" u="none" cap="none" strike="noStrike">
              <a:solidFill>
                <a:schemeClr val="dk1"/>
              </a:solidFill>
              <a:latin typeface="Calibri"/>
              <a:ea typeface="Calibri"/>
              <a:cs typeface="Calibri"/>
              <a:sym typeface="Calibri"/>
            </a:endParaRPr>
          </a:p>
        </p:txBody>
      </p:sp>
      <p:sp>
        <p:nvSpPr>
          <p:cNvPr id="432" name="Google Shape;432;p10"/>
          <p:cNvSpPr/>
          <p:nvPr/>
        </p:nvSpPr>
        <p:spPr>
          <a:xfrm>
            <a:off x="6126480" y="2752344"/>
            <a:ext cx="2468880" cy="658368"/>
          </a:xfrm>
          <a:prstGeom prst="rect">
            <a:avLst/>
          </a:prstGeom>
          <a:solidFill>
            <a:srgbClr val="EDE7FC"/>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0"/>
          <p:cNvSpPr/>
          <p:nvPr/>
        </p:nvSpPr>
        <p:spPr>
          <a:xfrm>
            <a:off x="6199632" y="2807208"/>
            <a:ext cx="23408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2DB8"/>
              </a:buClr>
              <a:buSzPts val="900"/>
              <a:buFont typeface="Calibri"/>
              <a:buNone/>
            </a:pPr>
            <a:r>
              <a:rPr b="0" i="0" lang="en-US" sz="900" u="none" cap="none" strike="noStrike">
                <a:solidFill>
                  <a:srgbClr val="5C2DB8"/>
                </a:solidFill>
                <a:latin typeface="Calibri"/>
                <a:ea typeface="Calibri"/>
                <a:cs typeface="Calibri"/>
                <a:sym typeface="Calibri"/>
              </a:rPr>
              <a:t>SMA-based yield, lending, and collateral optimization</a:t>
            </a:r>
            <a:endParaRPr b="0" i="0" sz="900" u="none" cap="none" strike="noStrike">
              <a:solidFill>
                <a:schemeClr val="dk1"/>
              </a:solidFill>
              <a:latin typeface="Calibri"/>
              <a:ea typeface="Calibri"/>
              <a:cs typeface="Calibri"/>
              <a:sym typeface="Calibri"/>
            </a:endParaRPr>
          </a:p>
        </p:txBody>
      </p:sp>
      <p:sp>
        <p:nvSpPr>
          <p:cNvPr id="434" name="Google Shape;434;p10"/>
          <p:cNvSpPr/>
          <p:nvPr/>
        </p:nvSpPr>
        <p:spPr>
          <a:xfrm>
            <a:off x="274320" y="3410712"/>
            <a:ext cx="1645920" cy="658368"/>
          </a:xfrm>
          <a:prstGeom prst="rect">
            <a:avLst/>
          </a:prstGeom>
          <a:solidFill>
            <a:srgbClr val="F0F0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0"/>
          <p:cNvSpPr/>
          <p:nvPr/>
        </p:nvSpPr>
        <p:spPr>
          <a:xfrm>
            <a:off x="347472" y="3465576"/>
            <a:ext cx="15179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1" i="0" lang="en-US" sz="900" u="none" cap="none" strike="noStrike">
                <a:solidFill>
                  <a:srgbClr val="4A4A6A"/>
                </a:solidFill>
                <a:latin typeface="Calibri"/>
                <a:ea typeface="Calibri"/>
                <a:cs typeface="Calibri"/>
                <a:sym typeface="Calibri"/>
              </a:rPr>
              <a:t>HNW Yield Seeker</a:t>
            </a:r>
            <a:endParaRPr b="0" i="0" sz="900" u="none" cap="none" strike="noStrike">
              <a:solidFill>
                <a:schemeClr val="dk1"/>
              </a:solidFill>
              <a:latin typeface="Calibri"/>
              <a:ea typeface="Calibri"/>
              <a:cs typeface="Calibri"/>
              <a:sym typeface="Calibri"/>
            </a:endParaRPr>
          </a:p>
        </p:txBody>
      </p:sp>
      <p:sp>
        <p:nvSpPr>
          <p:cNvPr id="436" name="Google Shape;436;p10"/>
          <p:cNvSpPr/>
          <p:nvPr/>
        </p:nvSpPr>
        <p:spPr>
          <a:xfrm>
            <a:off x="1920240" y="3410712"/>
            <a:ext cx="1645920" cy="658368"/>
          </a:xfrm>
          <a:prstGeom prst="rect">
            <a:avLst/>
          </a:prstGeom>
          <a:solidFill>
            <a:srgbClr val="F0F0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0"/>
          <p:cNvSpPr/>
          <p:nvPr/>
        </p:nvSpPr>
        <p:spPr>
          <a:xfrm>
            <a:off x="1993392" y="3465576"/>
            <a:ext cx="15179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0" i="0" lang="en-US" sz="900" u="none" cap="none" strike="noStrike">
                <a:solidFill>
                  <a:srgbClr val="4A4A6A"/>
                </a:solidFill>
                <a:latin typeface="Calibri"/>
                <a:ea typeface="Calibri"/>
                <a:cs typeface="Calibri"/>
                <a:sym typeface="Calibri"/>
              </a:rPr>
              <a:t>Nexo</a:t>
            </a:r>
            <a:endParaRPr b="0" i="0" sz="900" u="none" cap="none" strike="noStrike">
              <a:solidFill>
                <a:schemeClr val="dk1"/>
              </a:solidFill>
              <a:latin typeface="Calibri"/>
              <a:ea typeface="Calibri"/>
              <a:cs typeface="Calibri"/>
              <a:sym typeface="Calibri"/>
            </a:endParaRPr>
          </a:p>
        </p:txBody>
      </p:sp>
      <p:sp>
        <p:nvSpPr>
          <p:cNvPr id="438" name="Google Shape;438;p10"/>
          <p:cNvSpPr/>
          <p:nvPr/>
        </p:nvSpPr>
        <p:spPr>
          <a:xfrm>
            <a:off x="3566160" y="3410712"/>
            <a:ext cx="2560320" cy="658368"/>
          </a:xfrm>
          <a:prstGeom prst="rect">
            <a:avLst/>
          </a:prstGeom>
          <a:solidFill>
            <a:srgbClr val="F0F0F8"/>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0"/>
          <p:cNvSpPr/>
          <p:nvPr/>
        </p:nvSpPr>
        <p:spPr>
          <a:xfrm>
            <a:off x="3639312" y="3465576"/>
            <a:ext cx="24323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0" i="0" lang="en-US" sz="900" u="none" cap="none" strike="noStrike">
                <a:solidFill>
                  <a:srgbClr val="4A4A6A"/>
                </a:solidFill>
                <a:latin typeface="Calibri"/>
                <a:ea typeface="Calibri"/>
                <a:cs typeface="Calibri"/>
                <a:sym typeface="Calibri"/>
              </a:rPr>
              <a:t>Counterparty trust deficit; rehypothecation concerns post-2023 exit</a:t>
            </a:r>
            <a:endParaRPr b="0" i="0" sz="900" u="none" cap="none" strike="noStrike">
              <a:solidFill>
                <a:schemeClr val="dk1"/>
              </a:solidFill>
              <a:latin typeface="Calibri"/>
              <a:ea typeface="Calibri"/>
              <a:cs typeface="Calibri"/>
              <a:sym typeface="Calibri"/>
            </a:endParaRPr>
          </a:p>
        </p:txBody>
      </p:sp>
      <p:sp>
        <p:nvSpPr>
          <p:cNvPr id="440" name="Google Shape;440;p10"/>
          <p:cNvSpPr/>
          <p:nvPr/>
        </p:nvSpPr>
        <p:spPr>
          <a:xfrm>
            <a:off x="6126480" y="3410712"/>
            <a:ext cx="2468880" cy="658368"/>
          </a:xfrm>
          <a:prstGeom prst="rect">
            <a:avLst/>
          </a:prstGeom>
          <a:solidFill>
            <a:srgbClr val="EDE7FC"/>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0"/>
          <p:cNvSpPr/>
          <p:nvPr/>
        </p:nvSpPr>
        <p:spPr>
          <a:xfrm>
            <a:off x="6199632" y="3465576"/>
            <a:ext cx="23408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2DB8"/>
              </a:buClr>
              <a:buSzPts val="900"/>
              <a:buFont typeface="Calibri"/>
              <a:buNone/>
            </a:pPr>
            <a:r>
              <a:rPr b="0" i="0" lang="en-US" sz="900" u="none" cap="none" strike="noStrike">
                <a:solidFill>
                  <a:srgbClr val="5C2DB8"/>
                </a:solidFill>
                <a:latin typeface="Calibri"/>
                <a:ea typeface="Calibri"/>
                <a:cs typeface="Calibri"/>
                <a:sym typeface="Calibri"/>
              </a:rPr>
              <a:t>Zero rehypothecation + SEC oversight + competitive yield</a:t>
            </a:r>
            <a:endParaRPr b="0" i="0" sz="900" u="none" cap="none" strike="noStrike">
              <a:solidFill>
                <a:schemeClr val="dk1"/>
              </a:solidFill>
              <a:latin typeface="Calibri"/>
              <a:ea typeface="Calibri"/>
              <a:cs typeface="Calibri"/>
              <a:sym typeface="Calibri"/>
            </a:endParaRPr>
          </a:p>
        </p:txBody>
      </p:sp>
      <p:sp>
        <p:nvSpPr>
          <p:cNvPr id="442" name="Google Shape;442;p10"/>
          <p:cNvSpPr/>
          <p:nvPr/>
        </p:nvSpPr>
        <p:spPr>
          <a:xfrm>
            <a:off x="274320" y="4069080"/>
            <a:ext cx="1645920" cy="658368"/>
          </a:xfrm>
          <a:prstGeom prst="rect">
            <a:avLst/>
          </a:prstGeom>
          <a:solidFill>
            <a:srgbClr val="FFFFFF"/>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0"/>
          <p:cNvSpPr/>
          <p:nvPr/>
        </p:nvSpPr>
        <p:spPr>
          <a:xfrm>
            <a:off x="347472" y="4123944"/>
            <a:ext cx="15179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1" i="0" lang="en-US" sz="900" u="none" cap="none" strike="noStrike">
                <a:solidFill>
                  <a:srgbClr val="4A4A6A"/>
                </a:solidFill>
                <a:latin typeface="Calibri"/>
                <a:ea typeface="Calibri"/>
                <a:cs typeface="Calibri"/>
                <a:sym typeface="Calibri"/>
              </a:rPr>
              <a:t>RIA / Wealth Advisor</a:t>
            </a:r>
            <a:endParaRPr b="0" i="0" sz="900" u="none" cap="none" strike="noStrike">
              <a:solidFill>
                <a:schemeClr val="dk1"/>
              </a:solidFill>
              <a:latin typeface="Calibri"/>
              <a:ea typeface="Calibri"/>
              <a:cs typeface="Calibri"/>
              <a:sym typeface="Calibri"/>
            </a:endParaRPr>
          </a:p>
        </p:txBody>
      </p:sp>
      <p:sp>
        <p:nvSpPr>
          <p:cNvPr id="444" name="Google Shape;444;p10"/>
          <p:cNvSpPr/>
          <p:nvPr/>
        </p:nvSpPr>
        <p:spPr>
          <a:xfrm>
            <a:off x="1920240" y="4069080"/>
            <a:ext cx="1645920" cy="658368"/>
          </a:xfrm>
          <a:prstGeom prst="rect">
            <a:avLst/>
          </a:prstGeom>
          <a:solidFill>
            <a:srgbClr val="FFFFFF"/>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0"/>
          <p:cNvSpPr/>
          <p:nvPr/>
        </p:nvSpPr>
        <p:spPr>
          <a:xfrm>
            <a:off x="1993392" y="4123944"/>
            <a:ext cx="15179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0" i="0" lang="en-US" sz="900" u="none" cap="none" strike="noStrike">
                <a:solidFill>
                  <a:srgbClr val="4A4A6A"/>
                </a:solidFill>
                <a:latin typeface="Calibri"/>
                <a:ea typeface="Calibri"/>
                <a:cs typeface="Calibri"/>
                <a:sym typeface="Calibri"/>
              </a:rPr>
              <a:t>Multiple fragmented tools</a:t>
            </a:r>
            <a:endParaRPr b="0" i="0" sz="900" u="none" cap="none" strike="noStrike">
              <a:solidFill>
                <a:schemeClr val="dk1"/>
              </a:solidFill>
              <a:latin typeface="Calibri"/>
              <a:ea typeface="Calibri"/>
              <a:cs typeface="Calibri"/>
              <a:sym typeface="Calibri"/>
            </a:endParaRPr>
          </a:p>
        </p:txBody>
      </p:sp>
      <p:sp>
        <p:nvSpPr>
          <p:cNvPr id="446" name="Google Shape;446;p10"/>
          <p:cNvSpPr/>
          <p:nvPr/>
        </p:nvSpPr>
        <p:spPr>
          <a:xfrm>
            <a:off x="3566160" y="4069080"/>
            <a:ext cx="2560320" cy="658368"/>
          </a:xfrm>
          <a:prstGeom prst="rect">
            <a:avLst/>
          </a:prstGeom>
          <a:solidFill>
            <a:srgbClr val="FFFFFF"/>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0"/>
          <p:cNvSpPr/>
          <p:nvPr/>
        </p:nvSpPr>
        <p:spPr>
          <a:xfrm>
            <a:off x="3639312" y="4123944"/>
            <a:ext cx="243230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900"/>
              <a:buFont typeface="Calibri"/>
              <a:buNone/>
            </a:pPr>
            <a:r>
              <a:rPr b="0" i="0" lang="en-US" sz="900" u="none" cap="none" strike="noStrike">
                <a:solidFill>
                  <a:srgbClr val="4A4A6A"/>
                </a:solidFill>
                <a:latin typeface="Calibri"/>
                <a:ea typeface="Calibri"/>
                <a:cs typeface="Calibri"/>
                <a:sym typeface="Calibri"/>
              </a:rPr>
              <a:t>No single regulated platform for digital asset advisory</a:t>
            </a:r>
            <a:endParaRPr b="0" i="0" sz="900" u="none" cap="none" strike="noStrike">
              <a:solidFill>
                <a:schemeClr val="dk1"/>
              </a:solidFill>
              <a:latin typeface="Calibri"/>
              <a:ea typeface="Calibri"/>
              <a:cs typeface="Calibri"/>
              <a:sym typeface="Calibri"/>
            </a:endParaRPr>
          </a:p>
        </p:txBody>
      </p:sp>
      <p:sp>
        <p:nvSpPr>
          <p:cNvPr id="448" name="Google Shape;448;p10"/>
          <p:cNvSpPr/>
          <p:nvPr/>
        </p:nvSpPr>
        <p:spPr>
          <a:xfrm>
            <a:off x="6126480" y="4069080"/>
            <a:ext cx="2468880" cy="658368"/>
          </a:xfrm>
          <a:prstGeom prst="rect">
            <a:avLst/>
          </a:prstGeom>
          <a:solidFill>
            <a:srgbClr val="EDE7FC"/>
          </a:solidFill>
          <a:ln cap="flat" cmpd="sng" w="9525">
            <a:solidFill>
              <a:srgbClr val="D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0"/>
          <p:cNvSpPr/>
          <p:nvPr/>
        </p:nvSpPr>
        <p:spPr>
          <a:xfrm>
            <a:off x="6199632" y="4123944"/>
            <a:ext cx="23408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2DB8"/>
              </a:buClr>
              <a:buSzPts val="900"/>
              <a:buFont typeface="Calibri"/>
              <a:buNone/>
            </a:pPr>
            <a:r>
              <a:rPr b="0" i="0" lang="en-US" sz="900" u="none" cap="none" strike="noStrike">
                <a:solidFill>
                  <a:srgbClr val="5C2DB8"/>
                </a:solidFill>
                <a:latin typeface="Calibri"/>
                <a:ea typeface="Calibri"/>
                <a:cs typeface="Calibri"/>
                <a:sym typeface="Calibri"/>
              </a:rPr>
              <a:t>White-label SMA infrastructure for client portfolio management</a:t>
            </a:r>
            <a:endParaRPr b="0" i="0" sz="900" u="none" cap="none" strike="noStrike">
              <a:solidFill>
                <a:schemeClr val="dk1"/>
              </a:solidFill>
              <a:latin typeface="Calibri"/>
              <a:ea typeface="Calibri"/>
              <a:cs typeface="Calibri"/>
              <a:sym typeface="Calibri"/>
            </a:endParaRPr>
          </a:p>
        </p:txBody>
      </p:sp>
      <p:sp>
        <p:nvSpPr>
          <p:cNvPr id="450" name="Google Shape;450;p10"/>
          <p:cNvSpPr/>
          <p:nvPr/>
        </p:nvSpPr>
        <p:spPr>
          <a:xfrm>
            <a:off x="0" y="4873752"/>
            <a:ext cx="9144000" cy="269748"/>
          </a:xfrm>
          <a:prstGeom prst="rect">
            <a:avLst/>
          </a:prstGeom>
          <a:solidFill>
            <a:srgbClr val="E8E8F0"/>
          </a:solidFill>
          <a:ln cap="flat" cmpd="sng" w="12700">
            <a:solidFill>
              <a:srgbClr val="E8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0"/>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A8"/>
              </a:buClr>
              <a:buSzPts val="800"/>
              <a:buFont typeface="Calibri"/>
              <a:buNone/>
            </a:pPr>
            <a:r>
              <a:rPr b="0" i="0" lang="en-US" sz="800" u="none" cap="none" strike="noStrike">
                <a:solidFill>
                  <a:srgbClr val="9090A8"/>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452" name="Google Shape;452;p10"/>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131F"/>
        </a:solidFill>
      </p:bgPr>
    </p:bg>
    <p:spTree>
      <p:nvGrpSpPr>
        <p:cNvPr id="457" name="Shape 457"/>
        <p:cNvGrpSpPr/>
        <p:nvPr/>
      </p:nvGrpSpPr>
      <p:grpSpPr>
        <a:xfrm>
          <a:off x="0" y="0"/>
          <a:ext cx="0" cy="0"/>
          <a:chOff x="0" y="0"/>
          <a:chExt cx="0" cy="0"/>
        </a:xfrm>
      </p:grpSpPr>
      <p:sp>
        <p:nvSpPr>
          <p:cNvPr id="458" name="Google Shape;458;p11"/>
          <p:cNvSpPr/>
          <p:nvPr/>
        </p:nvSpPr>
        <p:spPr>
          <a:xfrm>
            <a:off x="7772400" y="-1097280"/>
            <a:ext cx="4389120" cy="438912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1"/>
          <p:cNvSpPr/>
          <p:nvPr/>
        </p:nvSpPr>
        <p:spPr>
          <a:xfrm>
            <a:off x="8138160" y="-640080"/>
            <a:ext cx="3566160" cy="356616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a:off x="8503920" y="-182880"/>
            <a:ext cx="2743200" cy="274320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1"/>
          <p:cNvSpPr/>
          <p:nvPr/>
        </p:nvSpPr>
        <p:spPr>
          <a:xfrm>
            <a:off x="411480" y="164592"/>
            <a:ext cx="3474720" cy="246888"/>
          </a:xfrm>
          <a:prstGeom prst="rect">
            <a:avLst/>
          </a:prstGeom>
          <a:solidFill>
            <a:srgbClr val="EDE7FC"/>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1"/>
          <p:cNvSpPr/>
          <p:nvPr/>
        </p:nvSpPr>
        <p:spPr>
          <a:xfrm>
            <a:off x="411480" y="164592"/>
            <a:ext cx="347472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2DB8"/>
              </a:buClr>
              <a:buSzPts val="800"/>
              <a:buFont typeface="Calibri"/>
              <a:buNone/>
            </a:pPr>
            <a:r>
              <a:rPr b="1" i="0" lang="en-US" sz="800" u="none" cap="none" strike="noStrike">
                <a:solidFill>
                  <a:srgbClr val="5C2DB8"/>
                </a:solidFill>
                <a:latin typeface="Calibri"/>
                <a:ea typeface="Calibri"/>
                <a:cs typeface="Calibri"/>
                <a:sym typeface="Calibri"/>
              </a:rPr>
              <a:t>COMPETITIVE LANDSCAPE  ·  OBJECTION HANDLING</a:t>
            </a:r>
            <a:endParaRPr b="0" i="0" sz="800" u="none" cap="none" strike="noStrike">
              <a:solidFill>
                <a:schemeClr val="dk1"/>
              </a:solidFill>
              <a:latin typeface="Calibri"/>
              <a:ea typeface="Calibri"/>
              <a:cs typeface="Calibri"/>
              <a:sym typeface="Calibri"/>
            </a:endParaRPr>
          </a:p>
        </p:txBody>
      </p:sp>
      <p:sp>
        <p:nvSpPr>
          <p:cNvPr id="463" name="Google Shape;463;p11"/>
          <p:cNvSpPr/>
          <p:nvPr/>
        </p:nvSpPr>
        <p:spPr>
          <a:xfrm>
            <a:off x="411480" y="502920"/>
            <a:ext cx="82296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Handling Common Objections</a:t>
            </a:r>
            <a:endParaRPr b="0" i="0" sz="3000" u="none" cap="none" strike="noStrike">
              <a:solidFill>
                <a:schemeClr val="dk1"/>
              </a:solidFill>
              <a:latin typeface="Calibri"/>
              <a:ea typeface="Calibri"/>
              <a:cs typeface="Calibri"/>
              <a:sym typeface="Calibri"/>
            </a:endParaRPr>
          </a:p>
        </p:txBody>
      </p:sp>
      <p:sp>
        <p:nvSpPr>
          <p:cNvPr id="464" name="Google Shape;464;p11"/>
          <p:cNvSpPr/>
          <p:nvPr/>
        </p:nvSpPr>
        <p:spPr>
          <a:xfrm>
            <a:off x="411480" y="1005840"/>
            <a:ext cx="832104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1"/>
          <p:cNvSpPr/>
          <p:nvPr/>
        </p:nvSpPr>
        <p:spPr>
          <a:xfrm>
            <a:off x="347472" y="1133856"/>
            <a:ext cx="8430768" cy="65836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a:off x="347472" y="1133856"/>
            <a:ext cx="64008" cy="658368"/>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p:nvPr/>
        </p:nvSpPr>
        <p:spPr>
          <a:xfrm>
            <a:off x="512064" y="1188720"/>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000"/>
              <a:buFont typeface="Calibri"/>
              <a:buNone/>
            </a:pPr>
            <a:r>
              <a:rPr b="1" i="0" lang="en-US" sz="1000" u="none" cap="none" strike="noStrike">
                <a:solidFill>
                  <a:srgbClr val="9B6AF0"/>
                </a:solidFill>
                <a:latin typeface="Calibri"/>
                <a:ea typeface="Calibri"/>
                <a:cs typeface="Calibri"/>
                <a:sym typeface="Calibri"/>
              </a:rPr>
              <a:t>"I'm happy with Coinbase — they're the biggest."</a:t>
            </a:r>
            <a:endParaRPr b="0" i="0" sz="1000" u="none" cap="none" strike="noStrike">
              <a:solidFill>
                <a:schemeClr val="dk1"/>
              </a:solidFill>
              <a:latin typeface="Calibri"/>
              <a:ea typeface="Calibri"/>
              <a:cs typeface="Calibri"/>
              <a:sym typeface="Calibri"/>
            </a:endParaRPr>
          </a:p>
        </p:txBody>
      </p:sp>
      <p:sp>
        <p:nvSpPr>
          <p:cNvPr id="468" name="Google Shape;468;p11"/>
          <p:cNvSpPr/>
          <p:nvPr/>
        </p:nvSpPr>
        <p:spPr>
          <a:xfrm>
            <a:off x="512064" y="1408176"/>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00"/>
              <a:buFont typeface="Calibri"/>
              <a:buNone/>
            </a:pPr>
            <a:r>
              <a:rPr b="0" i="0" lang="en-US" sz="900" u="none" cap="none" strike="noStrike">
                <a:solidFill>
                  <a:srgbClr val="9090B0"/>
                </a:solidFill>
                <a:latin typeface="Calibri"/>
                <a:ea typeface="Calibri"/>
                <a:cs typeface="Calibri"/>
                <a:sym typeface="Calibri"/>
              </a:rPr>
              <a:t>Coinbase is an exchange, not a fiduciary. Your assets sit in omnibus accounts. At Abra, you have a segregated SMA vault in your name, verified on-chain, with an RIA legally obligated to act in your best interest.</a:t>
            </a:r>
            <a:endParaRPr b="0" i="0" sz="900" u="none" cap="none" strike="noStrike">
              <a:solidFill>
                <a:schemeClr val="dk1"/>
              </a:solidFill>
              <a:latin typeface="Calibri"/>
              <a:ea typeface="Calibri"/>
              <a:cs typeface="Calibri"/>
              <a:sym typeface="Calibri"/>
            </a:endParaRPr>
          </a:p>
        </p:txBody>
      </p:sp>
      <p:sp>
        <p:nvSpPr>
          <p:cNvPr id="469" name="Google Shape;469;p11"/>
          <p:cNvSpPr/>
          <p:nvPr/>
        </p:nvSpPr>
        <p:spPr>
          <a:xfrm>
            <a:off x="347472" y="1856232"/>
            <a:ext cx="8430768" cy="65836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1"/>
          <p:cNvSpPr/>
          <p:nvPr/>
        </p:nvSpPr>
        <p:spPr>
          <a:xfrm>
            <a:off x="347472" y="1856232"/>
            <a:ext cx="64008" cy="658368"/>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1"/>
          <p:cNvSpPr/>
          <p:nvPr/>
        </p:nvSpPr>
        <p:spPr>
          <a:xfrm>
            <a:off x="512064" y="1911096"/>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000"/>
              <a:buFont typeface="Calibri"/>
              <a:buNone/>
            </a:pPr>
            <a:r>
              <a:rPr b="1" i="0" lang="en-US" sz="1000" u="none" cap="none" strike="noStrike">
                <a:solidFill>
                  <a:srgbClr val="9B6AF0"/>
                </a:solidFill>
                <a:latin typeface="Calibri"/>
                <a:ea typeface="Calibri"/>
                <a:cs typeface="Calibri"/>
                <a:sym typeface="Calibri"/>
              </a:rPr>
              <a:t>"Ledn gives me yield on my BTC."</a:t>
            </a:r>
            <a:endParaRPr b="0" i="0" sz="1000" u="none" cap="none" strike="noStrike">
              <a:solidFill>
                <a:schemeClr val="dk1"/>
              </a:solidFill>
              <a:latin typeface="Calibri"/>
              <a:ea typeface="Calibri"/>
              <a:cs typeface="Calibri"/>
              <a:sym typeface="Calibri"/>
            </a:endParaRPr>
          </a:p>
        </p:txBody>
      </p:sp>
      <p:sp>
        <p:nvSpPr>
          <p:cNvPr id="472" name="Google Shape;472;p11"/>
          <p:cNvSpPr/>
          <p:nvPr/>
        </p:nvSpPr>
        <p:spPr>
          <a:xfrm>
            <a:off x="512064" y="2130552"/>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00"/>
              <a:buFont typeface="Calibri"/>
              <a:buNone/>
            </a:pPr>
            <a:r>
              <a:rPr b="0" i="0" lang="en-US" sz="900" u="none" cap="none" strike="noStrike">
                <a:solidFill>
                  <a:srgbClr val="9090B0"/>
                </a:solidFill>
                <a:latin typeface="Calibri"/>
                <a:ea typeface="Calibri"/>
                <a:cs typeface="Calibri"/>
                <a:sym typeface="Calibri"/>
              </a:rPr>
              <a:t>Ledn dropped ETH entirely and went BTC-only. If you hold ETH, SOL, or stablecoins, those assets have no home there. Abra offers yield across BTC, ETH, SOL, and stables — plus USDAF synthetic dollar yield.</a:t>
            </a:r>
            <a:endParaRPr b="0" i="0" sz="900" u="none" cap="none" strike="noStrike">
              <a:solidFill>
                <a:schemeClr val="dk1"/>
              </a:solidFill>
              <a:latin typeface="Calibri"/>
              <a:ea typeface="Calibri"/>
              <a:cs typeface="Calibri"/>
              <a:sym typeface="Calibri"/>
            </a:endParaRPr>
          </a:p>
        </p:txBody>
      </p:sp>
      <p:sp>
        <p:nvSpPr>
          <p:cNvPr id="473" name="Google Shape;473;p11"/>
          <p:cNvSpPr/>
          <p:nvPr/>
        </p:nvSpPr>
        <p:spPr>
          <a:xfrm>
            <a:off x="347472" y="2578608"/>
            <a:ext cx="8430768" cy="65836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p:nvPr/>
        </p:nvSpPr>
        <p:spPr>
          <a:xfrm>
            <a:off x="347472" y="2578608"/>
            <a:ext cx="64008" cy="658368"/>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1"/>
          <p:cNvSpPr/>
          <p:nvPr/>
        </p:nvSpPr>
        <p:spPr>
          <a:xfrm>
            <a:off x="512064" y="2633472"/>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000"/>
              <a:buFont typeface="Calibri"/>
              <a:buNone/>
            </a:pPr>
            <a:r>
              <a:rPr b="1" i="0" lang="en-US" sz="1000" u="none" cap="none" strike="noStrike">
                <a:solidFill>
                  <a:srgbClr val="9B6AF0"/>
                </a:solidFill>
                <a:latin typeface="Calibri"/>
                <a:ea typeface="Calibri"/>
                <a:cs typeface="Calibri"/>
                <a:sym typeface="Calibri"/>
              </a:rPr>
              <a:t>"Nexo offers lower borrow rates."</a:t>
            </a:r>
            <a:endParaRPr b="0" i="0" sz="1000" u="none" cap="none" strike="noStrike">
              <a:solidFill>
                <a:schemeClr val="dk1"/>
              </a:solidFill>
              <a:latin typeface="Calibri"/>
              <a:ea typeface="Calibri"/>
              <a:cs typeface="Calibri"/>
              <a:sym typeface="Calibri"/>
            </a:endParaRPr>
          </a:p>
        </p:txBody>
      </p:sp>
      <p:sp>
        <p:nvSpPr>
          <p:cNvPr id="476" name="Google Shape;476;p11"/>
          <p:cNvSpPr/>
          <p:nvPr/>
        </p:nvSpPr>
        <p:spPr>
          <a:xfrm>
            <a:off x="512064" y="2852928"/>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00"/>
              <a:buFont typeface="Calibri"/>
              <a:buNone/>
            </a:pPr>
            <a:r>
              <a:rPr b="0" i="0" lang="en-US" sz="900" u="none" cap="none" strike="noStrike">
                <a:solidFill>
                  <a:srgbClr val="9090B0"/>
                </a:solidFill>
                <a:latin typeface="Calibri"/>
                <a:ea typeface="Calibri"/>
                <a:cs typeface="Calibri"/>
                <a:sym typeface="Calibri"/>
              </a:rPr>
              <a:t>Nexo just re-entered the US after a 3-year exit and still uses client assets for yield generation (rehypothecation). The question isn't just 'what rate?' — it's 'are my assets safe?' Abra's zero-rehypothecation guarantee removes that risk.</a:t>
            </a:r>
            <a:endParaRPr b="0" i="0" sz="900" u="none" cap="none" strike="noStrike">
              <a:solidFill>
                <a:schemeClr val="dk1"/>
              </a:solidFill>
              <a:latin typeface="Calibri"/>
              <a:ea typeface="Calibri"/>
              <a:cs typeface="Calibri"/>
              <a:sym typeface="Calibri"/>
            </a:endParaRPr>
          </a:p>
        </p:txBody>
      </p:sp>
      <p:sp>
        <p:nvSpPr>
          <p:cNvPr id="477" name="Google Shape;477;p11"/>
          <p:cNvSpPr/>
          <p:nvPr/>
        </p:nvSpPr>
        <p:spPr>
          <a:xfrm>
            <a:off x="347472" y="3300984"/>
            <a:ext cx="8430768" cy="65836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1"/>
          <p:cNvSpPr/>
          <p:nvPr/>
        </p:nvSpPr>
        <p:spPr>
          <a:xfrm>
            <a:off x="347472" y="3300984"/>
            <a:ext cx="64008" cy="658368"/>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1"/>
          <p:cNvSpPr/>
          <p:nvPr/>
        </p:nvSpPr>
        <p:spPr>
          <a:xfrm>
            <a:off x="512064" y="3355848"/>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000"/>
              <a:buFont typeface="Calibri"/>
              <a:buNone/>
            </a:pPr>
            <a:r>
              <a:rPr b="1" i="0" lang="en-US" sz="1000" u="none" cap="none" strike="noStrike">
                <a:solidFill>
                  <a:srgbClr val="9B6AF0"/>
                </a:solidFill>
                <a:latin typeface="Calibri"/>
                <a:ea typeface="Calibri"/>
                <a:cs typeface="Calibri"/>
                <a:sym typeface="Calibri"/>
              </a:rPr>
              <a:t>"I don't want to move my assets — it's a hassle."</a:t>
            </a:r>
            <a:endParaRPr b="0" i="0" sz="1000" u="none" cap="none" strike="noStrike">
              <a:solidFill>
                <a:schemeClr val="dk1"/>
              </a:solidFill>
              <a:latin typeface="Calibri"/>
              <a:ea typeface="Calibri"/>
              <a:cs typeface="Calibri"/>
              <a:sym typeface="Calibri"/>
            </a:endParaRPr>
          </a:p>
        </p:txBody>
      </p:sp>
      <p:sp>
        <p:nvSpPr>
          <p:cNvPr id="480" name="Google Shape;480;p11"/>
          <p:cNvSpPr/>
          <p:nvPr/>
        </p:nvSpPr>
        <p:spPr>
          <a:xfrm>
            <a:off x="512064" y="3575304"/>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00"/>
              <a:buFont typeface="Calibri"/>
              <a:buNone/>
            </a:pPr>
            <a:r>
              <a:rPr b="0" i="0" lang="en-US" sz="900" u="none" cap="none" strike="noStrike">
                <a:solidFill>
                  <a:srgbClr val="9090B0"/>
                </a:solidFill>
                <a:latin typeface="Calibri"/>
                <a:ea typeface="Calibri"/>
                <a:cs typeface="Calibri"/>
                <a:sym typeface="Calibri"/>
              </a:rPr>
              <a:t>We handle the heavy lifting. Our concierge team manages the full transfer process. Most clients are fully onboarded within 48 hours. We also offer fee waivers for the first 90 days to make the switch frictionless.</a:t>
            </a:r>
            <a:endParaRPr b="0" i="0" sz="900" u="none" cap="none" strike="noStrike">
              <a:solidFill>
                <a:schemeClr val="dk1"/>
              </a:solidFill>
              <a:latin typeface="Calibri"/>
              <a:ea typeface="Calibri"/>
              <a:cs typeface="Calibri"/>
              <a:sym typeface="Calibri"/>
            </a:endParaRPr>
          </a:p>
        </p:txBody>
      </p:sp>
      <p:sp>
        <p:nvSpPr>
          <p:cNvPr id="481" name="Google Shape;481;p11"/>
          <p:cNvSpPr/>
          <p:nvPr/>
        </p:nvSpPr>
        <p:spPr>
          <a:xfrm>
            <a:off x="347472" y="4023360"/>
            <a:ext cx="8430768" cy="65836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1"/>
          <p:cNvSpPr/>
          <p:nvPr/>
        </p:nvSpPr>
        <p:spPr>
          <a:xfrm>
            <a:off x="347472" y="4023360"/>
            <a:ext cx="64008" cy="658368"/>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1"/>
          <p:cNvSpPr/>
          <p:nvPr/>
        </p:nvSpPr>
        <p:spPr>
          <a:xfrm>
            <a:off x="512064" y="4078224"/>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000"/>
              <a:buFont typeface="Calibri"/>
              <a:buNone/>
            </a:pPr>
            <a:r>
              <a:rPr b="1" i="0" lang="en-US" sz="1000" u="none" cap="none" strike="noStrike">
                <a:solidFill>
                  <a:srgbClr val="9B6AF0"/>
                </a:solidFill>
                <a:latin typeface="Calibri"/>
                <a:ea typeface="Calibri"/>
                <a:cs typeface="Calibri"/>
                <a:sym typeface="Calibri"/>
              </a:rPr>
              <a:t>"I've never heard of Abra."</a:t>
            </a:r>
            <a:endParaRPr b="0" i="0" sz="1000" u="none" cap="none" strike="noStrike">
              <a:solidFill>
                <a:schemeClr val="dk1"/>
              </a:solidFill>
              <a:latin typeface="Calibri"/>
              <a:ea typeface="Calibri"/>
              <a:cs typeface="Calibri"/>
              <a:sym typeface="Calibri"/>
            </a:endParaRPr>
          </a:p>
        </p:txBody>
      </p:sp>
      <p:sp>
        <p:nvSpPr>
          <p:cNvPr id="484" name="Google Shape;484;p11"/>
          <p:cNvSpPr/>
          <p:nvPr/>
        </p:nvSpPr>
        <p:spPr>
          <a:xfrm>
            <a:off x="512064" y="4297680"/>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900"/>
              <a:buFont typeface="Calibri"/>
              <a:buNone/>
            </a:pPr>
            <a:r>
              <a:rPr b="0" i="0" lang="en-US" sz="900" u="none" cap="none" strike="noStrike">
                <a:solidFill>
                  <a:srgbClr val="9090B0"/>
                </a:solidFill>
                <a:latin typeface="Calibri"/>
                <a:ea typeface="Calibri"/>
                <a:cs typeface="Calibri"/>
                <a:sym typeface="Calibri"/>
              </a:rPr>
              <a:t>Abra has been</a:t>
            </a:r>
            <a:r>
              <a:rPr lang="en-US" sz="900">
                <a:solidFill>
                  <a:srgbClr val="9090B0"/>
                </a:solidFill>
                <a:latin typeface="Calibri"/>
                <a:ea typeface="Calibri"/>
                <a:cs typeface="Calibri"/>
                <a:sym typeface="Calibri"/>
              </a:rPr>
              <a:t> serving customers </a:t>
            </a:r>
            <a:r>
              <a:rPr b="0" i="0" lang="en-US" sz="900" u="none" cap="none" strike="noStrike">
                <a:solidFill>
                  <a:srgbClr val="9090B0"/>
                </a:solidFill>
                <a:latin typeface="Calibri"/>
                <a:ea typeface="Calibri"/>
                <a:cs typeface="Calibri"/>
                <a:sym typeface="Calibri"/>
              </a:rPr>
              <a:t>since 201</a:t>
            </a:r>
            <a:r>
              <a:rPr lang="en-US" sz="900">
                <a:solidFill>
                  <a:srgbClr val="9090B0"/>
                </a:solidFill>
                <a:latin typeface="Calibri"/>
                <a:ea typeface="Calibri"/>
                <a:cs typeface="Calibri"/>
                <a:sym typeface="Calibri"/>
              </a:rPr>
              <a:t>8.</a:t>
            </a:r>
            <a:r>
              <a:rPr b="0" i="0" lang="en-US" sz="900" u="none" cap="none" strike="noStrike">
                <a:solidFill>
                  <a:srgbClr val="9090B0"/>
                </a:solidFill>
                <a:latin typeface="Calibri"/>
                <a:ea typeface="Calibri"/>
                <a:cs typeface="Calibri"/>
                <a:sym typeface="Calibri"/>
              </a:rPr>
              <a:t> W</a:t>
            </a:r>
            <a:r>
              <a:rPr lang="en-US" sz="900">
                <a:solidFill>
                  <a:srgbClr val="9090B0"/>
                </a:solidFill>
                <a:latin typeface="Calibri"/>
                <a:ea typeface="Calibri"/>
                <a:cs typeface="Calibri"/>
                <a:sym typeface="Calibri"/>
              </a:rPr>
              <a:t>e are a backed by top tier institutional investors </a:t>
            </a:r>
            <a:r>
              <a:rPr b="0" i="0" lang="en-US" sz="900" u="none" cap="none" strike="noStrike">
                <a:solidFill>
                  <a:srgbClr val="9090B0"/>
                </a:solidFill>
                <a:latin typeface="Calibri"/>
                <a:ea typeface="Calibri"/>
                <a:cs typeface="Calibri"/>
                <a:sym typeface="Calibri"/>
              </a:rPr>
              <a:t>and preparing to go public via SPAC. We're not new — we're just now scaling </a:t>
            </a:r>
            <a:r>
              <a:rPr lang="en-US" sz="900">
                <a:solidFill>
                  <a:srgbClr val="9090B0"/>
                </a:solidFill>
                <a:latin typeface="Calibri"/>
                <a:ea typeface="Calibri"/>
                <a:cs typeface="Calibri"/>
                <a:sym typeface="Calibri"/>
              </a:rPr>
              <a:t>our footprint</a:t>
            </a:r>
            <a:r>
              <a:rPr b="0" i="0" lang="en-US" sz="900" u="none" cap="none" strike="noStrike">
                <a:solidFill>
                  <a:srgbClr val="9090B0"/>
                </a:solidFill>
                <a:latin typeface="Calibri"/>
                <a:ea typeface="Calibri"/>
                <a:cs typeface="Calibri"/>
                <a:sym typeface="Calibri"/>
              </a:rPr>
              <a:t> institutional side.</a:t>
            </a:r>
            <a:endParaRPr b="0" i="0" sz="900" u="none" cap="none" strike="noStrike">
              <a:solidFill>
                <a:schemeClr val="dk1"/>
              </a:solidFill>
              <a:latin typeface="Calibri"/>
              <a:ea typeface="Calibri"/>
              <a:cs typeface="Calibri"/>
              <a:sym typeface="Calibri"/>
            </a:endParaRPr>
          </a:p>
        </p:txBody>
      </p:sp>
      <p:sp>
        <p:nvSpPr>
          <p:cNvPr id="485" name="Google Shape;485;p11"/>
          <p:cNvSpPr/>
          <p:nvPr/>
        </p:nvSpPr>
        <p:spPr>
          <a:xfrm>
            <a:off x="0" y="4873752"/>
            <a:ext cx="9144000" cy="269748"/>
          </a:xfrm>
          <a:prstGeom prst="rect">
            <a:avLst/>
          </a:prstGeom>
          <a:solidFill>
            <a:srgbClr val="1C1C2E"/>
          </a:solidFill>
          <a:ln cap="flat" cmpd="sng" w="12700">
            <a:solidFill>
              <a:srgbClr val="1C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1"/>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506A"/>
              </a:buClr>
              <a:buSzPts val="800"/>
              <a:buFont typeface="Calibri"/>
              <a:buNone/>
            </a:pPr>
            <a:r>
              <a:rPr b="0" i="0" lang="en-US" sz="800" u="none" cap="none" strike="noStrike">
                <a:solidFill>
                  <a:srgbClr val="50506A"/>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487" name="Google Shape;487;p11"/>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8"/>
        </a:solidFill>
      </p:bgPr>
    </p:bg>
    <p:spTree>
      <p:nvGrpSpPr>
        <p:cNvPr id="492" name="Shape 492"/>
        <p:cNvGrpSpPr/>
        <p:nvPr/>
      </p:nvGrpSpPr>
      <p:grpSpPr>
        <a:xfrm>
          <a:off x="0" y="0"/>
          <a:ext cx="0" cy="0"/>
          <a:chOff x="0" y="0"/>
          <a:chExt cx="0" cy="0"/>
        </a:xfrm>
      </p:grpSpPr>
      <p:sp>
        <p:nvSpPr>
          <p:cNvPr id="493" name="Google Shape;493;g3d0fd7db1ee_7_0"/>
          <p:cNvSpPr/>
          <p:nvPr/>
        </p:nvSpPr>
        <p:spPr>
          <a:xfrm>
            <a:off x="411480" y="256032"/>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3000"/>
              <a:buFont typeface="Trebuchet MS"/>
              <a:buNone/>
            </a:pPr>
            <a:r>
              <a:rPr b="1" i="0" lang="en-US" sz="3000" u="none" cap="none" strike="noStrike">
                <a:solidFill>
                  <a:srgbClr val="13131F"/>
                </a:solidFill>
                <a:latin typeface="Trebuchet MS"/>
                <a:ea typeface="Trebuchet MS"/>
                <a:cs typeface="Trebuchet MS"/>
                <a:sym typeface="Trebuchet MS"/>
              </a:rPr>
              <a:t>RIA Discussion</a:t>
            </a:r>
            <a:endParaRPr b="0" i="0" sz="3000" u="none" cap="none" strike="noStrike">
              <a:solidFill>
                <a:schemeClr val="dk1"/>
              </a:solidFill>
              <a:latin typeface="Calibri"/>
              <a:ea typeface="Calibri"/>
              <a:cs typeface="Calibri"/>
              <a:sym typeface="Calibri"/>
            </a:endParaRPr>
          </a:p>
        </p:txBody>
      </p:sp>
      <p:sp>
        <p:nvSpPr>
          <p:cNvPr id="494" name="Google Shape;494;g3d0fd7db1ee_7_0"/>
          <p:cNvSpPr/>
          <p:nvPr/>
        </p:nvSpPr>
        <p:spPr>
          <a:xfrm>
            <a:off x="411480" y="777240"/>
            <a:ext cx="83211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1200"/>
              <a:buFont typeface="Calibri"/>
              <a:buNone/>
            </a:pPr>
            <a:r>
              <a:rPr b="0" i="1" lang="en-US" sz="1200" u="none" cap="none" strike="noStrike">
                <a:solidFill>
                  <a:srgbClr val="4A4A6A"/>
                </a:solidFill>
                <a:latin typeface="Calibri"/>
                <a:ea typeface="Calibri"/>
                <a:cs typeface="Calibri"/>
                <a:sym typeface="Calibri"/>
              </a:rPr>
              <a:t>Day 2  ·  March 20  ·  9:00 AM – 12:00 PM  ·  Celisa Morin + Bill, Deepak, Adarsh</a:t>
            </a:r>
            <a:endParaRPr b="0" i="0" sz="1200" u="none" cap="none" strike="noStrike">
              <a:solidFill>
                <a:schemeClr val="dk1"/>
              </a:solidFill>
              <a:latin typeface="Calibri"/>
              <a:ea typeface="Calibri"/>
              <a:cs typeface="Calibri"/>
              <a:sym typeface="Calibri"/>
            </a:endParaRPr>
          </a:p>
        </p:txBody>
      </p:sp>
      <p:sp>
        <p:nvSpPr>
          <p:cNvPr id="495" name="Google Shape;495;g3d0fd7db1ee_7_0"/>
          <p:cNvSpPr/>
          <p:nvPr/>
        </p:nvSpPr>
        <p:spPr>
          <a:xfrm>
            <a:off x="411480" y="1051560"/>
            <a:ext cx="8321100" cy="3660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g3d0fd7db1ee_7_0"/>
          <p:cNvSpPr/>
          <p:nvPr/>
        </p:nvSpPr>
        <p:spPr>
          <a:xfrm>
            <a:off x="347472" y="1170432"/>
            <a:ext cx="4160400" cy="3337500"/>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3d0fd7db1ee_7_0"/>
          <p:cNvSpPr/>
          <p:nvPr/>
        </p:nvSpPr>
        <p:spPr>
          <a:xfrm>
            <a:off x="347472" y="1170432"/>
            <a:ext cx="4160400" cy="4560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d0fd7db1ee_7_0"/>
          <p:cNvSpPr/>
          <p:nvPr/>
        </p:nvSpPr>
        <p:spPr>
          <a:xfrm>
            <a:off x="512064" y="1298448"/>
            <a:ext cx="3886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lang="en-US" sz="1200">
                <a:solidFill>
                  <a:srgbClr val="13131F"/>
                </a:solidFill>
                <a:latin typeface="Calibri"/>
                <a:ea typeface="Calibri"/>
                <a:cs typeface="Calibri"/>
                <a:sym typeface="Calibri"/>
              </a:rPr>
              <a:t>What RIAs care about  </a:t>
            </a:r>
            <a:endParaRPr b="0" i="0" sz="1200" u="none" cap="none" strike="noStrike">
              <a:solidFill>
                <a:schemeClr val="dk1"/>
              </a:solidFill>
              <a:latin typeface="Calibri"/>
              <a:ea typeface="Calibri"/>
              <a:cs typeface="Calibri"/>
              <a:sym typeface="Calibri"/>
            </a:endParaRPr>
          </a:p>
        </p:txBody>
      </p:sp>
      <p:sp>
        <p:nvSpPr>
          <p:cNvPr id="499" name="Google Shape;499;g3d0fd7db1ee_7_0"/>
          <p:cNvSpPr/>
          <p:nvPr/>
        </p:nvSpPr>
        <p:spPr>
          <a:xfrm>
            <a:off x="548640" y="1682496"/>
            <a:ext cx="3840600" cy="27342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RIAs want to grow assets</a:t>
            </a:r>
            <a:endParaRPr sz="950">
              <a:solidFill>
                <a:srgbClr val="4A4A6A"/>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They want to control the client relationship </a:t>
            </a:r>
            <a:endParaRPr sz="950">
              <a:solidFill>
                <a:srgbClr val="4A4A6A"/>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They don’t want to loose assets </a:t>
            </a:r>
            <a:endParaRPr sz="950">
              <a:solidFill>
                <a:srgbClr val="4A4A6A"/>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We have to meet them where they are with existing workflows </a:t>
            </a:r>
            <a:endParaRPr sz="950">
              <a:solidFill>
                <a:srgbClr val="4A4A6A"/>
              </a:solidFill>
              <a:latin typeface="Calibri"/>
              <a:ea typeface="Calibri"/>
              <a:cs typeface="Calibri"/>
              <a:sym typeface="Calibri"/>
            </a:endParaRPr>
          </a:p>
        </p:txBody>
      </p:sp>
      <p:sp>
        <p:nvSpPr>
          <p:cNvPr id="500" name="Google Shape;500;g3d0fd7db1ee_7_0"/>
          <p:cNvSpPr/>
          <p:nvPr/>
        </p:nvSpPr>
        <p:spPr>
          <a:xfrm>
            <a:off x="4636008" y="1170432"/>
            <a:ext cx="4160400" cy="3337500"/>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g3d0fd7db1ee_7_0"/>
          <p:cNvSpPr/>
          <p:nvPr/>
        </p:nvSpPr>
        <p:spPr>
          <a:xfrm>
            <a:off x="4636008" y="1170432"/>
            <a:ext cx="4160400" cy="4560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g3d0fd7db1ee_7_0"/>
          <p:cNvSpPr/>
          <p:nvPr/>
        </p:nvSpPr>
        <p:spPr>
          <a:xfrm>
            <a:off x="4800600" y="1298448"/>
            <a:ext cx="3886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i="0" lang="en-US" sz="1200" u="none" cap="none" strike="noStrike">
                <a:solidFill>
                  <a:srgbClr val="13131F"/>
                </a:solidFill>
                <a:latin typeface="Calibri"/>
                <a:ea typeface="Calibri"/>
                <a:cs typeface="Calibri"/>
                <a:sym typeface="Calibri"/>
              </a:rPr>
              <a:t>Key RIA Considerations</a:t>
            </a:r>
            <a:endParaRPr b="0" i="0" sz="1200" u="none" cap="none" strike="noStrike">
              <a:solidFill>
                <a:schemeClr val="dk1"/>
              </a:solidFill>
              <a:latin typeface="Calibri"/>
              <a:ea typeface="Calibri"/>
              <a:cs typeface="Calibri"/>
              <a:sym typeface="Calibri"/>
            </a:endParaRPr>
          </a:p>
        </p:txBody>
      </p:sp>
      <p:sp>
        <p:nvSpPr>
          <p:cNvPr id="503" name="Google Shape;503;g3d0fd7db1ee_7_0"/>
          <p:cNvSpPr/>
          <p:nvPr/>
        </p:nvSpPr>
        <p:spPr>
          <a:xfrm>
            <a:off x="4837176" y="1682496"/>
            <a:ext cx="3840600" cy="27342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Due diligence checklist for RIA prospects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Regulatory &amp; custody questions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Model portfolios &amp; allocation frameworks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Client reporting capabilities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White-glove onboarding for RIA clients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Revenue share &amp; partner incentive structure</a:t>
            </a:r>
            <a:endParaRPr b="0" i="0" sz="950" u="none" cap="none" strike="noStrike">
              <a:solidFill>
                <a:schemeClr val="dk1"/>
              </a:solidFill>
              <a:latin typeface="Calibri"/>
              <a:ea typeface="Calibri"/>
              <a:cs typeface="Calibri"/>
              <a:sym typeface="Calibri"/>
            </a:endParaRPr>
          </a:p>
        </p:txBody>
      </p:sp>
      <p:sp>
        <p:nvSpPr>
          <p:cNvPr id="504" name="Google Shape;504;g3d0fd7db1ee_7_0"/>
          <p:cNvSpPr/>
          <p:nvPr/>
        </p:nvSpPr>
        <p:spPr>
          <a:xfrm>
            <a:off x="0" y="4873752"/>
            <a:ext cx="9144000" cy="269700"/>
          </a:xfrm>
          <a:prstGeom prst="rect">
            <a:avLst/>
          </a:prstGeom>
          <a:solidFill>
            <a:srgbClr val="E8E8F0"/>
          </a:solidFill>
          <a:ln cap="flat" cmpd="sng" w="12700">
            <a:solidFill>
              <a:srgbClr val="E8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g3d0fd7db1ee_7_0"/>
          <p:cNvSpPr/>
          <p:nvPr/>
        </p:nvSpPr>
        <p:spPr>
          <a:xfrm>
            <a:off x="365760" y="4873752"/>
            <a:ext cx="6400800" cy="26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A8"/>
              </a:buClr>
              <a:buSzPts val="800"/>
              <a:buFont typeface="Calibri"/>
              <a:buNone/>
            </a:pPr>
            <a:r>
              <a:rPr b="0" i="0" lang="en-US" sz="800" u="none" cap="none" strike="noStrike">
                <a:solidFill>
                  <a:srgbClr val="9090A8"/>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506" name="Google Shape;506;g3d0fd7db1ee_7_0"/>
          <p:cNvSpPr/>
          <p:nvPr/>
        </p:nvSpPr>
        <p:spPr>
          <a:xfrm>
            <a:off x="8229600" y="4873752"/>
            <a:ext cx="731400" cy="269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8"/>
        </a:solidFill>
      </p:bgPr>
    </p:bg>
    <p:spTree>
      <p:nvGrpSpPr>
        <p:cNvPr id="511" name="Shape 511"/>
        <p:cNvGrpSpPr/>
        <p:nvPr/>
      </p:nvGrpSpPr>
      <p:grpSpPr>
        <a:xfrm>
          <a:off x="0" y="0"/>
          <a:ext cx="0" cy="0"/>
          <a:chOff x="0" y="0"/>
          <a:chExt cx="0" cy="0"/>
        </a:xfrm>
      </p:grpSpPr>
      <p:sp>
        <p:nvSpPr>
          <p:cNvPr id="512" name="Google Shape;512;g3d0fd7db1ee_7_74"/>
          <p:cNvSpPr/>
          <p:nvPr/>
        </p:nvSpPr>
        <p:spPr>
          <a:xfrm>
            <a:off x="411480" y="256032"/>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3000"/>
              <a:buFont typeface="Trebuchet MS"/>
              <a:buNone/>
            </a:pPr>
            <a:r>
              <a:rPr b="1" i="0" lang="en-US" sz="3000" u="none" cap="none" strike="noStrike">
                <a:solidFill>
                  <a:srgbClr val="13131F"/>
                </a:solidFill>
                <a:latin typeface="Trebuchet MS"/>
                <a:ea typeface="Trebuchet MS"/>
                <a:cs typeface="Trebuchet MS"/>
                <a:sym typeface="Trebuchet MS"/>
              </a:rPr>
              <a:t>RIA Discussion</a:t>
            </a:r>
            <a:endParaRPr b="0" i="0" sz="3000" u="none" cap="none" strike="noStrike">
              <a:solidFill>
                <a:schemeClr val="dk1"/>
              </a:solidFill>
              <a:latin typeface="Calibri"/>
              <a:ea typeface="Calibri"/>
              <a:cs typeface="Calibri"/>
              <a:sym typeface="Calibri"/>
            </a:endParaRPr>
          </a:p>
        </p:txBody>
      </p:sp>
      <p:sp>
        <p:nvSpPr>
          <p:cNvPr id="513" name="Google Shape;513;g3d0fd7db1ee_7_74"/>
          <p:cNvSpPr/>
          <p:nvPr/>
        </p:nvSpPr>
        <p:spPr>
          <a:xfrm>
            <a:off x="411480" y="777240"/>
            <a:ext cx="83211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1200"/>
              <a:buFont typeface="Calibri"/>
              <a:buNone/>
            </a:pPr>
            <a:r>
              <a:rPr b="0" i="1" lang="en-US" sz="1200" u="none" cap="none" strike="noStrike">
                <a:solidFill>
                  <a:srgbClr val="4A4A6A"/>
                </a:solidFill>
                <a:latin typeface="Calibri"/>
                <a:ea typeface="Calibri"/>
                <a:cs typeface="Calibri"/>
                <a:sym typeface="Calibri"/>
              </a:rPr>
              <a:t>Day 2  ·  March 20  ·  9:00 AM – 12:00 PM  ·  Celisa Morin + Bill, Deepak, Adarsh</a:t>
            </a:r>
            <a:endParaRPr b="0" i="0" sz="1200" u="none" cap="none" strike="noStrike">
              <a:solidFill>
                <a:schemeClr val="dk1"/>
              </a:solidFill>
              <a:latin typeface="Calibri"/>
              <a:ea typeface="Calibri"/>
              <a:cs typeface="Calibri"/>
              <a:sym typeface="Calibri"/>
            </a:endParaRPr>
          </a:p>
        </p:txBody>
      </p:sp>
      <p:sp>
        <p:nvSpPr>
          <p:cNvPr id="514" name="Google Shape;514;g3d0fd7db1ee_7_74"/>
          <p:cNvSpPr/>
          <p:nvPr/>
        </p:nvSpPr>
        <p:spPr>
          <a:xfrm>
            <a:off x="411480" y="1051560"/>
            <a:ext cx="8321100" cy="3660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g3d0fd7db1ee_7_74"/>
          <p:cNvSpPr/>
          <p:nvPr/>
        </p:nvSpPr>
        <p:spPr>
          <a:xfrm>
            <a:off x="347472" y="1170432"/>
            <a:ext cx="4160400" cy="3337500"/>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g3d0fd7db1ee_7_74"/>
          <p:cNvSpPr/>
          <p:nvPr/>
        </p:nvSpPr>
        <p:spPr>
          <a:xfrm>
            <a:off x="347472" y="1170432"/>
            <a:ext cx="4160400" cy="4560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g3d0fd7db1ee_7_74"/>
          <p:cNvSpPr/>
          <p:nvPr/>
        </p:nvSpPr>
        <p:spPr>
          <a:xfrm>
            <a:off x="512064" y="1298448"/>
            <a:ext cx="3886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i="0" lang="en-US" sz="1200" u="none" cap="none" strike="noStrike">
                <a:solidFill>
                  <a:srgbClr val="13131F"/>
                </a:solidFill>
                <a:latin typeface="Calibri"/>
                <a:ea typeface="Calibri"/>
                <a:cs typeface="Calibri"/>
                <a:sym typeface="Calibri"/>
              </a:rPr>
              <a:t>Crypto as a Service - </a:t>
            </a:r>
            <a:r>
              <a:rPr b="1" lang="en-US" sz="1200">
                <a:solidFill>
                  <a:srgbClr val="13131F"/>
                </a:solidFill>
                <a:latin typeface="Calibri"/>
                <a:ea typeface="Calibri"/>
                <a:cs typeface="Calibri"/>
                <a:sym typeface="Calibri"/>
              </a:rPr>
              <a:t>Infrastructure</a:t>
            </a:r>
            <a:r>
              <a:rPr b="1" i="0" lang="en-US" sz="1200" u="none" cap="none" strike="noStrike">
                <a:solidFill>
                  <a:srgbClr val="13131F"/>
                </a:solidFill>
                <a:latin typeface="Calibri"/>
                <a:ea typeface="Calibri"/>
                <a:cs typeface="Calibri"/>
                <a:sym typeface="Calibri"/>
              </a:rPr>
              <a:t> S</a:t>
            </a:r>
            <a:r>
              <a:rPr b="1" lang="en-US" sz="1200">
                <a:solidFill>
                  <a:srgbClr val="13131F"/>
                </a:solidFill>
                <a:latin typeface="Calibri"/>
                <a:ea typeface="Calibri"/>
                <a:cs typeface="Calibri"/>
                <a:sym typeface="Calibri"/>
              </a:rPr>
              <a:t>olution </a:t>
            </a:r>
            <a:endParaRPr b="0" i="0" sz="1200" u="none" cap="none" strike="noStrike">
              <a:solidFill>
                <a:schemeClr val="dk1"/>
              </a:solidFill>
              <a:latin typeface="Calibri"/>
              <a:ea typeface="Calibri"/>
              <a:cs typeface="Calibri"/>
              <a:sym typeface="Calibri"/>
            </a:endParaRPr>
          </a:p>
        </p:txBody>
      </p:sp>
      <p:sp>
        <p:nvSpPr>
          <p:cNvPr id="518" name="Google Shape;518;g3d0fd7db1ee_7_74"/>
          <p:cNvSpPr/>
          <p:nvPr/>
        </p:nvSpPr>
        <p:spPr>
          <a:xfrm>
            <a:off x="548640" y="1682496"/>
            <a:ext cx="3840600" cy="27342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Focus on Infrastructure solution Crypto as a Service approach </a:t>
            </a:r>
            <a:endParaRPr sz="950">
              <a:solidFill>
                <a:srgbClr val="4A4A6A"/>
              </a:solidFill>
              <a:latin typeface="Calibri"/>
              <a:ea typeface="Calibri"/>
              <a:cs typeface="Calibri"/>
              <a:sym typeface="Calibri"/>
            </a:endParaRPr>
          </a:p>
          <a:p>
            <a:pPr indent="0" lvl="0" marL="0" marR="0" rtl="0" algn="l">
              <a:spcBef>
                <a:spcPts val="0"/>
              </a:spcBef>
              <a:spcAft>
                <a:spcPts val="0"/>
              </a:spcAft>
              <a:buNone/>
            </a:pPr>
            <a:r>
              <a:t/>
            </a:r>
            <a:endParaRPr sz="950">
              <a:solidFill>
                <a:srgbClr val="4A4A6A"/>
              </a:solidFill>
              <a:latin typeface="Calibri"/>
              <a:ea typeface="Calibri"/>
              <a:cs typeface="Calibri"/>
              <a:sym typeface="Calibri"/>
            </a:endParaRPr>
          </a:p>
          <a:p>
            <a:pPr indent="-342900" lvl="0" marL="342900" marR="0" rtl="0" algn="l">
              <a:spcBef>
                <a:spcPts val="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PRO: Technology based solution - still requires selling to RIAs but less reliant on existing reporting platform timelines</a:t>
            </a:r>
            <a:endParaRPr sz="950">
              <a:solidFill>
                <a:srgbClr val="4A4A6A"/>
              </a:solidFill>
              <a:latin typeface="Calibri"/>
              <a:ea typeface="Calibri"/>
              <a:cs typeface="Calibri"/>
              <a:sym typeface="Calibri"/>
            </a:endParaRPr>
          </a:p>
          <a:p>
            <a:pPr indent="0" lvl="0" marL="457200" marR="0" rtl="0" algn="l">
              <a:spcBef>
                <a:spcPts val="0"/>
              </a:spcBef>
              <a:spcAft>
                <a:spcPts val="0"/>
              </a:spcAft>
              <a:buNone/>
            </a:pPr>
            <a:r>
              <a:t/>
            </a:r>
            <a:endParaRPr sz="950">
              <a:solidFill>
                <a:srgbClr val="4A4A6A"/>
              </a:solidFill>
              <a:latin typeface="Calibri"/>
              <a:ea typeface="Calibri"/>
              <a:cs typeface="Calibri"/>
              <a:sym typeface="Calibri"/>
            </a:endParaRPr>
          </a:p>
          <a:p>
            <a:pPr indent="-342900" lvl="0" marL="342900" marR="0" rtl="0" algn="l">
              <a:spcBef>
                <a:spcPts val="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CONS: Coinbase, Kraken and Bitgo </a:t>
            </a:r>
            <a:r>
              <a:rPr lang="en-US" sz="950">
                <a:solidFill>
                  <a:srgbClr val="4A4A6A"/>
                </a:solidFill>
                <a:latin typeface="Calibri"/>
                <a:ea typeface="Calibri"/>
                <a:cs typeface="Calibri"/>
                <a:sym typeface="Calibri"/>
              </a:rPr>
              <a:t>already</a:t>
            </a:r>
            <a:r>
              <a:rPr lang="en-US" sz="950">
                <a:solidFill>
                  <a:srgbClr val="4A4A6A"/>
                </a:solidFill>
                <a:latin typeface="Calibri"/>
                <a:ea typeface="Calibri"/>
                <a:cs typeface="Calibri"/>
                <a:sym typeface="Calibri"/>
              </a:rPr>
              <a:t> have this and are going after large banks  </a:t>
            </a:r>
            <a:endParaRPr sz="950">
              <a:solidFill>
                <a:srgbClr val="4A4A6A"/>
              </a:solidFill>
              <a:latin typeface="Calibri"/>
              <a:ea typeface="Calibri"/>
              <a:cs typeface="Calibri"/>
              <a:sym typeface="Calibri"/>
            </a:endParaRPr>
          </a:p>
          <a:p>
            <a:pPr indent="0" lvl="0" marL="457200" marR="0" rtl="0" algn="l">
              <a:spcBef>
                <a:spcPts val="0"/>
              </a:spcBef>
              <a:spcAft>
                <a:spcPts val="0"/>
              </a:spcAft>
              <a:buNone/>
            </a:pPr>
            <a:r>
              <a:t/>
            </a:r>
            <a:endParaRPr sz="950">
              <a:solidFill>
                <a:srgbClr val="4A4A6A"/>
              </a:solidFill>
              <a:latin typeface="Calibri"/>
              <a:ea typeface="Calibri"/>
              <a:cs typeface="Calibri"/>
              <a:sym typeface="Calibri"/>
            </a:endParaRPr>
          </a:p>
          <a:p>
            <a:pPr indent="0" lvl="0" marL="457200" marR="0" rtl="0" algn="l">
              <a:spcBef>
                <a:spcPts val="0"/>
              </a:spcBef>
              <a:spcAft>
                <a:spcPts val="0"/>
              </a:spcAft>
              <a:buNone/>
            </a:pPr>
            <a:r>
              <a:t/>
            </a:r>
            <a:endParaRPr sz="950">
              <a:solidFill>
                <a:srgbClr val="4A4A6A"/>
              </a:solidFill>
              <a:latin typeface="Calibri"/>
              <a:ea typeface="Calibri"/>
              <a:cs typeface="Calibri"/>
              <a:sym typeface="Calibri"/>
            </a:endParaRPr>
          </a:p>
          <a:p>
            <a:pPr indent="-342900" lvl="0" marL="342900" marR="0" rtl="0" algn="l">
              <a:spcBef>
                <a:spcPts val="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Focus on small regional banks and advisors? </a:t>
            </a:r>
            <a:endParaRPr sz="950">
              <a:solidFill>
                <a:srgbClr val="4A4A6A"/>
              </a:solidFill>
              <a:latin typeface="Calibri"/>
              <a:ea typeface="Calibri"/>
              <a:cs typeface="Calibri"/>
              <a:sym typeface="Calibri"/>
            </a:endParaRPr>
          </a:p>
          <a:p>
            <a:pPr indent="0" lvl="0" marL="0" marR="0" rtl="0" algn="l">
              <a:spcBef>
                <a:spcPts val="0"/>
              </a:spcBef>
              <a:spcAft>
                <a:spcPts val="0"/>
              </a:spcAft>
              <a:buNone/>
            </a:pPr>
            <a:r>
              <a:t/>
            </a:r>
            <a:endParaRPr b="0" i="0" sz="950" u="none" cap="none" strike="noStrike">
              <a:solidFill>
                <a:schemeClr val="dk1"/>
              </a:solidFill>
              <a:latin typeface="Calibri"/>
              <a:ea typeface="Calibri"/>
              <a:cs typeface="Calibri"/>
              <a:sym typeface="Calibri"/>
            </a:endParaRPr>
          </a:p>
          <a:p>
            <a:pPr indent="0" lvl="0" marL="0" marR="0" rtl="0" algn="l">
              <a:spcBef>
                <a:spcPts val="400"/>
              </a:spcBef>
              <a:spcAft>
                <a:spcPts val="0"/>
              </a:spcAft>
              <a:buNone/>
            </a:pPr>
            <a:r>
              <a:t/>
            </a:r>
            <a:endParaRPr b="0" i="0" sz="950" u="none" cap="none" strike="noStrike">
              <a:solidFill>
                <a:schemeClr val="dk1"/>
              </a:solidFill>
              <a:latin typeface="Calibri"/>
              <a:ea typeface="Calibri"/>
              <a:cs typeface="Calibri"/>
              <a:sym typeface="Calibri"/>
            </a:endParaRPr>
          </a:p>
          <a:p>
            <a:pPr indent="0" lvl="0" marL="457200" marR="0" rtl="0" algn="l">
              <a:spcBef>
                <a:spcPts val="400"/>
              </a:spcBef>
              <a:spcAft>
                <a:spcPts val="0"/>
              </a:spcAft>
              <a:buNone/>
            </a:pPr>
            <a:r>
              <a:t/>
            </a:r>
            <a:endParaRPr b="0" i="0" sz="950" u="none" cap="none" strike="noStrike">
              <a:solidFill>
                <a:schemeClr val="dk1"/>
              </a:solidFill>
              <a:latin typeface="Calibri"/>
              <a:ea typeface="Calibri"/>
              <a:cs typeface="Calibri"/>
              <a:sym typeface="Calibri"/>
            </a:endParaRPr>
          </a:p>
        </p:txBody>
      </p:sp>
      <p:sp>
        <p:nvSpPr>
          <p:cNvPr id="519" name="Google Shape;519;g3d0fd7db1ee_7_74"/>
          <p:cNvSpPr/>
          <p:nvPr/>
        </p:nvSpPr>
        <p:spPr>
          <a:xfrm>
            <a:off x="4636008" y="1170432"/>
            <a:ext cx="4160400" cy="3337500"/>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g3d0fd7db1ee_7_74"/>
          <p:cNvSpPr/>
          <p:nvPr/>
        </p:nvSpPr>
        <p:spPr>
          <a:xfrm>
            <a:off x="4636008" y="1170432"/>
            <a:ext cx="4160400" cy="4560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g3d0fd7db1ee_7_74"/>
          <p:cNvSpPr/>
          <p:nvPr/>
        </p:nvSpPr>
        <p:spPr>
          <a:xfrm>
            <a:off x="4800600" y="1298448"/>
            <a:ext cx="3886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lang="en-US" sz="1200">
                <a:solidFill>
                  <a:srgbClr val="13131F"/>
                </a:solidFill>
                <a:latin typeface="Calibri"/>
                <a:ea typeface="Calibri"/>
                <a:cs typeface="Calibri"/>
                <a:sym typeface="Calibri"/>
              </a:rPr>
              <a:t>Integrate with Reporting Platforms </a:t>
            </a:r>
            <a:endParaRPr b="0" i="0" sz="1200" u="none" cap="none" strike="noStrike">
              <a:solidFill>
                <a:schemeClr val="dk1"/>
              </a:solidFill>
              <a:latin typeface="Calibri"/>
              <a:ea typeface="Calibri"/>
              <a:cs typeface="Calibri"/>
              <a:sym typeface="Calibri"/>
            </a:endParaRPr>
          </a:p>
        </p:txBody>
      </p:sp>
      <p:sp>
        <p:nvSpPr>
          <p:cNvPr id="522" name="Google Shape;522;g3d0fd7db1ee_7_74"/>
          <p:cNvSpPr/>
          <p:nvPr/>
        </p:nvSpPr>
        <p:spPr>
          <a:xfrm>
            <a:off x="4837176" y="1682496"/>
            <a:ext cx="3840600" cy="27342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Focus on selling into RIAs and getting SMA yield products through investment committee and compliance and/or senior leadership</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6 months away from being able to start any diligence process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Go to market:</a:t>
            </a:r>
            <a:endParaRPr sz="950">
              <a:solidFill>
                <a:srgbClr val="4A4A6A"/>
              </a:solidFill>
              <a:latin typeface="Calibri"/>
              <a:ea typeface="Calibri"/>
              <a:cs typeface="Calibri"/>
              <a:sym typeface="Calibri"/>
            </a:endParaRPr>
          </a:p>
          <a:p>
            <a:pPr indent="-288925" lvl="1" marL="914400" marR="0" rtl="0" algn="l">
              <a:spcBef>
                <a:spcPts val="40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Team</a:t>
            </a:r>
            <a:endParaRPr sz="950">
              <a:solidFill>
                <a:srgbClr val="4A4A6A"/>
              </a:solidFill>
              <a:latin typeface="Calibri"/>
              <a:ea typeface="Calibri"/>
              <a:cs typeface="Calibri"/>
              <a:sym typeface="Calibri"/>
            </a:endParaRPr>
          </a:p>
          <a:p>
            <a:pPr indent="-288925" lvl="1" marL="914400" marR="0" rtl="0" algn="l">
              <a:spcBef>
                <a:spcPts val="40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Significant investment by tech team to build out transactional APIs </a:t>
            </a:r>
            <a:endParaRPr sz="950">
              <a:solidFill>
                <a:srgbClr val="4A4A6A"/>
              </a:solidFill>
              <a:latin typeface="Calibri"/>
              <a:ea typeface="Calibri"/>
              <a:cs typeface="Calibri"/>
              <a:sym typeface="Calibri"/>
            </a:endParaRPr>
          </a:p>
          <a:p>
            <a:pPr indent="-288925" lvl="1" marL="914400" marR="0" rtl="0" algn="l">
              <a:spcBef>
                <a:spcPts val="40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Scale for assets (larger strategies and with longer track record)</a:t>
            </a:r>
            <a:endParaRPr sz="950">
              <a:solidFill>
                <a:srgbClr val="4A4A6A"/>
              </a:solidFill>
              <a:latin typeface="Calibri"/>
              <a:ea typeface="Calibri"/>
              <a:cs typeface="Calibri"/>
              <a:sym typeface="Calibri"/>
            </a:endParaRPr>
          </a:p>
          <a:p>
            <a:pPr indent="-288925" lvl="1" marL="914400" marR="0" rtl="0" algn="l">
              <a:spcBef>
                <a:spcPts val="40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Trust</a:t>
            </a:r>
            <a:endParaRPr sz="950">
              <a:solidFill>
                <a:srgbClr val="4A4A6A"/>
              </a:solidFill>
              <a:latin typeface="Calibri"/>
              <a:ea typeface="Calibri"/>
              <a:cs typeface="Calibri"/>
              <a:sym typeface="Calibri"/>
            </a:endParaRPr>
          </a:p>
          <a:p>
            <a:pPr indent="-288925" lvl="1" marL="914400" marR="0" rtl="0" algn="l">
              <a:spcBef>
                <a:spcPts val="400"/>
              </a:spcBef>
              <a:spcAft>
                <a:spcPts val="0"/>
              </a:spcAft>
              <a:buClr>
                <a:srgbClr val="4A4A6A"/>
              </a:buClr>
              <a:buSzPts val="950"/>
              <a:buFont typeface="Calibri"/>
              <a:buChar char="○"/>
            </a:pPr>
            <a:r>
              <a:rPr lang="en-US" sz="950">
                <a:solidFill>
                  <a:srgbClr val="4A4A6A"/>
                </a:solidFill>
                <a:latin typeface="Calibri"/>
                <a:ea typeface="Calibri"/>
                <a:cs typeface="Calibri"/>
                <a:sym typeface="Calibri"/>
              </a:rPr>
              <a:t>Need to onboard with a major reporting platform like Orion</a:t>
            </a:r>
            <a:endParaRPr sz="950">
              <a:solidFill>
                <a:srgbClr val="4A4A6A"/>
              </a:solidFill>
              <a:latin typeface="Calibri"/>
              <a:ea typeface="Calibri"/>
              <a:cs typeface="Calibri"/>
              <a:sym typeface="Calibri"/>
            </a:endParaRPr>
          </a:p>
          <a:p>
            <a:pPr indent="0" lvl="0" marL="457200" marR="0" rtl="0" algn="l">
              <a:spcBef>
                <a:spcPts val="400"/>
              </a:spcBef>
              <a:spcAft>
                <a:spcPts val="0"/>
              </a:spcAft>
              <a:buNone/>
            </a:pPr>
            <a:r>
              <a:t/>
            </a:r>
            <a:endParaRPr b="0" i="0" sz="950" u="none" cap="none" strike="noStrike">
              <a:solidFill>
                <a:schemeClr val="dk1"/>
              </a:solidFill>
              <a:latin typeface="Calibri"/>
              <a:ea typeface="Calibri"/>
              <a:cs typeface="Calibri"/>
              <a:sym typeface="Calibri"/>
            </a:endParaRPr>
          </a:p>
        </p:txBody>
      </p:sp>
      <p:sp>
        <p:nvSpPr>
          <p:cNvPr id="523" name="Google Shape;523;g3d0fd7db1ee_7_74"/>
          <p:cNvSpPr/>
          <p:nvPr/>
        </p:nvSpPr>
        <p:spPr>
          <a:xfrm>
            <a:off x="0" y="4873752"/>
            <a:ext cx="9144000" cy="269700"/>
          </a:xfrm>
          <a:prstGeom prst="rect">
            <a:avLst/>
          </a:prstGeom>
          <a:solidFill>
            <a:srgbClr val="E8E8F0"/>
          </a:solidFill>
          <a:ln cap="flat" cmpd="sng" w="12700">
            <a:solidFill>
              <a:srgbClr val="E8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g3d0fd7db1ee_7_74"/>
          <p:cNvSpPr/>
          <p:nvPr/>
        </p:nvSpPr>
        <p:spPr>
          <a:xfrm>
            <a:off x="365760" y="4873752"/>
            <a:ext cx="6400800" cy="26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A8"/>
              </a:buClr>
              <a:buSzPts val="800"/>
              <a:buFont typeface="Calibri"/>
              <a:buNone/>
            </a:pPr>
            <a:r>
              <a:rPr b="0" i="0" lang="en-US" sz="800" u="none" cap="none" strike="noStrike">
                <a:solidFill>
                  <a:srgbClr val="9090A8"/>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525" name="Google Shape;525;g3d0fd7db1ee_7_74"/>
          <p:cNvSpPr/>
          <p:nvPr/>
        </p:nvSpPr>
        <p:spPr>
          <a:xfrm>
            <a:off x="8229600" y="4873752"/>
            <a:ext cx="731400" cy="269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8"/>
        </a:solidFill>
      </p:bgPr>
    </p:bg>
    <p:spTree>
      <p:nvGrpSpPr>
        <p:cNvPr id="530" name="Shape 530"/>
        <p:cNvGrpSpPr/>
        <p:nvPr/>
      </p:nvGrpSpPr>
      <p:grpSpPr>
        <a:xfrm>
          <a:off x="0" y="0"/>
          <a:ext cx="0" cy="0"/>
          <a:chOff x="0" y="0"/>
          <a:chExt cx="0" cy="0"/>
        </a:xfrm>
      </p:grpSpPr>
      <p:sp>
        <p:nvSpPr>
          <p:cNvPr id="531" name="Google Shape;531;p13"/>
          <p:cNvSpPr/>
          <p:nvPr/>
        </p:nvSpPr>
        <p:spPr>
          <a:xfrm>
            <a:off x="411480" y="256032"/>
            <a:ext cx="8321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3000"/>
              <a:buFont typeface="Trebuchet MS"/>
              <a:buNone/>
            </a:pPr>
            <a:r>
              <a:rPr b="1" i="0" lang="en-US" sz="3000" u="none" cap="none" strike="noStrike">
                <a:solidFill>
                  <a:srgbClr val="13131F"/>
                </a:solidFill>
                <a:latin typeface="Trebuchet MS"/>
                <a:ea typeface="Trebuchet MS"/>
                <a:cs typeface="Trebuchet MS"/>
                <a:sym typeface="Trebuchet MS"/>
              </a:rPr>
              <a:t>2026 Sales Pipeline &amp; Strategy</a:t>
            </a:r>
            <a:endParaRPr b="0" i="0" sz="3000" u="none" cap="none" strike="noStrike">
              <a:solidFill>
                <a:schemeClr val="dk1"/>
              </a:solidFill>
              <a:latin typeface="Calibri"/>
              <a:ea typeface="Calibri"/>
              <a:cs typeface="Calibri"/>
              <a:sym typeface="Calibri"/>
            </a:endParaRPr>
          </a:p>
        </p:txBody>
      </p:sp>
      <p:sp>
        <p:nvSpPr>
          <p:cNvPr id="532" name="Google Shape;532;p13"/>
          <p:cNvSpPr/>
          <p:nvPr/>
        </p:nvSpPr>
        <p:spPr>
          <a:xfrm>
            <a:off x="411480" y="777240"/>
            <a:ext cx="8321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1200"/>
              <a:buFont typeface="Calibri"/>
              <a:buNone/>
            </a:pPr>
            <a:r>
              <a:rPr b="0" i="1" lang="en-US" sz="1200" u="none" cap="none" strike="noStrike">
                <a:solidFill>
                  <a:srgbClr val="4A4A6A"/>
                </a:solidFill>
                <a:latin typeface="Calibri"/>
                <a:ea typeface="Calibri"/>
                <a:cs typeface="Calibri"/>
                <a:sym typeface="Calibri"/>
              </a:rPr>
              <a:t>Day 2  ·  12:30 PM – End  ·  Lief joins</a:t>
            </a:r>
            <a:endParaRPr b="0" i="0" sz="1200" u="none" cap="none" strike="noStrike">
              <a:solidFill>
                <a:schemeClr val="dk1"/>
              </a:solidFill>
              <a:latin typeface="Calibri"/>
              <a:ea typeface="Calibri"/>
              <a:cs typeface="Calibri"/>
              <a:sym typeface="Calibri"/>
            </a:endParaRPr>
          </a:p>
        </p:txBody>
      </p:sp>
      <p:sp>
        <p:nvSpPr>
          <p:cNvPr id="533" name="Google Shape;533;p13"/>
          <p:cNvSpPr/>
          <p:nvPr/>
        </p:nvSpPr>
        <p:spPr>
          <a:xfrm>
            <a:off x="411480" y="1051560"/>
            <a:ext cx="832104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3"/>
          <p:cNvSpPr/>
          <p:nvPr/>
        </p:nvSpPr>
        <p:spPr>
          <a:xfrm>
            <a:off x="347472" y="1170432"/>
            <a:ext cx="4160520" cy="3493008"/>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3"/>
          <p:cNvSpPr/>
          <p:nvPr/>
        </p:nvSpPr>
        <p:spPr>
          <a:xfrm>
            <a:off x="347472" y="1170432"/>
            <a:ext cx="416052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3"/>
          <p:cNvSpPr/>
          <p:nvPr/>
        </p:nvSpPr>
        <p:spPr>
          <a:xfrm>
            <a:off x="512064" y="1298448"/>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i="0" lang="en-US" sz="1200" u="none" cap="none" strike="noStrike">
                <a:solidFill>
                  <a:srgbClr val="13131F"/>
                </a:solidFill>
                <a:latin typeface="Calibri"/>
                <a:ea typeface="Calibri"/>
                <a:cs typeface="Calibri"/>
                <a:sym typeface="Calibri"/>
              </a:rPr>
              <a:t>Pipeline Review  (Marissa)</a:t>
            </a:r>
            <a:endParaRPr b="0" i="0" sz="1200" u="none" cap="none" strike="noStrike">
              <a:solidFill>
                <a:schemeClr val="dk1"/>
              </a:solidFill>
              <a:latin typeface="Calibri"/>
              <a:ea typeface="Calibri"/>
              <a:cs typeface="Calibri"/>
              <a:sym typeface="Calibri"/>
            </a:endParaRPr>
          </a:p>
        </p:txBody>
      </p:sp>
      <p:sp>
        <p:nvSpPr>
          <p:cNvPr id="537" name="Google Shape;537;p13"/>
          <p:cNvSpPr/>
          <p:nvPr/>
        </p:nvSpPr>
        <p:spPr>
          <a:xfrm>
            <a:off x="548640" y="1682496"/>
            <a:ext cx="3840480" cy="2889504"/>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2026 sales targets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Current pipeline status &amp; deal stages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Conversion rates &amp; deal velocity</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Priority accounts &amp; ICP profiles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Forecasting &amp; tracking methodology</a:t>
            </a:r>
            <a:endParaRPr b="0" i="0" sz="950" u="none" cap="none" strike="noStrike">
              <a:solidFill>
                <a:schemeClr val="dk1"/>
              </a:solidFill>
              <a:latin typeface="Calibri"/>
              <a:ea typeface="Calibri"/>
              <a:cs typeface="Calibri"/>
              <a:sym typeface="Calibri"/>
            </a:endParaRPr>
          </a:p>
        </p:txBody>
      </p:sp>
      <p:sp>
        <p:nvSpPr>
          <p:cNvPr id="538" name="Google Shape;538;p13"/>
          <p:cNvSpPr/>
          <p:nvPr/>
        </p:nvSpPr>
        <p:spPr>
          <a:xfrm>
            <a:off x="4636008" y="1170432"/>
            <a:ext cx="4160520" cy="1664208"/>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3"/>
          <p:cNvSpPr/>
          <p:nvPr/>
        </p:nvSpPr>
        <p:spPr>
          <a:xfrm>
            <a:off x="4636008" y="1170432"/>
            <a:ext cx="416052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3"/>
          <p:cNvSpPr/>
          <p:nvPr/>
        </p:nvSpPr>
        <p:spPr>
          <a:xfrm>
            <a:off x="4800600" y="1298448"/>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i="0" lang="en-US" sz="1200" u="none" cap="none" strike="noStrike">
                <a:solidFill>
                  <a:srgbClr val="13131F"/>
                </a:solidFill>
                <a:latin typeface="Calibri"/>
                <a:ea typeface="Calibri"/>
                <a:cs typeface="Calibri"/>
                <a:sym typeface="Calibri"/>
              </a:rPr>
              <a:t>Lead Generation</a:t>
            </a:r>
            <a:endParaRPr b="0" i="0" sz="1200" u="none" cap="none" strike="noStrike">
              <a:solidFill>
                <a:schemeClr val="dk1"/>
              </a:solidFill>
              <a:latin typeface="Calibri"/>
              <a:ea typeface="Calibri"/>
              <a:cs typeface="Calibri"/>
              <a:sym typeface="Calibri"/>
            </a:endParaRPr>
          </a:p>
        </p:txBody>
      </p:sp>
      <p:sp>
        <p:nvSpPr>
          <p:cNvPr id="541" name="Google Shape;541;p13"/>
          <p:cNvSpPr/>
          <p:nvPr/>
        </p:nvSpPr>
        <p:spPr>
          <a:xfrm>
            <a:off x="4837176" y="1682496"/>
            <a:ext cx="3840480" cy="1060704"/>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Where leads will come from</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Inbound vs. outbound mix</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Podcast &amp; media channel strategy</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Partner &amp; referral channels</a:t>
            </a:r>
            <a:endParaRPr b="0" i="0" sz="950" u="none" cap="none" strike="noStrike">
              <a:solidFill>
                <a:schemeClr val="dk1"/>
              </a:solidFill>
              <a:latin typeface="Calibri"/>
              <a:ea typeface="Calibri"/>
              <a:cs typeface="Calibri"/>
              <a:sym typeface="Calibri"/>
            </a:endParaRPr>
          </a:p>
        </p:txBody>
      </p:sp>
      <p:sp>
        <p:nvSpPr>
          <p:cNvPr id="542" name="Google Shape;542;p13"/>
          <p:cNvSpPr/>
          <p:nvPr/>
        </p:nvSpPr>
        <p:spPr>
          <a:xfrm>
            <a:off x="4636008" y="2926080"/>
            <a:ext cx="4160520" cy="1737360"/>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3"/>
          <p:cNvSpPr/>
          <p:nvPr/>
        </p:nvSpPr>
        <p:spPr>
          <a:xfrm>
            <a:off x="4636008" y="2926080"/>
            <a:ext cx="4160520" cy="4572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3"/>
          <p:cNvSpPr/>
          <p:nvPr/>
        </p:nvSpPr>
        <p:spPr>
          <a:xfrm>
            <a:off x="4800600" y="3054096"/>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i="0" lang="en-US" sz="1200" u="none" cap="none" strike="noStrike">
                <a:solidFill>
                  <a:srgbClr val="13131F"/>
                </a:solidFill>
                <a:latin typeface="Calibri"/>
                <a:ea typeface="Calibri"/>
                <a:cs typeface="Calibri"/>
                <a:sym typeface="Calibri"/>
              </a:rPr>
              <a:t>Sales Enablement &amp; Events</a:t>
            </a:r>
            <a:endParaRPr b="0" i="0" sz="1200" u="none" cap="none" strike="noStrike">
              <a:solidFill>
                <a:schemeClr val="dk1"/>
              </a:solidFill>
              <a:latin typeface="Calibri"/>
              <a:ea typeface="Calibri"/>
              <a:cs typeface="Calibri"/>
              <a:sym typeface="Calibri"/>
            </a:endParaRPr>
          </a:p>
        </p:txBody>
      </p:sp>
      <p:sp>
        <p:nvSpPr>
          <p:cNvPr id="545" name="Google Shape;545;p13"/>
          <p:cNvSpPr/>
          <p:nvPr/>
        </p:nvSpPr>
        <p:spPr>
          <a:xfrm>
            <a:off x="4837176" y="3438144"/>
            <a:ext cx="3840480" cy="1133856"/>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Sales collateral needed to support the team</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Pitch decks, one-pagers, objection guides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Events calendar for rest of 2026</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4A4A6A"/>
              </a:buClr>
              <a:buSzPts val="950"/>
              <a:buFont typeface="Calibri"/>
              <a:buChar char="•"/>
            </a:pPr>
            <a:r>
              <a:rPr b="0" i="0" lang="en-US" sz="950" u="none" cap="none" strike="noStrike">
                <a:solidFill>
                  <a:srgbClr val="4A4A6A"/>
                </a:solidFill>
                <a:latin typeface="Calibri"/>
                <a:ea typeface="Calibri"/>
                <a:cs typeface="Calibri"/>
                <a:sym typeface="Calibri"/>
              </a:rPr>
              <a:t>Conference &amp; networking priorities</a:t>
            </a:r>
            <a:endParaRPr b="0" i="0" sz="950" u="none" cap="none" strike="noStrike">
              <a:solidFill>
                <a:schemeClr val="dk1"/>
              </a:solidFill>
              <a:latin typeface="Calibri"/>
              <a:ea typeface="Calibri"/>
              <a:cs typeface="Calibri"/>
              <a:sym typeface="Calibri"/>
            </a:endParaRPr>
          </a:p>
        </p:txBody>
      </p:sp>
      <p:sp>
        <p:nvSpPr>
          <p:cNvPr id="546" name="Google Shape;546;p13"/>
          <p:cNvSpPr/>
          <p:nvPr/>
        </p:nvSpPr>
        <p:spPr>
          <a:xfrm>
            <a:off x="0" y="4873752"/>
            <a:ext cx="9144000" cy="269748"/>
          </a:xfrm>
          <a:prstGeom prst="rect">
            <a:avLst/>
          </a:prstGeom>
          <a:solidFill>
            <a:srgbClr val="E8E8F0"/>
          </a:solidFill>
          <a:ln cap="flat" cmpd="sng" w="12700">
            <a:solidFill>
              <a:srgbClr val="E8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3"/>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A8"/>
              </a:buClr>
              <a:buSzPts val="800"/>
              <a:buFont typeface="Calibri"/>
              <a:buNone/>
            </a:pPr>
            <a:r>
              <a:rPr b="0" i="0" lang="en-US" sz="800" u="none" cap="none" strike="noStrike">
                <a:solidFill>
                  <a:srgbClr val="9090A8"/>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548" name="Google Shape;548;p13"/>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131F"/>
        </a:solidFill>
      </p:bgPr>
    </p:bg>
    <p:spTree>
      <p:nvGrpSpPr>
        <p:cNvPr id="553" name="Shape 553"/>
        <p:cNvGrpSpPr/>
        <p:nvPr/>
      </p:nvGrpSpPr>
      <p:grpSpPr>
        <a:xfrm>
          <a:off x="0" y="0"/>
          <a:ext cx="0" cy="0"/>
          <a:chOff x="0" y="0"/>
          <a:chExt cx="0" cy="0"/>
        </a:xfrm>
      </p:grpSpPr>
      <p:sp>
        <p:nvSpPr>
          <p:cNvPr id="554" name="Google Shape;554;p14"/>
          <p:cNvSpPr/>
          <p:nvPr/>
        </p:nvSpPr>
        <p:spPr>
          <a:xfrm>
            <a:off x="7772400" y="-1097280"/>
            <a:ext cx="4389120" cy="438912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4"/>
          <p:cNvSpPr/>
          <p:nvPr/>
        </p:nvSpPr>
        <p:spPr>
          <a:xfrm>
            <a:off x="8138160" y="-640080"/>
            <a:ext cx="3566160" cy="356616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4"/>
          <p:cNvSpPr/>
          <p:nvPr/>
        </p:nvSpPr>
        <p:spPr>
          <a:xfrm>
            <a:off x="8503920" y="-182880"/>
            <a:ext cx="2743200" cy="274320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4"/>
          <p:cNvSpPr/>
          <p:nvPr/>
        </p:nvSpPr>
        <p:spPr>
          <a:xfrm>
            <a:off x="411480" y="164592"/>
            <a:ext cx="1645920" cy="246888"/>
          </a:xfrm>
          <a:prstGeom prst="rect">
            <a:avLst/>
          </a:prstGeom>
          <a:solidFill>
            <a:srgbClr val="EDE7FC"/>
          </a:solidFill>
          <a:ln cap="flat" cmpd="sng" w="9525">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4"/>
          <p:cNvSpPr/>
          <p:nvPr/>
        </p:nvSpPr>
        <p:spPr>
          <a:xfrm>
            <a:off x="411480" y="164592"/>
            <a:ext cx="164592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2DB8"/>
              </a:buClr>
              <a:buSzPts val="800"/>
              <a:buFont typeface="Calibri"/>
              <a:buNone/>
            </a:pPr>
            <a:r>
              <a:rPr b="1" i="0" lang="en-US" sz="800" u="none" cap="none" strike="noStrike">
                <a:solidFill>
                  <a:srgbClr val="5C2DB8"/>
                </a:solidFill>
                <a:latin typeface="Calibri"/>
                <a:ea typeface="Calibri"/>
                <a:cs typeface="Calibri"/>
                <a:sym typeface="Calibri"/>
              </a:rPr>
              <a:t>SUCCESS METRICS</a:t>
            </a:r>
            <a:endParaRPr b="0" i="0" sz="800" u="none" cap="none" strike="noStrike">
              <a:solidFill>
                <a:schemeClr val="dk1"/>
              </a:solidFill>
              <a:latin typeface="Calibri"/>
              <a:ea typeface="Calibri"/>
              <a:cs typeface="Calibri"/>
              <a:sym typeface="Calibri"/>
            </a:endParaRPr>
          </a:p>
        </p:txBody>
      </p:sp>
      <p:sp>
        <p:nvSpPr>
          <p:cNvPr id="559" name="Google Shape;559;p14"/>
          <p:cNvSpPr/>
          <p:nvPr/>
        </p:nvSpPr>
        <p:spPr>
          <a:xfrm>
            <a:off x="411480" y="502920"/>
            <a:ext cx="82296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90-Day &amp; 6-Month Targets</a:t>
            </a:r>
            <a:endParaRPr b="0" i="0" sz="3000" u="none" cap="none" strike="noStrike">
              <a:solidFill>
                <a:schemeClr val="dk1"/>
              </a:solidFill>
              <a:latin typeface="Calibri"/>
              <a:ea typeface="Calibri"/>
              <a:cs typeface="Calibri"/>
              <a:sym typeface="Calibri"/>
            </a:endParaRPr>
          </a:p>
        </p:txBody>
      </p:sp>
      <p:sp>
        <p:nvSpPr>
          <p:cNvPr id="560" name="Google Shape;560;p14"/>
          <p:cNvSpPr/>
          <p:nvPr/>
        </p:nvSpPr>
        <p:spPr>
          <a:xfrm>
            <a:off x="411480" y="1005840"/>
            <a:ext cx="8321040" cy="3657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4"/>
          <p:cNvSpPr/>
          <p:nvPr/>
        </p:nvSpPr>
        <p:spPr>
          <a:xfrm>
            <a:off x="347472" y="1143000"/>
            <a:ext cx="4389120" cy="31089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4"/>
          <p:cNvSpPr/>
          <p:nvPr/>
        </p:nvSpPr>
        <p:spPr>
          <a:xfrm>
            <a:off x="347472" y="1143000"/>
            <a:ext cx="43891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Metric</a:t>
            </a:r>
            <a:endParaRPr b="0" i="0" sz="1000" u="none" cap="none" strike="noStrike">
              <a:solidFill>
                <a:schemeClr val="dk1"/>
              </a:solidFill>
              <a:latin typeface="Calibri"/>
              <a:ea typeface="Calibri"/>
              <a:cs typeface="Calibri"/>
              <a:sym typeface="Calibri"/>
            </a:endParaRPr>
          </a:p>
        </p:txBody>
      </p:sp>
      <p:sp>
        <p:nvSpPr>
          <p:cNvPr id="563" name="Google Shape;563;p14"/>
          <p:cNvSpPr/>
          <p:nvPr/>
        </p:nvSpPr>
        <p:spPr>
          <a:xfrm>
            <a:off x="4919472" y="1143000"/>
            <a:ext cx="2011680" cy="31089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4"/>
          <p:cNvSpPr/>
          <p:nvPr/>
        </p:nvSpPr>
        <p:spPr>
          <a:xfrm>
            <a:off x="4919472" y="1143000"/>
            <a:ext cx="20116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90-Day Target</a:t>
            </a:r>
            <a:endParaRPr b="0" i="0" sz="1000" u="none" cap="none" strike="noStrike">
              <a:solidFill>
                <a:schemeClr val="dk1"/>
              </a:solidFill>
              <a:latin typeface="Calibri"/>
              <a:ea typeface="Calibri"/>
              <a:cs typeface="Calibri"/>
              <a:sym typeface="Calibri"/>
            </a:endParaRPr>
          </a:p>
        </p:txBody>
      </p:sp>
      <p:sp>
        <p:nvSpPr>
          <p:cNvPr id="565" name="Google Shape;565;p14"/>
          <p:cNvSpPr/>
          <p:nvPr/>
        </p:nvSpPr>
        <p:spPr>
          <a:xfrm>
            <a:off x="7040880" y="1143000"/>
            <a:ext cx="1920240" cy="310896"/>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4"/>
          <p:cNvSpPr/>
          <p:nvPr/>
        </p:nvSpPr>
        <p:spPr>
          <a:xfrm>
            <a:off x="7040880" y="1143000"/>
            <a:ext cx="19202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6-Month Target</a:t>
            </a:r>
            <a:endParaRPr b="0" i="0" sz="1000" u="none" cap="none" strike="noStrike">
              <a:solidFill>
                <a:schemeClr val="dk1"/>
              </a:solidFill>
              <a:latin typeface="Calibri"/>
              <a:ea typeface="Calibri"/>
              <a:cs typeface="Calibri"/>
              <a:sym typeface="Calibri"/>
            </a:endParaRPr>
          </a:p>
        </p:txBody>
      </p:sp>
      <p:sp>
        <p:nvSpPr>
          <p:cNvPr id="567" name="Google Shape;567;p14"/>
          <p:cNvSpPr/>
          <p:nvPr/>
        </p:nvSpPr>
        <p:spPr>
          <a:xfrm>
            <a:off x="347472" y="1453896"/>
            <a:ext cx="4389120" cy="47548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4"/>
          <p:cNvSpPr/>
          <p:nvPr/>
        </p:nvSpPr>
        <p:spPr>
          <a:xfrm>
            <a:off x="438912" y="1527048"/>
            <a:ext cx="422452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1000"/>
              <a:buFont typeface="Calibri"/>
              <a:buNone/>
            </a:pPr>
            <a:r>
              <a:rPr b="0" i="0" lang="en-US" sz="1000" u="none" cap="none" strike="noStrike">
                <a:solidFill>
                  <a:srgbClr val="9090B0"/>
                </a:solidFill>
                <a:latin typeface="Calibri"/>
                <a:ea typeface="Calibri"/>
                <a:cs typeface="Calibri"/>
                <a:sym typeface="Calibri"/>
              </a:rPr>
              <a:t>New AUM (Competitive Switches)</a:t>
            </a:r>
            <a:endParaRPr b="0" i="0" sz="1000" u="none" cap="none" strike="noStrike">
              <a:solidFill>
                <a:schemeClr val="dk1"/>
              </a:solidFill>
              <a:latin typeface="Calibri"/>
              <a:ea typeface="Calibri"/>
              <a:cs typeface="Calibri"/>
              <a:sym typeface="Calibri"/>
            </a:endParaRPr>
          </a:p>
        </p:txBody>
      </p:sp>
      <p:sp>
        <p:nvSpPr>
          <p:cNvPr id="569" name="Google Shape;569;p14"/>
          <p:cNvSpPr/>
          <p:nvPr/>
        </p:nvSpPr>
        <p:spPr>
          <a:xfrm>
            <a:off x="4919472" y="1453896"/>
            <a:ext cx="2011680" cy="475488"/>
          </a:xfrm>
          <a:prstGeom prst="rect">
            <a:avLst/>
          </a:prstGeom>
          <a:solidFill>
            <a:srgbClr val="1C2842"/>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4"/>
          <p:cNvSpPr/>
          <p:nvPr/>
        </p:nvSpPr>
        <p:spPr>
          <a:xfrm>
            <a:off x="5010912" y="1527048"/>
            <a:ext cx="184708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A3E8"/>
              </a:buClr>
              <a:buSzPts val="1300"/>
              <a:buFont typeface="Calibri"/>
              <a:buNone/>
            </a:pPr>
            <a:r>
              <a:rPr b="1" i="0" lang="en-US" sz="1300" u="none" cap="none" strike="noStrike">
                <a:solidFill>
                  <a:srgbClr val="6BA3E8"/>
                </a:solidFill>
                <a:latin typeface="Calibri"/>
                <a:ea typeface="Calibri"/>
                <a:cs typeface="Calibri"/>
                <a:sym typeface="Calibri"/>
              </a:rPr>
              <a:t>$</a:t>
            </a:r>
            <a:r>
              <a:rPr b="1" lang="en-US" sz="1300">
                <a:solidFill>
                  <a:srgbClr val="6BA3E8"/>
                </a:solidFill>
                <a:latin typeface="Calibri"/>
                <a:ea typeface="Calibri"/>
                <a:cs typeface="Calibri"/>
                <a:sym typeface="Calibri"/>
              </a:rPr>
              <a:t>195</a:t>
            </a:r>
            <a:r>
              <a:rPr b="1" i="0" lang="en-US" sz="1300" u="none" cap="none" strike="noStrike">
                <a:solidFill>
                  <a:srgbClr val="6BA3E8"/>
                </a:solidFill>
                <a:latin typeface="Calibri"/>
                <a:ea typeface="Calibri"/>
                <a:cs typeface="Calibri"/>
                <a:sym typeface="Calibri"/>
              </a:rPr>
              <a:t>M+</a:t>
            </a:r>
            <a:endParaRPr b="0" i="0" sz="1300" u="none" cap="none" strike="noStrike">
              <a:solidFill>
                <a:schemeClr val="dk1"/>
              </a:solidFill>
              <a:latin typeface="Calibri"/>
              <a:ea typeface="Calibri"/>
              <a:cs typeface="Calibri"/>
              <a:sym typeface="Calibri"/>
            </a:endParaRPr>
          </a:p>
        </p:txBody>
      </p:sp>
      <p:sp>
        <p:nvSpPr>
          <p:cNvPr id="571" name="Google Shape;571;p14"/>
          <p:cNvSpPr/>
          <p:nvPr/>
        </p:nvSpPr>
        <p:spPr>
          <a:xfrm>
            <a:off x="7040880" y="1453896"/>
            <a:ext cx="1920240" cy="475488"/>
          </a:xfrm>
          <a:prstGeom prst="rect">
            <a:avLst/>
          </a:prstGeom>
          <a:solidFill>
            <a:srgbClr val="221C3A"/>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4"/>
          <p:cNvSpPr/>
          <p:nvPr/>
        </p:nvSpPr>
        <p:spPr>
          <a:xfrm>
            <a:off x="7132320" y="1527048"/>
            <a:ext cx="17556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300"/>
              <a:buFont typeface="Calibri"/>
              <a:buNone/>
            </a:pPr>
            <a:r>
              <a:rPr b="1" i="0" lang="en-US" sz="1300" u="none" cap="none" strike="noStrike">
                <a:solidFill>
                  <a:srgbClr val="9B6AF0"/>
                </a:solidFill>
                <a:latin typeface="Calibri"/>
                <a:ea typeface="Calibri"/>
                <a:cs typeface="Calibri"/>
                <a:sym typeface="Calibri"/>
              </a:rPr>
              <a:t>$</a:t>
            </a:r>
            <a:r>
              <a:rPr b="1" lang="en-US" sz="1300">
                <a:solidFill>
                  <a:srgbClr val="9B6AF0"/>
                </a:solidFill>
                <a:latin typeface="Calibri"/>
                <a:ea typeface="Calibri"/>
                <a:cs typeface="Calibri"/>
                <a:sym typeface="Calibri"/>
              </a:rPr>
              <a:t>420</a:t>
            </a:r>
            <a:r>
              <a:rPr b="1" i="0" lang="en-US" sz="1300" u="none" cap="none" strike="noStrike">
                <a:solidFill>
                  <a:srgbClr val="9B6AF0"/>
                </a:solidFill>
                <a:latin typeface="Calibri"/>
                <a:ea typeface="Calibri"/>
                <a:cs typeface="Calibri"/>
                <a:sym typeface="Calibri"/>
              </a:rPr>
              <a:t>M+</a:t>
            </a:r>
            <a:endParaRPr b="0" i="0" sz="1300" u="none" cap="none" strike="noStrike">
              <a:solidFill>
                <a:schemeClr val="dk1"/>
              </a:solidFill>
              <a:latin typeface="Calibri"/>
              <a:ea typeface="Calibri"/>
              <a:cs typeface="Calibri"/>
              <a:sym typeface="Calibri"/>
            </a:endParaRPr>
          </a:p>
        </p:txBody>
      </p:sp>
      <p:sp>
        <p:nvSpPr>
          <p:cNvPr id="573" name="Google Shape;573;p14"/>
          <p:cNvSpPr/>
          <p:nvPr/>
        </p:nvSpPr>
        <p:spPr>
          <a:xfrm>
            <a:off x="347472" y="1929384"/>
            <a:ext cx="4389120" cy="475488"/>
          </a:xfrm>
          <a:prstGeom prst="rect">
            <a:avLst/>
          </a:prstGeom>
          <a:solidFill>
            <a:srgbClr val="22223A"/>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4"/>
          <p:cNvSpPr/>
          <p:nvPr/>
        </p:nvSpPr>
        <p:spPr>
          <a:xfrm>
            <a:off x="438912" y="2002536"/>
            <a:ext cx="422452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1000"/>
              <a:buFont typeface="Calibri"/>
              <a:buNone/>
            </a:pPr>
            <a:r>
              <a:rPr b="0" i="0" lang="en-US" sz="1000" u="none" cap="none" strike="noStrike">
                <a:solidFill>
                  <a:srgbClr val="9090B0"/>
                </a:solidFill>
                <a:latin typeface="Calibri"/>
                <a:ea typeface="Calibri"/>
                <a:cs typeface="Calibri"/>
                <a:sym typeface="Calibri"/>
              </a:rPr>
              <a:t>Qualified Leads Generated</a:t>
            </a:r>
            <a:endParaRPr b="0" i="0" sz="1000" u="none" cap="none" strike="noStrike">
              <a:solidFill>
                <a:schemeClr val="dk1"/>
              </a:solidFill>
              <a:latin typeface="Calibri"/>
              <a:ea typeface="Calibri"/>
              <a:cs typeface="Calibri"/>
              <a:sym typeface="Calibri"/>
            </a:endParaRPr>
          </a:p>
        </p:txBody>
      </p:sp>
      <p:sp>
        <p:nvSpPr>
          <p:cNvPr id="575" name="Google Shape;575;p14"/>
          <p:cNvSpPr/>
          <p:nvPr/>
        </p:nvSpPr>
        <p:spPr>
          <a:xfrm>
            <a:off x="4919472" y="1929384"/>
            <a:ext cx="2011680" cy="475488"/>
          </a:xfrm>
          <a:prstGeom prst="rect">
            <a:avLst/>
          </a:prstGeom>
          <a:solidFill>
            <a:srgbClr val="1C2842"/>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4"/>
          <p:cNvSpPr/>
          <p:nvPr/>
        </p:nvSpPr>
        <p:spPr>
          <a:xfrm>
            <a:off x="5010912" y="2002536"/>
            <a:ext cx="184708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A3E8"/>
              </a:buClr>
              <a:buSzPts val="1300"/>
              <a:buFont typeface="Calibri"/>
              <a:buNone/>
            </a:pPr>
            <a:r>
              <a:rPr b="1" i="0" lang="en-US" sz="1300" u="none" cap="none" strike="noStrike">
                <a:solidFill>
                  <a:srgbClr val="6BA3E8"/>
                </a:solidFill>
                <a:latin typeface="Calibri"/>
                <a:ea typeface="Calibri"/>
                <a:cs typeface="Calibri"/>
                <a:sym typeface="Calibri"/>
              </a:rPr>
              <a:t>150+</a:t>
            </a:r>
            <a:endParaRPr b="0" i="0" sz="1300" u="none" cap="none" strike="noStrike">
              <a:solidFill>
                <a:schemeClr val="dk1"/>
              </a:solidFill>
              <a:latin typeface="Calibri"/>
              <a:ea typeface="Calibri"/>
              <a:cs typeface="Calibri"/>
              <a:sym typeface="Calibri"/>
            </a:endParaRPr>
          </a:p>
        </p:txBody>
      </p:sp>
      <p:sp>
        <p:nvSpPr>
          <p:cNvPr id="577" name="Google Shape;577;p14"/>
          <p:cNvSpPr/>
          <p:nvPr/>
        </p:nvSpPr>
        <p:spPr>
          <a:xfrm>
            <a:off x="7040880" y="1929384"/>
            <a:ext cx="1920240" cy="475488"/>
          </a:xfrm>
          <a:prstGeom prst="rect">
            <a:avLst/>
          </a:prstGeom>
          <a:solidFill>
            <a:srgbClr val="221C3A"/>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4"/>
          <p:cNvSpPr/>
          <p:nvPr/>
        </p:nvSpPr>
        <p:spPr>
          <a:xfrm>
            <a:off x="7132320" y="2002536"/>
            <a:ext cx="17556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300"/>
              <a:buFont typeface="Calibri"/>
              <a:buNone/>
            </a:pPr>
            <a:r>
              <a:rPr b="1" i="0" lang="en-US" sz="1300" u="none" cap="none" strike="noStrike">
                <a:solidFill>
                  <a:srgbClr val="9B6AF0"/>
                </a:solidFill>
                <a:latin typeface="Calibri"/>
                <a:ea typeface="Calibri"/>
                <a:cs typeface="Calibri"/>
                <a:sym typeface="Calibri"/>
              </a:rPr>
              <a:t>500+</a:t>
            </a:r>
            <a:endParaRPr b="0" i="0" sz="1300" u="none" cap="none" strike="noStrike">
              <a:solidFill>
                <a:schemeClr val="dk1"/>
              </a:solidFill>
              <a:latin typeface="Calibri"/>
              <a:ea typeface="Calibri"/>
              <a:cs typeface="Calibri"/>
              <a:sym typeface="Calibri"/>
            </a:endParaRPr>
          </a:p>
        </p:txBody>
      </p:sp>
      <p:sp>
        <p:nvSpPr>
          <p:cNvPr id="579" name="Google Shape;579;p14"/>
          <p:cNvSpPr/>
          <p:nvPr/>
        </p:nvSpPr>
        <p:spPr>
          <a:xfrm>
            <a:off x="347472" y="2404872"/>
            <a:ext cx="4389120" cy="47548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4"/>
          <p:cNvSpPr/>
          <p:nvPr/>
        </p:nvSpPr>
        <p:spPr>
          <a:xfrm>
            <a:off x="438912" y="2478024"/>
            <a:ext cx="422452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1000"/>
              <a:buFont typeface="Calibri"/>
              <a:buNone/>
            </a:pPr>
            <a:r>
              <a:rPr lang="en-US" sz="1000">
                <a:solidFill>
                  <a:srgbClr val="9090B0"/>
                </a:solidFill>
                <a:latin typeface="Calibri"/>
                <a:ea typeface="Calibri"/>
                <a:cs typeface="Calibri"/>
                <a:sym typeface="Calibri"/>
              </a:rPr>
              <a:t>Meeting → Funded </a:t>
            </a:r>
            <a:r>
              <a:rPr b="0" i="0" lang="en-US" sz="1000" u="none" cap="none" strike="noStrike">
                <a:solidFill>
                  <a:srgbClr val="9090B0"/>
                </a:solidFill>
                <a:latin typeface="Calibri"/>
                <a:ea typeface="Calibri"/>
                <a:cs typeface="Calibri"/>
                <a:sym typeface="Calibri"/>
              </a:rPr>
              <a:t>Conversion Rate</a:t>
            </a:r>
            <a:endParaRPr b="0" i="0" sz="1000" u="none" cap="none" strike="noStrike">
              <a:solidFill>
                <a:schemeClr val="dk1"/>
              </a:solidFill>
              <a:latin typeface="Calibri"/>
              <a:ea typeface="Calibri"/>
              <a:cs typeface="Calibri"/>
              <a:sym typeface="Calibri"/>
            </a:endParaRPr>
          </a:p>
        </p:txBody>
      </p:sp>
      <p:sp>
        <p:nvSpPr>
          <p:cNvPr id="581" name="Google Shape;581;p14"/>
          <p:cNvSpPr/>
          <p:nvPr/>
        </p:nvSpPr>
        <p:spPr>
          <a:xfrm>
            <a:off x="4919472" y="2404872"/>
            <a:ext cx="2011680" cy="475488"/>
          </a:xfrm>
          <a:prstGeom prst="rect">
            <a:avLst/>
          </a:prstGeom>
          <a:solidFill>
            <a:srgbClr val="1C2842"/>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4"/>
          <p:cNvSpPr/>
          <p:nvPr/>
        </p:nvSpPr>
        <p:spPr>
          <a:xfrm>
            <a:off x="5010912" y="2478024"/>
            <a:ext cx="184708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A3E8"/>
              </a:buClr>
              <a:buSzPts val="1300"/>
              <a:buFont typeface="Calibri"/>
              <a:buNone/>
            </a:pPr>
            <a:r>
              <a:rPr b="1" lang="en-US" sz="1300">
                <a:solidFill>
                  <a:srgbClr val="6BA3E8"/>
                </a:solidFill>
                <a:latin typeface="Calibri"/>
                <a:ea typeface="Calibri"/>
                <a:cs typeface="Calibri"/>
                <a:sym typeface="Calibri"/>
              </a:rPr>
              <a:t>10%</a:t>
            </a:r>
            <a:endParaRPr b="0" i="0" sz="1300" u="none" cap="none" strike="noStrike">
              <a:solidFill>
                <a:schemeClr val="dk1"/>
              </a:solidFill>
              <a:latin typeface="Calibri"/>
              <a:ea typeface="Calibri"/>
              <a:cs typeface="Calibri"/>
              <a:sym typeface="Calibri"/>
            </a:endParaRPr>
          </a:p>
        </p:txBody>
      </p:sp>
      <p:sp>
        <p:nvSpPr>
          <p:cNvPr id="583" name="Google Shape;583;p14"/>
          <p:cNvSpPr/>
          <p:nvPr/>
        </p:nvSpPr>
        <p:spPr>
          <a:xfrm>
            <a:off x="7040880" y="2404872"/>
            <a:ext cx="1920240" cy="475488"/>
          </a:xfrm>
          <a:prstGeom prst="rect">
            <a:avLst/>
          </a:prstGeom>
          <a:solidFill>
            <a:srgbClr val="221C3A"/>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4"/>
          <p:cNvSpPr/>
          <p:nvPr/>
        </p:nvSpPr>
        <p:spPr>
          <a:xfrm>
            <a:off x="7132320" y="2478024"/>
            <a:ext cx="17556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300"/>
              <a:buFont typeface="Calibri"/>
              <a:buNone/>
            </a:pPr>
            <a:r>
              <a:rPr b="1" lang="en-US" sz="1300">
                <a:solidFill>
                  <a:srgbClr val="9B6AF0"/>
                </a:solidFill>
                <a:latin typeface="Calibri"/>
                <a:ea typeface="Calibri"/>
                <a:cs typeface="Calibri"/>
                <a:sym typeface="Calibri"/>
              </a:rPr>
              <a:t>20</a:t>
            </a:r>
            <a:r>
              <a:rPr b="1" i="0" lang="en-US" sz="1300" u="none" cap="none" strike="noStrike">
                <a:solidFill>
                  <a:srgbClr val="9B6AF0"/>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585" name="Google Shape;585;p14"/>
          <p:cNvSpPr/>
          <p:nvPr/>
        </p:nvSpPr>
        <p:spPr>
          <a:xfrm>
            <a:off x="347472" y="2880360"/>
            <a:ext cx="4389120" cy="475488"/>
          </a:xfrm>
          <a:prstGeom prst="rect">
            <a:avLst/>
          </a:prstGeom>
          <a:solidFill>
            <a:srgbClr val="22223A"/>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4"/>
          <p:cNvSpPr/>
          <p:nvPr/>
        </p:nvSpPr>
        <p:spPr>
          <a:xfrm>
            <a:off x="438912" y="2953512"/>
            <a:ext cx="422452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1000"/>
              <a:buFont typeface="Calibri"/>
              <a:buNone/>
            </a:pPr>
            <a:r>
              <a:rPr b="0" i="0" lang="en-US" sz="1000" u="none" cap="none" strike="noStrike">
                <a:solidFill>
                  <a:srgbClr val="9090B0"/>
                </a:solidFill>
                <a:latin typeface="Calibri"/>
                <a:ea typeface="Calibri"/>
                <a:cs typeface="Calibri"/>
                <a:sym typeface="Calibri"/>
              </a:rPr>
              <a:t>Active RIA Partners</a:t>
            </a:r>
            <a:endParaRPr b="0" i="0" sz="1000" u="none" cap="none" strike="noStrike">
              <a:solidFill>
                <a:schemeClr val="dk1"/>
              </a:solidFill>
              <a:latin typeface="Calibri"/>
              <a:ea typeface="Calibri"/>
              <a:cs typeface="Calibri"/>
              <a:sym typeface="Calibri"/>
            </a:endParaRPr>
          </a:p>
        </p:txBody>
      </p:sp>
      <p:sp>
        <p:nvSpPr>
          <p:cNvPr id="587" name="Google Shape;587;p14"/>
          <p:cNvSpPr/>
          <p:nvPr/>
        </p:nvSpPr>
        <p:spPr>
          <a:xfrm>
            <a:off x="4919472" y="2880360"/>
            <a:ext cx="2011680" cy="475488"/>
          </a:xfrm>
          <a:prstGeom prst="rect">
            <a:avLst/>
          </a:prstGeom>
          <a:solidFill>
            <a:srgbClr val="1C2842"/>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4"/>
          <p:cNvSpPr/>
          <p:nvPr/>
        </p:nvSpPr>
        <p:spPr>
          <a:xfrm>
            <a:off x="5010912" y="2953512"/>
            <a:ext cx="184708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A3E8"/>
              </a:buClr>
              <a:buSzPts val="1300"/>
              <a:buFont typeface="Calibri"/>
              <a:buNone/>
            </a:pPr>
            <a:r>
              <a:rPr b="1" lang="en-US" sz="1300">
                <a:solidFill>
                  <a:srgbClr val="6BA3E8"/>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589" name="Google Shape;589;p14"/>
          <p:cNvSpPr/>
          <p:nvPr/>
        </p:nvSpPr>
        <p:spPr>
          <a:xfrm>
            <a:off x="7040880" y="2880360"/>
            <a:ext cx="1920240" cy="475488"/>
          </a:xfrm>
          <a:prstGeom prst="rect">
            <a:avLst/>
          </a:prstGeom>
          <a:solidFill>
            <a:srgbClr val="221C3A"/>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4"/>
          <p:cNvSpPr/>
          <p:nvPr/>
        </p:nvSpPr>
        <p:spPr>
          <a:xfrm>
            <a:off x="7132320" y="2953512"/>
            <a:ext cx="17556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300"/>
              <a:buFont typeface="Calibri"/>
              <a:buNone/>
            </a:pPr>
            <a:r>
              <a:rPr b="1" lang="en-US" sz="1300">
                <a:solidFill>
                  <a:srgbClr val="9B6AF0"/>
                </a:solidFill>
                <a:latin typeface="Calibri"/>
                <a:ea typeface="Calibri"/>
                <a:cs typeface="Calibri"/>
                <a:sym typeface="Calibri"/>
              </a:rPr>
              <a:t>1 Pilot </a:t>
            </a:r>
            <a:endParaRPr b="0" i="0" sz="1300" u="none" cap="none" strike="noStrike">
              <a:solidFill>
                <a:schemeClr val="dk1"/>
              </a:solidFill>
              <a:latin typeface="Calibri"/>
              <a:ea typeface="Calibri"/>
              <a:cs typeface="Calibri"/>
              <a:sym typeface="Calibri"/>
            </a:endParaRPr>
          </a:p>
        </p:txBody>
      </p:sp>
      <p:sp>
        <p:nvSpPr>
          <p:cNvPr id="591" name="Google Shape;591;p14"/>
          <p:cNvSpPr/>
          <p:nvPr/>
        </p:nvSpPr>
        <p:spPr>
          <a:xfrm>
            <a:off x="347472" y="3355848"/>
            <a:ext cx="4389120" cy="47548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4"/>
          <p:cNvSpPr/>
          <p:nvPr/>
        </p:nvSpPr>
        <p:spPr>
          <a:xfrm>
            <a:off x="438912" y="3429000"/>
            <a:ext cx="422452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1000"/>
              <a:buFont typeface="Calibri"/>
              <a:buNone/>
            </a:pPr>
            <a:r>
              <a:rPr b="0" i="0" lang="en-US" sz="1000" u="none" cap="none" strike="noStrike">
                <a:solidFill>
                  <a:srgbClr val="9090B0"/>
                </a:solidFill>
                <a:latin typeface="Calibri"/>
                <a:ea typeface="Calibri"/>
                <a:cs typeface="Calibri"/>
                <a:sym typeface="Calibri"/>
              </a:rPr>
              <a:t>Average Days to Onboard</a:t>
            </a:r>
            <a:endParaRPr b="0" i="0" sz="1000" u="none" cap="none" strike="noStrike">
              <a:solidFill>
                <a:schemeClr val="dk1"/>
              </a:solidFill>
              <a:latin typeface="Calibri"/>
              <a:ea typeface="Calibri"/>
              <a:cs typeface="Calibri"/>
              <a:sym typeface="Calibri"/>
            </a:endParaRPr>
          </a:p>
        </p:txBody>
      </p:sp>
      <p:sp>
        <p:nvSpPr>
          <p:cNvPr id="593" name="Google Shape;593;p14"/>
          <p:cNvSpPr/>
          <p:nvPr/>
        </p:nvSpPr>
        <p:spPr>
          <a:xfrm>
            <a:off x="4919472" y="3355848"/>
            <a:ext cx="2011680" cy="475488"/>
          </a:xfrm>
          <a:prstGeom prst="rect">
            <a:avLst/>
          </a:prstGeom>
          <a:solidFill>
            <a:srgbClr val="1C2842"/>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4"/>
          <p:cNvSpPr/>
          <p:nvPr/>
        </p:nvSpPr>
        <p:spPr>
          <a:xfrm>
            <a:off x="5010912" y="3429000"/>
            <a:ext cx="184708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A3E8"/>
              </a:buClr>
              <a:buSzPts val="1300"/>
              <a:buFont typeface="Calibri"/>
              <a:buNone/>
            </a:pPr>
            <a:r>
              <a:rPr b="1" i="0" lang="en-US" sz="1300" u="none" cap="none" strike="noStrike">
                <a:solidFill>
                  <a:srgbClr val="6BA3E8"/>
                </a:solidFill>
                <a:latin typeface="Calibri"/>
                <a:ea typeface="Calibri"/>
                <a:cs typeface="Calibri"/>
                <a:sym typeface="Calibri"/>
              </a:rPr>
              <a:t>&lt;5 days</a:t>
            </a:r>
            <a:endParaRPr b="0" i="0" sz="1300" u="none" cap="none" strike="noStrike">
              <a:solidFill>
                <a:schemeClr val="dk1"/>
              </a:solidFill>
              <a:latin typeface="Calibri"/>
              <a:ea typeface="Calibri"/>
              <a:cs typeface="Calibri"/>
              <a:sym typeface="Calibri"/>
            </a:endParaRPr>
          </a:p>
        </p:txBody>
      </p:sp>
      <p:sp>
        <p:nvSpPr>
          <p:cNvPr id="595" name="Google Shape;595;p14"/>
          <p:cNvSpPr/>
          <p:nvPr/>
        </p:nvSpPr>
        <p:spPr>
          <a:xfrm>
            <a:off x="7040880" y="3355848"/>
            <a:ext cx="1920240" cy="475488"/>
          </a:xfrm>
          <a:prstGeom prst="rect">
            <a:avLst/>
          </a:prstGeom>
          <a:solidFill>
            <a:srgbClr val="221C3A"/>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4"/>
          <p:cNvSpPr/>
          <p:nvPr/>
        </p:nvSpPr>
        <p:spPr>
          <a:xfrm>
            <a:off x="7132320" y="3429000"/>
            <a:ext cx="17556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300"/>
              <a:buFont typeface="Calibri"/>
              <a:buNone/>
            </a:pPr>
            <a:r>
              <a:rPr b="1" i="0" lang="en-US" sz="1300" u="none" cap="none" strike="noStrike">
                <a:solidFill>
                  <a:srgbClr val="9B6AF0"/>
                </a:solidFill>
                <a:latin typeface="Calibri"/>
                <a:ea typeface="Calibri"/>
                <a:cs typeface="Calibri"/>
                <a:sym typeface="Calibri"/>
              </a:rPr>
              <a:t>&lt;3 days</a:t>
            </a:r>
            <a:endParaRPr b="0" i="0" sz="1300" u="none" cap="none" strike="noStrike">
              <a:solidFill>
                <a:schemeClr val="dk1"/>
              </a:solidFill>
              <a:latin typeface="Calibri"/>
              <a:ea typeface="Calibri"/>
              <a:cs typeface="Calibri"/>
              <a:sym typeface="Calibri"/>
            </a:endParaRPr>
          </a:p>
        </p:txBody>
      </p:sp>
      <p:sp>
        <p:nvSpPr>
          <p:cNvPr id="597" name="Google Shape;597;p14"/>
          <p:cNvSpPr/>
          <p:nvPr/>
        </p:nvSpPr>
        <p:spPr>
          <a:xfrm>
            <a:off x="347472" y="3831336"/>
            <a:ext cx="4389120" cy="475488"/>
          </a:xfrm>
          <a:prstGeom prst="rect">
            <a:avLst/>
          </a:prstGeom>
          <a:solidFill>
            <a:srgbClr val="22223A"/>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4"/>
          <p:cNvSpPr/>
          <p:nvPr/>
        </p:nvSpPr>
        <p:spPr>
          <a:xfrm>
            <a:off x="438912" y="3904488"/>
            <a:ext cx="422452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1000"/>
              <a:buFont typeface="Calibri"/>
              <a:buNone/>
            </a:pPr>
            <a:r>
              <a:rPr b="0" i="0" lang="en-US" sz="1000" u="none" cap="none" strike="noStrike">
                <a:solidFill>
                  <a:srgbClr val="9090B0"/>
                </a:solidFill>
                <a:latin typeface="Calibri"/>
                <a:ea typeface="Calibri"/>
                <a:cs typeface="Calibri"/>
                <a:sym typeface="Calibri"/>
              </a:rPr>
              <a:t>Outbound </a:t>
            </a:r>
            <a:r>
              <a:rPr lang="en-US" sz="1000">
                <a:solidFill>
                  <a:srgbClr val="9090B0"/>
                </a:solidFill>
                <a:latin typeface="Calibri"/>
                <a:ea typeface="Calibri"/>
                <a:cs typeface="Calibri"/>
                <a:sym typeface="Calibri"/>
              </a:rPr>
              <a:t>Activity	</a:t>
            </a:r>
            <a:endParaRPr b="0" i="0" sz="1000" u="none" cap="none" strike="noStrike">
              <a:solidFill>
                <a:schemeClr val="dk1"/>
              </a:solidFill>
              <a:latin typeface="Calibri"/>
              <a:ea typeface="Calibri"/>
              <a:cs typeface="Calibri"/>
              <a:sym typeface="Calibri"/>
            </a:endParaRPr>
          </a:p>
        </p:txBody>
      </p:sp>
      <p:sp>
        <p:nvSpPr>
          <p:cNvPr id="599" name="Google Shape;599;p14"/>
          <p:cNvSpPr/>
          <p:nvPr/>
        </p:nvSpPr>
        <p:spPr>
          <a:xfrm>
            <a:off x="4919472" y="3831336"/>
            <a:ext cx="2011680" cy="475488"/>
          </a:xfrm>
          <a:prstGeom prst="rect">
            <a:avLst/>
          </a:prstGeom>
          <a:solidFill>
            <a:srgbClr val="1C2842"/>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4"/>
          <p:cNvSpPr/>
          <p:nvPr/>
        </p:nvSpPr>
        <p:spPr>
          <a:xfrm>
            <a:off x="5010912" y="3904488"/>
            <a:ext cx="184708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A3E8"/>
              </a:buClr>
              <a:buSzPts val="1300"/>
              <a:buFont typeface="Calibri"/>
              <a:buNone/>
            </a:pPr>
            <a:r>
              <a:rPr b="1" lang="en-US" sz="1300">
                <a:solidFill>
                  <a:srgbClr val="6BA3E8"/>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601" name="Google Shape;601;p14"/>
          <p:cNvSpPr/>
          <p:nvPr/>
        </p:nvSpPr>
        <p:spPr>
          <a:xfrm>
            <a:off x="7040880" y="3831336"/>
            <a:ext cx="1920240" cy="475488"/>
          </a:xfrm>
          <a:prstGeom prst="rect">
            <a:avLst/>
          </a:prstGeom>
          <a:solidFill>
            <a:srgbClr val="221C3A"/>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4"/>
          <p:cNvSpPr/>
          <p:nvPr/>
        </p:nvSpPr>
        <p:spPr>
          <a:xfrm>
            <a:off x="7132320" y="3904488"/>
            <a:ext cx="17556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300"/>
              <a:buFont typeface="Calibri"/>
              <a:buNone/>
            </a:pPr>
            <a:r>
              <a:rPr b="1" lang="en-US" sz="1300">
                <a:solidFill>
                  <a:srgbClr val="9B6AF0"/>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603" name="Google Shape;603;p14"/>
          <p:cNvSpPr/>
          <p:nvPr/>
        </p:nvSpPr>
        <p:spPr>
          <a:xfrm>
            <a:off x="347472" y="4306824"/>
            <a:ext cx="4389120" cy="475488"/>
          </a:xfrm>
          <a:prstGeom prst="rect">
            <a:avLst/>
          </a:prstGeom>
          <a:solidFill>
            <a:srgbClr val="1C1C2E"/>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4"/>
          <p:cNvSpPr/>
          <p:nvPr/>
        </p:nvSpPr>
        <p:spPr>
          <a:xfrm>
            <a:off x="438912" y="4379976"/>
            <a:ext cx="422452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B0"/>
              </a:buClr>
              <a:buSzPts val="1000"/>
              <a:buFont typeface="Calibri"/>
              <a:buNone/>
            </a:pPr>
            <a:r>
              <a:rPr lang="en-US" sz="1000">
                <a:solidFill>
                  <a:srgbClr val="9090B0"/>
                </a:solidFill>
                <a:latin typeface="Calibri"/>
                <a:ea typeface="Calibri"/>
                <a:cs typeface="Calibri"/>
                <a:sym typeface="Calibri"/>
              </a:rPr>
              <a:t>Churn</a:t>
            </a:r>
            <a:endParaRPr b="0" i="0" sz="1000" u="none" cap="none" strike="noStrike">
              <a:solidFill>
                <a:schemeClr val="dk1"/>
              </a:solidFill>
              <a:latin typeface="Calibri"/>
              <a:ea typeface="Calibri"/>
              <a:cs typeface="Calibri"/>
              <a:sym typeface="Calibri"/>
            </a:endParaRPr>
          </a:p>
        </p:txBody>
      </p:sp>
      <p:sp>
        <p:nvSpPr>
          <p:cNvPr id="605" name="Google Shape;605;p14"/>
          <p:cNvSpPr/>
          <p:nvPr/>
        </p:nvSpPr>
        <p:spPr>
          <a:xfrm>
            <a:off x="4919472" y="4306824"/>
            <a:ext cx="2011680" cy="475488"/>
          </a:xfrm>
          <a:prstGeom prst="rect">
            <a:avLst/>
          </a:prstGeom>
          <a:solidFill>
            <a:srgbClr val="1C2842"/>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t>?</a:t>
            </a:r>
            <a:endParaRPr/>
          </a:p>
        </p:txBody>
      </p:sp>
      <p:sp>
        <p:nvSpPr>
          <p:cNvPr id="606" name="Google Shape;606;p14"/>
          <p:cNvSpPr/>
          <p:nvPr/>
        </p:nvSpPr>
        <p:spPr>
          <a:xfrm>
            <a:off x="7040880" y="4306824"/>
            <a:ext cx="1920240" cy="475488"/>
          </a:xfrm>
          <a:prstGeom prst="rect">
            <a:avLst/>
          </a:prstGeom>
          <a:solidFill>
            <a:srgbClr val="221C3A"/>
          </a:solidFill>
          <a:ln cap="flat" cmpd="sng" w="9525">
            <a:solidFill>
              <a:srgbClr val="2E2E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4"/>
          <p:cNvSpPr/>
          <p:nvPr/>
        </p:nvSpPr>
        <p:spPr>
          <a:xfrm>
            <a:off x="7132320" y="4379976"/>
            <a:ext cx="17556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6AF0"/>
              </a:buClr>
              <a:buSzPts val="1300"/>
              <a:buFont typeface="Calibri"/>
              <a:buNone/>
            </a:pPr>
            <a:r>
              <a:rPr b="1" lang="en-US" sz="1300">
                <a:solidFill>
                  <a:srgbClr val="9B6AF0"/>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p:txBody>
      </p:sp>
      <p:sp>
        <p:nvSpPr>
          <p:cNvPr id="608" name="Google Shape;608;p14"/>
          <p:cNvSpPr/>
          <p:nvPr/>
        </p:nvSpPr>
        <p:spPr>
          <a:xfrm>
            <a:off x="0" y="4873752"/>
            <a:ext cx="9144000" cy="269748"/>
          </a:xfrm>
          <a:prstGeom prst="rect">
            <a:avLst/>
          </a:prstGeom>
          <a:solidFill>
            <a:srgbClr val="1C1C2E"/>
          </a:solidFill>
          <a:ln cap="flat" cmpd="sng" w="12700">
            <a:solidFill>
              <a:srgbClr val="1C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4"/>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506A"/>
              </a:buClr>
              <a:buSzPts val="800"/>
              <a:buFont typeface="Calibri"/>
              <a:buNone/>
            </a:pPr>
            <a:r>
              <a:rPr b="0" i="0" lang="en-US" sz="800" u="none" cap="none" strike="noStrike">
                <a:solidFill>
                  <a:srgbClr val="50506A"/>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610" name="Google Shape;610;p14"/>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8"/>
        </a:solidFill>
      </p:bgPr>
    </p:bg>
    <p:spTree>
      <p:nvGrpSpPr>
        <p:cNvPr id="615" name="Shape 615"/>
        <p:cNvGrpSpPr/>
        <p:nvPr/>
      </p:nvGrpSpPr>
      <p:grpSpPr>
        <a:xfrm>
          <a:off x="0" y="0"/>
          <a:ext cx="0" cy="0"/>
          <a:chOff x="0" y="0"/>
          <a:chExt cx="0" cy="0"/>
        </a:xfrm>
      </p:grpSpPr>
      <p:sp>
        <p:nvSpPr>
          <p:cNvPr id="616" name="Google Shape;616;g3d0fd7db1ee_7_19"/>
          <p:cNvSpPr/>
          <p:nvPr/>
        </p:nvSpPr>
        <p:spPr>
          <a:xfrm>
            <a:off x="411480" y="256032"/>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3000"/>
              <a:buFont typeface="Trebuchet MS"/>
              <a:buNone/>
            </a:pPr>
            <a:r>
              <a:rPr b="1" i="0" lang="en-US" sz="3000" u="none" cap="none" strike="noStrike">
                <a:solidFill>
                  <a:srgbClr val="13131F"/>
                </a:solidFill>
                <a:latin typeface="Trebuchet MS"/>
                <a:ea typeface="Trebuchet MS"/>
                <a:cs typeface="Trebuchet MS"/>
                <a:sym typeface="Trebuchet MS"/>
              </a:rPr>
              <a:t>2026 Sales Pipeline &amp; Strategy</a:t>
            </a:r>
            <a:endParaRPr b="0" i="0" sz="3000" u="none" cap="none" strike="noStrike">
              <a:solidFill>
                <a:schemeClr val="dk1"/>
              </a:solidFill>
              <a:latin typeface="Calibri"/>
              <a:ea typeface="Calibri"/>
              <a:cs typeface="Calibri"/>
              <a:sym typeface="Calibri"/>
            </a:endParaRPr>
          </a:p>
        </p:txBody>
      </p:sp>
      <p:sp>
        <p:nvSpPr>
          <p:cNvPr id="617" name="Google Shape;617;g3d0fd7db1ee_7_19"/>
          <p:cNvSpPr/>
          <p:nvPr/>
        </p:nvSpPr>
        <p:spPr>
          <a:xfrm>
            <a:off x="411480" y="777240"/>
            <a:ext cx="83211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1200"/>
              <a:buFont typeface="Calibri"/>
              <a:buNone/>
            </a:pPr>
            <a:r>
              <a:rPr b="0" i="1" lang="en-US" sz="1200" u="none" cap="none" strike="noStrike">
                <a:solidFill>
                  <a:srgbClr val="4A4A6A"/>
                </a:solidFill>
                <a:latin typeface="Calibri"/>
                <a:ea typeface="Calibri"/>
                <a:cs typeface="Calibri"/>
                <a:sym typeface="Calibri"/>
              </a:rPr>
              <a:t>Day 2  ·  12:30 PM – End  ·  Lief joins</a:t>
            </a:r>
            <a:endParaRPr b="0" i="0" sz="1200" u="none" cap="none" strike="noStrike">
              <a:solidFill>
                <a:schemeClr val="dk1"/>
              </a:solidFill>
              <a:latin typeface="Calibri"/>
              <a:ea typeface="Calibri"/>
              <a:cs typeface="Calibri"/>
              <a:sym typeface="Calibri"/>
            </a:endParaRPr>
          </a:p>
        </p:txBody>
      </p:sp>
      <p:sp>
        <p:nvSpPr>
          <p:cNvPr id="618" name="Google Shape;618;g3d0fd7db1ee_7_19"/>
          <p:cNvSpPr/>
          <p:nvPr/>
        </p:nvSpPr>
        <p:spPr>
          <a:xfrm>
            <a:off x="411480" y="1051560"/>
            <a:ext cx="8321100" cy="3660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g3d0fd7db1ee_7_19"/>
          <p:cNvSpPr/>
          <p:nvPr/>
        </p:nvSpPr>
        <p:spPr>
          <a:xfrm>
            <a:off x="347472" y="1170432"/>
            <a:ext cx="4160400" cy="3492900"/>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g3d0fd7db1ee_7_19"/>
          <p:cNvSpPr/>
          <p:nvPr/>
        </p:nvSpPr>
        <p:spPr>
          <a:xfrm>
            <a:off x="347472" y="1170432"/>
            <a:ext cx="4160400" cy="4560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g3d0fd7db1ee_7_19"/>
          <p:cNvSpPr/>
          <p:nvPr/>
        </p:nvSpPr>
        <p:spPr>
          <a:xfrm>
            <a:off x="512064" y="1298448"/>
            <a:ext cx="3886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lang="en-US" sz="1200">
                <a:solidFill>
                  <a:srgbClr val="13131F"/>
                </a:solidFill>
                <a:latin typeface="Calibri"/>
                <a:ea typeface="Calibri"/>
                <a:cs typeface="Calibri"/>
                <a:sym typeface="Calibri"/>
              </a:rPr>
              <a:t>New Leads Week over Week</a:t>
            </a:r>
            <a:endParaRPr b="0" i="0" sz="1200" u="none" cap="none" strike="noStrike">
              <a:solidFill>
                <a:schemeClr val="dk1"/>
              </a:solidFill>
              <a:latin typeface="Calibri"/>
              <a:ea typeface="Calibri"/>
              <a:cs typeface="Calibri"/>
              <a:sym typeface="Calibri"/>
            </a:endParaRPr>
          </a:p>
        </p:txBody>
      </p:sp>
      <p:sp>
        <p:nvSpPr>
          <p:cNvPr id="622" name="Google Shape;622;g3d0fd7db1ee_7_19"/>
          <p:cNvSpPr/>
          <p:nvPr/>
        </p:nvSpPr>
        <p:spPr>
          <a:xfrm>
            <a:off x="4636008" y="1170432"/>
            <a:ext cx="4160400" cy="1664100"/>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g3d0fd7db1ee_7_19"/>
          <p:cNvSpPr/>
          <p:nvPr/>
        </p:nvSpPr>
        <p:spPr>
          <a:xfrm>
            <a:off x="4636008" y="1170432"/>
            <a:ext cx="4160400" cy="4560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g3d0fd7db1ee_7_19"/>
          <p:cNvSpPr/>
          <p:nvPr/>
        </p:nvSpPr>
        <p:spPr>
          <a:xfrm>
            <a:off x="4800600" y="1298448"/>
            <a:ext cx="3886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lang="en-US" sz="1200">
                <a:solidFill>
                  <a:srgbClr val="13131F"/>
                </a:solidFill>
                <a:latin typeface="Calibri"/>
                <a:ea typeface="Calibri"/>
                <a:cs typeface="Calibri"/>
                <a:sym typeface="Calibri"/>
              </a:rPr>
              <a:t>Qualified Leads</a:t>
            </a:r>
            <a:endParaRPr b="0" i="0" sz="1200" u="none" cap="none" strike="noStrike">
              <a:solidFill>
                <a:schemeClr val="dk1"/>
              </a:solidFill>
              <a:latin typeface="Calibri"/>
              <a:ea typeface="Calibri"/>
              <a:cs typeface="Calibri"/>
              <a:sym typeface="Calibri"/>
            </a:endParaRPr>
          </a:p>
        </p:txBody>
      </p:sp>
      <p:sp>
        <p:nvSpPr>
          <p:cNvPr id="625" name="Google Shape;625;g3d0fd7db1ee_7_19"/>
          <p:cNvSpPr/>
          <p:nvPr/>
        </p:nvSpPr>
        <p:spPr>
          <a:xfrm>
            <a:off x="4636008" y="2926080"/>
            <a:ext cx="4160400" cy="1737300"/>
          </a:xfrm>
          <a:prstGeom prst="rect">
            <a:avLst/>
          </a:prstGeom>
          <a:solidFill>
            <a:srgbClr val="FFFFFF"/>
          </a:solidFill>
          <a:ln cap="flat" cmpd="sng" w="9525">
            <a:solidFill>
              <a:srgbClr val="E0E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g3d0fd7db1ee_7_19"/>
          <p:cNvSpPr/>
          <p:nvPr/>
        </p:nvSpPr>
        <p:spPr>
          <a:xfrm>
            <a:off x="4636008" y="2926080"/>
            <a:ext cx="4160400" cy="4560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g3d0fd7db1ee_7_19"/>
          <p:cNvSpPr/>
          <p:nvPr/>
        </p:nvSpPr>
        <p:spPr>
          <a:xfrm>
            <a:off x="4800600" y="3054096"/>
            <a:ext cx="3886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1200"/>
              <a:buFont typeface="Calibri"/>
              <a:buNone/>
            </a:pPr>
            <a:r>
              <a:rPr b="1" lang="en-US" sz="1200">
                <a:solidFill>
                  <a:srgbClr val="13131F"/>
                </a:solidFill>
                <a:latin typeface="Calibri"/>
                <a:ea typeface="Calibri"/>
                <a:cs typeface="Calibri"/>
                <a:sym typeface="Calibri"/>
              </a:rPr>
              <a:t>Meetings Week over Week </a:t>
            </a:r>
            <a:endParaRPr b="0" i="0" sz="1200" u="none" cap="none" strike="noStrike">
              <a:solidFill>
                <a:schemeClr val="dk1"/>
              </a:solidFill>
              <a:latin typeface="Calibri"/>
              <a:ea typeface="Calibri"/>
              <a:cs typeface="Calibri"/>
              <a:sym typeface="Calibri"/>
            </a:endParaRPr>
          </a:p>
        </p:txBody>
      </p:sp>
      <p:sp>
        <p:nvSpPr>
          <p:cNvPr id="628" name="Google Shape;628;g3d0fd7db1ee_7_19"/>
          <p:cNvSpPr/>
          <p:nvPr/>
        </p:nvSpPr>
        <p:spPr>
          <a:xfrm>
            <a:off x="0" y="4873752"/>
            <a:ext cx="9144000" cy="269700"/>
          </a:xfrm>
          <a:prstGeom prst="rect">
            <a:avLst/>
          </a:prstGeom>
          <a:solidFill>
            <a:srgbClr val="E8E8F0"/>
          </a:solidFill>
          <a:ln cap="flat" cmpd="sng" w="12700">
            <a:solidFill>
              <a:srgbClr val="E8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g3d0fd7db1ee_7_19"/>
          <p:cNvSpPr/>
          <p:nvPr/>
        </p:nvSpPr>
        <p:spPr>
          <a:xfrm>
            <a:off x="365760" y="4873752"/>
            <a:ext cx="6400800" cy="26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A8"/>
              </a:buClr>
              <a:buSzPts val="800"/>
              <a:buFont typeface="Calibri"/>
              <a:buNone/>
            </a:pPr>
            <a:r>
              <a:rPr b="0" i="0" lang="en-US" sz="800" u="none" cap="none" strike="noStrike">
                <a:solidFill>
                  <a:srgbClr val="9090A8"/>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630" name="Google Shape;630;g3d0fd7db1ee_7_19"/>
          <p:cNvSpPr/>
          <p:nvPr/>
        </p:nvSpPr>
        <p:spPr>
          <a:xfrm>
            <a:off x="8229600" y="4873752"/>
            <a:ext cx="731400" cy="269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pic>
        <p:nvPicPr>
          <p:cNvPr id="631" name="Google Shape;631;g3d0fd7db1ee_7_19" title="WeeklyNewLeads.png"/>
          <p:cNvPicPr preferRelativeResize="0"/>
          <p:nvPr/>
        </p:nvPicPr>
        <p:blipFill>
          <a:blip r:embed="rId3">
            <a:alphaModFix/>
          </a:blip>
          <a:stretch>
            <a:fillRect/>
          </a:stretch>
        </p:blipFill>
        <p:spPr>
          <a:xfrm>
            <a:off x="563813" y="2240477"/>
            <a:ext cx="3727724" cy="1608824"/>
          </a:xfrm>
          <a:prstGeom prst="rect">
            <a:avLst/>
          </a:prstGeom>
          <a:solidFill>
            <a:srgbClr val="FFFFFF"/>
          </a:solidFill>
          <a:ln cap="flat" cmpd="sng" w="9525">
            <a:solidFill>
              <a:srgbClr val="E0E0EA"/>
            </a:solidFill>
            <a:prstDash val="solid"/>
            <a:round/>
            <a:headEnd len="sm" w="sm" type="none"/>
            <a:tailEnd len="sm" w="sm" type="none"/>
          </a:ln>
        </p:spPr>
      </p:pic>
      <p:pic>
        <p:nvPicPr>
          <p:cNvPr id="632" name="Google Shape;632;g3d0fd7db1ee_7_19" title="WeeklyNewMeetings.png"/>
          <p:cNvPicPr preferRelativeResize="0"/>
          <p:nvPr/>
        </p:nvPicPr>
        <p:blipFill>
          <a:blip r:embed="rId4">
            <a:alphaModFix/>
          </a:blip>
          <a:stretch>
            <a:fillRect/>
          </a:stretch>
        </p:blipFill>
        <p:spPr>
          <a:xfrm>
            <a:off x="4800588" y="3289101"/>
            <a:ext cx="3584114" cy="1201900"/>
          </a:xfrm>
          <a:prstGeom prst="rect">
            <a:avLst/>
          </a:prstGeom>
          <a:solidFill>
            <a:srgbClr val="FFFFFF"/>
          </a:solidFill>
          <a:ln cap="flat" cmpd="sng" w="9525">
            <a:solidFill>
              <a:srgbClr val="E0E0EA"/>
            </a:solidFill>
            <a:prstDash val="solid"/>
            <a:round/>
            <a:headEnd len="sm" w="sm" type="none"/>
            <a:tailEnd len="sm" w="sm" type="none"/>
          </a:ln>
        </p:spPr>
      </p:pic>
      <p:pic>
        <p:nvPicPr>
          <p:cNvPr id="633" name="Google Shape;633;g3d0fd7db1ee_7_19" title="WeeklyQualifiedLeads (1).png"/>
          <p:cNvPicPr preferRelativeResize="0"/>
          <p:nvPr/>
        </p:nvPicPr>
        <p:blipFill>
          <a:blip r:embed="rId5">
            <a:alphaModFix/>
          </a:blip>
          <a:stretch>
            <a:fillRect/>
          </a:stretch>
        </p:blipFill>
        <p:spPr>
          <a:xfrm>
            <a:off x="5200210" y="1534125"/>
            <a:ext cx="2784880" cy="1201900"/>
          </a:xfrm>
          <a:prstGeom prst="rect">
            <a:avLst/>
          </a:prstGeom>
          <a:solidFill>
            <a:srgbClr val="FFFFFF"/>
          </a:solidFill>
          <a:ln cap="flat" cmpd="sng" w="9525">
            <a:solidFill>
              <a:srgbClr val="E0E0EA"/>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8"/>
        </a:solidFill>
      </p:bgPr>
    </p:bg>
    <p:spTree>
      <p:nvGrpSpPr>
        <p:cNvPr id="638" name="Shape 638"/>
        <p:cNvGrpSpPr/>
        <p:nvPr/>
      </p:nvGrpSpPr>
      <p:grpSpPr>
        <a:xfrm>
          <a:off x="0" y="0"/>
          <a:ext cx="0" cy="0"/>
          <a:chOff x="0" y="0"/>
          <a:chExt cx="0" cy="0"/>
        </a:xfrm>
      </p:grpSpPr>
      <p:sp>
        <p:nvSpPr>
          <p:cNvPr id="639" name="Google Shape;639;g3d0fd7db1ee_7_44"/>
          <p:cNvSpPr/>
          <p:nvPr/>
        </p:nvSpPr>
        <p:spPr>
          <a:xfrm>
            <a:off x="411480" y="256032"/>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31F"/>
              </a:buClr>
              <a:buSzPts val="3000"/>
              <a:buFont typeface="Trebuchet MS"/>
              <a:buNone/>
            </a:pPr>
            <a:r>
              <a:rPr b="1" i="0" lang="en-US" sz="3000" u="none" cap="none" strike="noStrike">
                <a:solidFill>
                  <a:srgbClr val="13131F"/>
                </a:solidFill>
                <a:latin typeface="Trebuchet MS"/>
                <a:ea typeface="Trebuchet MS"/>
                <a:cs typeface="Trebuchet MS"/>
                <a:sym typeface="Trebuchet MS"/>
              </a:rPr>
              <a:t>2026 Sales Pipeline &amp; Strategy</a:t>
            </a:r>
            <a:endParaRPr b="0" i="0" sz="3000" u="none" cap="none" strike="noStrike">
              <a:solidFill>
                <a:schemeClr val="dk1"/>
              </a:solidFill>
              <a:latin typeface="Calibri"/>
              <a:ea typeface="Calibri"/>
              <a:cs typeface="Calibri"/>
              <a:sym typeface="Calibri"/>
            </a:endParaRPr>
          </a:p>
        </p:txBody>
      </p:sp>
      <p:sp>
        <p:nvSpPr>
          <p:cNvPr id="640" name="Google Shape;640;g3d0fd7db1ee_7_44"/>
          <p:cNvSpPr/>
          <p:nvPr/>
        </p:nvSpPr>
        <p:spPr>
          <a:xfrm>
            <a:off x="411480" y="777240"/>
            <a:ext cx="83211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4A6A"/>
              </a:buClr>
              <a:buSzPts val="1200"/>
              <a:buFont typeface="Calibri"/>
              <a:buNone/>
            </a:pPr>
            <a:r>
              <a:rPr b="0" i="1" lang="en-US" sz="1200" u="none" cap="none" strike="noStrike">
                <a:solidFill>
                  <a:srgbClr val="4A4A6A"/>
                </a:solidFill>
                <a:latin typeface="Calibri"/>
                <a:ea typeface="Calibri"/>
                <a:cs typeface="Calibri"/>
                <a:sym typeface="Calibri"/>
              </a:rPr>
              <a:t>Day 2  </a:t>
            </a:r>
            <a:endParaRPr b="0" i="0" sz="1200" u="none" cap="none" strike="noStrike">
              <a:solidFill>
                <a:schemeClr val="dk1"/>
              </a:solidFill>
              <a:latin typeface="Calibri"/>
              <a:ea typeface="Calibri"/>
              <a:cs typeface="Calibri"/>
              <a:sym typeface="Calibri"/>
            </a:endParaRPr>
          </a:p>
        </p:txBody>
      </p:sp>
      <p:sp>
        <p:nvSpPr>
          <p:cNvPr id="641" name="Google Shape;641;g3d0fd7db1ee_7_44"/>
          <p:cNvSpPr/>
          <p:nvPr/>
        </p:nvSpPr>
        <p:spPr>
          <a:xfrm>
            <a:off x="411480" y="1051560"/>
            <a:ext cx="8321100" cy="3660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g3d0fd7db1ee_7_44"/>
          <p:cNvSpPr/>
          <p:nvPr/>
        </p:nvSpPr>
        <p:spPr>
          <a:xfrm>
            <a:off x="347472" y="1170432"/>
            <a:ext cx="4160400" cy="4560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g3d0fd7db1ee_7_44"/>
          <p:cNvSpPr/>
          <p:nvPr/>
        </p:nvSpPr>
        <p:spPr>
          <a:xfrm>
            <a:off x="4636008" y="1170432"/>
            <a:ext cx="4160400" cy="45600"/>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g3d0fd7db1ee_7_44"/>
          <p:cNvSpPr/>
          <p:nvPr/>
        </p:nvSpPr>
        <p:spPr>
          <a:xfrm>
            <a:off x="0" y="4873752"/>
            <a:ext cx="9144000" cy="269700"/>
          </a:xfrm>
          <a:prstGeom prst="rect">
            <a:avLst/>
          </a:prstGeom>
          <a:solidFill>
            <a:srgbClr val="E8E8F0"/>
          </a:solidFill>
          <a:ln cap="flat" cmpd="sng" w="12700">
            <a:solidFill>
              <a:srgbClr val="E8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g3d0fd7db1ee_7_44"/>
          <p:cNvSpPr/>
          <p:nvPr/>
        </p:nvSpPr>
        <p:spPr>
          <a:xfrm>
            <a:off x="365760" y="4873752"/>
            <a:ext cx="6400800" cy="26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090A8"/>
              </a:buClr>
              <a:buSzPts val="800"/>
              <a:buFont typeface="Calibri"/>
              <a:buNone/>
            </a:pPr>
            <a:r>
              <a:rPr b="0" i="0" lang="en-US" sz="800" u="none" cap="none" strike="noStrike">
                <a:solidFill>
                  <a:srgbClr val="9090A8"/>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646" name="Google Shape;646;g3d0fd7db1ee_7_44"/>
          <p:cNvSpPr/>
          <p:nvPr/>
        </p:nvSpPr>
        <p:spPr>
          <a:xfrm>
            <a:off x="8229600" y="4873752"/>
            <a:ext cx="731400" cy="269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graphicFrame>
        <p:nvGraphicFramePr>
          <p:cNvPr id="647" name="Google Shape;647;g3d0fd7db1ee_7_44"/>
          <p:cNvGraphicFramePr/>
          <p:nvPr/>
        </p:nvGraphicFramePr>
        <p:xfrm>
          <a:off x="1971700" y="1415925"/>
          <a:ext cx="3000000" cy="3000000"/>
        </p:xfrm>
        <a:graphic>
          <a:graphicData uri="http://schemas.openxmlformats.org/drawingml/2006/table">
            <a:tbl>
              <a:tblPr>
                <a:noFill/>
                <a:tableStyleId>{956A5138-4EF4-4FFC-9B91-E1CA01C68344}</a:tableStyleId>
              </a:tblPr>
              <a:tblGrid>
                <a:gridCol w="2343150"/>
                <a:gridCol w="952500"/>
                <a:gridCol w="952500"/>
                <a:gridCol w="952500"/>
              </a:tblGrid>
              <a:tr h="257175">
                <a:tc>
                  <a:txBody>
                    <a:bodyPr/>
                    <a:lstStyle/>
                    <a:p>
                      <a:pPr indent="0" lvl="0" marL="0" rtl="0" algn="ctr">
                        <a:lnSpc>
                          <a:spcPct val="115000"/>
                        </a:lnSpc>
                        <a:spcBef>
                          <a:spcPts val="0"/>
                        </a:spcBef>
                        <a:spcAft>
                          <a:spcPts val="0"/>
                        </a:spcAft>
                        <a:buNone/>
                      </a:pPr>
                      <a:r>
                        <a:rPr b="1" lang="en-US"/>
                        <a:t>Sales Activity</a:t>
                      </a:r>
                      <a:endParaRPr b="1"/>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t>Jan</a:t>
                      </a:r>
                      <a:endParaRPr b="1" sz="10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t>Feb</a:t>
                      </a:r>
                      <a:endParaRPr b="1" sz="10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t>Mar</a:t>
                      </a:r>
                      <a:endParaRPr b="1" sz="10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228600">
                <a:tc>
                  <a:txBody>
                    <a:bodyPr/>
                    <a:lstStyle/>
                    <a:p>
                      <a:pPr indent="0" lvl="0" marL="0" rtl="0" algn="ctr">
                        <a:lnSpc>
                          <a:spcPct val="115000"/>
                        </a:lnSpc>
                        <a:spcBef>
                          <a:spcPts val="0"/>
                        </a:spcBef>
                        <a:spcAft>
                          <a:spcPts val="0"/>
                        </a:spcAft>
                        <a:buNone/>
                      </a:pPr>
                      <a:r>
                        <a:rPr b="1" lang="en-US" sz="1200"/>
                        <a:t>Leads</a:t>
                      </a:r>
                      <a:endParaRPr b="1"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31</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113</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83</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228600">
                <a:tc>
                  <a:txBody>
                    <a:bodyPr/>
                    <a:lstStyle/>
                    <a:p>
                      <a:pPr indent="0" lvl="0" marL="0" rtl="0" algn="ctr">
                        <a:lnSpc>
                          <a:spcPct val="115000"/>
                        </a:lnSpc>
                        <a:spcBef>
                          <a:spcPts val="0"/>
                        </a:spcBef>
                        <a:spcAft>
                          <a:spcPts val="0"/>
                        </a:spcAft>
                        <a:buNone/>
                      </a:pPr>
                      <a:r>
                        <a:rPr b="1" lang="en-US" sz="1200"/>
                        <a:t># of Meetings</a:t>
                      </a:r>
                      <a:endParaRPr b="1"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45</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51</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26</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228600">
                <a:tc>
                  <a:txBody>
                    <a:bodyPr/>
                    <a:lstStyle/>
                    <a:p>
                      <a:pPr indent="0" lvl="0" marL="0" rtl="0" algn="ctr">
                        <a:lnSpc>
                          <a:spcPct val="115000"/>
                        </a:lnSpc>
                        <a:spcBef>
                          <a:spcPts val="0"/>
                        </a:spcBef>
                        <a:spcAft>
                          <a:spcPts val="0"/>
                        </a:spcAft>
                        <a:buNone/>
                      </a:pPr>
                      <a:r>
                        <a:rPr b="1" lang="en-US" sz="1200"/>
                        <a:t># of Meetings</a:t>
                      </a:r>
                      <a:endParaRPr b="1"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45</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51</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26</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228600">
                <a:tc>
                  <a:txBody>
                    <a:bodyPr/>
                    <a:lstStyle/>
                    <a:p>
                      <a:pPr indent="0" lvl="0" marL="0" rtl="0" algn="ctr">
                        <a:lnSpc>
                          <a:spcPct val="115000"/>
                        </a:lnSpc>
                        <a:spcBef>
                          <a:spcPts val="0"/>
                        </a:spcBef>
                        <a:spcAft>
                          <a:spcPts val="0"/>
                        </a:spcAft>
                        <a:buNone/>
                      </a:pPr>
                      <a:r>
                        <a:rPr b="1" lang="en-US" sz="1200"/>
                        <a:t># of Registrations</a:t>
                      </a:r>
                      <a:endParaRPr b="1"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10</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4</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9</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228600">
                <a:tc>
                  <a:txBody>
                    <a:bodyPr/>
                    <a:lstStyle/>
                    <a:p>
                      <a:pPr indent="0" lvl="0" marL="0" rtl="0" algn="ctr">
                        <a:lnSpc>
                          <a:spcPct val="115000"/>
                        </a:lnSpc>
                        <a:spcBef>
                          <a:spcPts val="0"/>
                        </a:spcBef>
                        <a:spcAft>
                          <a:spcPts val="0"/>
                        </a:spcAft>
                        <a:buNone/>
                      </a:pPr>
                      <a:r>
                        <a:rPr b="1" lang="en-US" sz="1200"/>
                        <a:t># of KYC</a:t>
                      </a:r>
                      <a:endParaRPr b="1"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9</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5</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8</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228600">
                <a:tc>
                  <a:txBody>
                    <a:bodyPr/>
                    <a:lstStyle/>
                    <a:p>
                      <a:pPr indent="0" lvl="0" marL="0" rtl="0" algn="ctr">
                        <a:lnSpc>
                          <a:spcPct val="115000"/>
                        </a:lnSpc>
                        <a:spcBef>
                          <a:spcPts val="0"/>
                        </a:spcBef>
                        <a:spcAft>
                          <a:spcPts val="0"/>
                        </a:spcAft>
                        <a:buNone/>
                      </a:pPr>
                      <a:r>
                        <a:rPr b="1" lang="en-US" sz="1200"/>
                        <a:t># of Account Created</a:t>
                      </a:r>
                      <a:endParaRPr b="1"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10</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5</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6</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228600">
                <a:tc>
                  <a:txBody>
                    <a:bodyPr/>
                    <a:lstStyle/>
                    <a:p>
                      <a:pPr indent="0" lvl="0" marL="0" rtl="0" algn="ctr">
                        <a:lnSpc>
                          <a:spcPct val="115000"/>
                        </a:lnSpc>
                        <a:spcBef>
                          <a:spcPts val="0"/>
                        </a:spcBef>
                        <a:spcAft>
                          <a:spcPts val="0"/>
                        </a:spcAft>
                        <a:buNone/>
                      </a:pPr>
                      <a:r>
                        <a:rPr b="1" lang="en-US" sz="1200"/>
                        <a:t># of Account Funded</a:t>
                      </a:r>
                      <a:endParaRPr b="1"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5</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3</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4</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bl>
          </a:graphicData>
        </a:graphic>
      </p:graphicFrame>
      <p:graphicFrame>
        <p:nvGraphicFramePr>
          <p:cNvPr id="648" name="Google Shape;648;g3d0fd7db1ee_7_44"/>
          <p:cNvGraphicFramePr/>
          <p:nvPr/>
        </p:nvGraphicFramePr>
        <p:xfrm>
          <a:off x="1971700" y="3635125"/>
          <a:ext cx="3000000" cy="3000000"/>
        </p:xfrm>
        <a:graphic>
          <a:graphicData uri="http://schemas.openxmlformats.org/drawingml/2006/table">
            <a:tbl>
              <a:tblPr>
                <a:noFill/>
                <a:tableStyleId>{956A5138-4EF4-4FFC-9B91-E1CA01C68344}</a:tableStyleId>
              </a:tblPr>
              <a:tblGrid>
                <a:gridCol w="2343150"/>
                <a:gridCol w="952500"/>
                <a:gridCol w="952500"/>
                <a:gridCol w="952500"/>
              </a:tblGrid>
              <a:tr h="228600">
                <a:tc>
                  <a:txBody>
                    <a:bodyPr/>
                    <a:lstStyle/>
                    <a:p>
                      <a:pPr indent="0" lvl="0" marL="0" rtl="0" algn="r">
                        <a:lnSpc>
                          <a:spcPct val="115000"/>
                        </a:lnSpc>
                        <a:spcBef>
                          <a:spcPts val="0"/>
                        </a:spcBef>
                        <a:spcAft>
                          <a:spcPts val="0"/>
                        </a:spcAft>
                        <a:buNone/>
                      </a:pPr>
                      <a:r>
                        <a:rPr b="1" lang="en-US" sz="1200"/>
                        <a:t>Conversion Assumptions</a:t>
                      </a:r>
                      <a:endParaRPr b="1"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228600">
                <a:tc>
                  <a:txBody>
                    <a:bodyPr/>
                    <a:lstStyle/>
                    <a:p>
                      <a:pPr indent="0" lvl="0" marL="0" rtl="0" algn="ctr">
                        <a:lnSpc>
                          <a:spcPct val="115000"/>
                        </a:lnSpc>
                        <a:spcBef>
                          <a:spcPts val="0"/>
                        </a:spcBef>
                        <a:spcAft>
                          <a:spcPts val="0"/>
                        </a:spcAft>
                        <a:buNone/>
                      </a:pPr>
                      <a:r>
                        <a:rPr lang="en-US" sz="1200"/>
                        <a:t>Onboarding/Close</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50%</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75%</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44%</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228600">
                <a:tc>
                  <a:txBody>
                    <a:bodyPr/>
                    <a:lstStyle/>
                    <a:p>
                      <a:pPr indent="0" lvl="0" marL="0" rtl="0" algn="ctr">
                        <a:lnSpc>
                          <a:spcPct val="115000"/>
                        </a:lnSpc>
                        <a:spcBef>
                          <a:spcPts val="0"/>
                        </a:spcBef>
                        <a:spcAft>
                          <a:spcPts val="0"/>
                        </a:spcAft>
                        <a:buNone/>
                      </a:pPr>
                      <a:r>
                        <a:rPr lang="en-US" sz="1200"/>
                        <a:t>Meetings/Close</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11%</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6%</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15%</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228600">
                <a:tc>
                  <a:txBody>
                    <a:bodyPr/>
                    <a:lstStyle/>
                    <a:p>
                      <a:pPr indent="0" lvl="0" marL="0" rtl="0" algn="ctr">
                        <a:lnSpc>
                          <a:spcPct val="115000"/>
                        </a:lnSpc>
                        <a:spcBef>
                          <a:spcPts val="0"/>
                        </a:spcBef>
                        <a:spcAft>
                          <a:spcPts val="0"/>
                        </a:spcAft>
                        <a:buNone/>
                      </a:pPr>
                      <a:r>
                        <a:rPr lang="en-US" sz="1200"/>
                        <a:t>Average Deposit Size</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$200,000</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$400,000</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t>$250,000</a:t>
                      </a:r>
                      <a:endParaRPr sz="1200"/>
                    </a:p>
                  </a:txBody>
                  <a:tcPr marT="19050" marB="19050" marR="28575" marL="28575" anchor="b">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131F"/>
        </a:solidFill>
      </p:bgPr>
    </p:bg>
    <p:spTree>
      <p:nvGrpSpPr>
        <p:cNvPr id="653" name="Shape 653"/>
        <p:cNvGrpSpPr/>
        <p:nvPr/>
      </p:nvGrpSpPr>
      <p:grpSpPr>
        <a:xfrm>
          <a:off x="0" y="0"/>
          <a:ext cx="0" cy="0"/>
          <a:chOff x="0" y="0"/>
          <a:chExt cx="0" cy="0"/>
        </a:xfrm>
      </p:grpSpPr>
      <p:sp>
        <p:nvSpPr>
          <p:cNvPr id="654" name="Google Shape;654;p15"/>
          <p:cNvSpPr/>
          <p:nvPr/>
        </p:nvSpPr>
        <p:spPr>
          <a:xfrm>
            <a:off x="7772400" y="-1097280"/>
            <a:ext cx="4389120" cy="438912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5"/>
          <p:cNvSpPr/>
          <p:nvPr/>
        </p:nvSpPr>
        <p:spPr>
          <a:xfrm>
            <a:off x="8138160" y="-640080"/>
            <a:ext cx="3566160" cy="356616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5"/>
          <p:cNvSpPr/>
          <p:nvPr/>
        </p:nvSpPr>
        <p:spPr>
          <a:xfrm>
            <a:off x="8503920" y="-182880"/>
            <a:ext cx="2743200" cy="2743200"/>
          </a:xfrm>
          <a:prstGeom prst="ellipse">
            <a:avLst/>
          </a:prstGeom>
          <a:noFill/>
          <a:ln cap="flat" cmpd="sng" w="19050">
            <a:solidFill>
              <a:srgbClr val="2525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5"/>
          <p:cNvSpPr/>
          <p:nvPr/>
        </p:nvSpPr>
        <p:spPr>
          <a:xfrm>
            <a:off x="411480" y="1051560"/>
            <a:ext cx="731520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600"/>
              <a:buFont typeface="Trebuchet MS"/>
              <a:buNone/>
            </a:pPr>
            <a:r>
              <a:rPr b="1" i="0" lang="en-US" sz="5600" u="none" cap="none" strike="noStrike">
                <a:solidFill>
                  <a:srgbClr val="FFFFFF"/>
                </a:solidFill>
                <a:latin typeface="Trebuchet MS"/>
                <a:ea typeface="Trebuchet MS"/>
                <a:cs typeface="Trebuchet MS"/>
                <a:sym typeface="Trebuchet MS"/>
              </a:rPr>
              <a:t>Let's Build</a:t>
            </a:r>
            <a:endParaRPr b="0" i="0" sz="5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5600"/>
              <a:buFont typeface="Trebuchet MS"/>
              <a:buNone/>
            </a:pPr>
            <a:r>
              <a:rPr b="1" i="0" lang="en-US" sz="5600" u="none" cap="none" strike="noStrike">
                <a:solidFill>
                  <a:srgbClr val="FFFFFF"/>
                </a:solidFill>
                <a:latin typeface="Trebuchet MS"/>
                <a:ea typeface="Trebuchet MS"/>
                <a:cs typeface="Trebuchet MS"/>
                <a:sym typeface="Trebuchet MS"/>
              </a:rPr>
              <a:t>the Pipeline.</a:t>
            </a:r>
            <a:endParaRPr b="0" i="0" sz="5600" u="none" cap="none" strike="noStrike">
              <a:solidFill>
                <a:schemeClr val="dk1"/>
              </a:solidFill>
              <a:latin typeface="Calibri"/>
              <a:ea typeface="Calibri"/>
              <a:cs typeface="Calibri"/>
              <a:sym typeface="Calibri"/>
            </a:endParaRPr>
          </a:p>
        </p:txBody>
      </p:sp>
      <p:sp>
        <p:nvSpPr>
          <p:cNvPr id="658" name="Google Shape;658;p15"/>
          <p:cNvSpPr/>
          <p:nvPr/>
        </p:nvSpPr>
        <p:spPr>
          <a:xfrm>
            <a:off x="411480" y="3273552"/>
            <a:ext cx="2834640" cy="438912"/>
          </a:xfrm>
          <a:prstGeom prst="rect">
            <a:avLst/>
          </a:prstGeom>
          <a:solidFill>
            <a:srgbClr val="7B3FE4"/>
          </a:solidFill>
          <a:ln cap="flat" cmpd="sng" w="12700">
            <a:solidFill>
              <a:srgbClr val="7B3F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5"/>
          <p:cNvSpPr/>
          <p:nvPr/>
        </p:nvSpPr>
        <p:spPr>
          <a:xfrm>
            <a:off x="411480" y="3273552"/>
            <a:ext cx="28346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New York City  ·  March 2026</a:t>
            </a:r>
            <a:endParaRPr b="0" i="0" sz="1300" u="none" cap="none" strike="noStrike">
              <a:solidFill>
                <a:schemeClr val="dk1"/>
              </a:solidFill>
              <a:latin typeface="Calibri"/>
              <a:ea typeface="Calibri"/>
              <a:cs typeface="Calibri"/>
              <a:sym typeface="Calibri"/>
            </a:endParaRPr>
          </a:p>
        </p:txBody>
      </p:sp>
      <p:sp>
        <p:nvSpPr>
          <p:cNvPr id="660" name="Google Shape;660;p15"/>
          <p:cNvSpPr/>
          <p:nvPr/>
        </p:nvSpPr>
        <p:spPr>
          <a:xfrm>
            <a:off x="0" y="4873752"/>
            <a:ext cx="9144000" cy="269748"/>
          </a:xfrm>
          <a:prstGeom prst="rect">
            <a:avLst/>
          </a:prstGeom>
          <a:solidFill>
            <a:srgbClr val="1C1C2E"/>
          </a:solidFill>
          <a:ln cap="flat" cmpd="sng" w="12700">
            <a:solidFill>
              <a:srgbClr val="1C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5"/>
          <p:cNvSpPr/>
          <p:nvPr/>
        </p:nvSpPr>
        <p:spPr>
          <a:xfrm>
            <a:off x="365760" y="4873752"/>
            <a:ext cx="6400800" cy="2697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506A"/>
              </a:buClr>
              <a:buSzPts val="800"/>
              <a:buFont typeface="Calibri"/>
              <a:buNone/>
            </a:pPr>
            <a:r>
              <a:rPr b="0" i="0" lang="en-US" sz="800" u="none" cap="none" strike="noStrike">
                <a:solidFill>
                  <a:srgbClr val="50506A"/>
                </a:solidFill>
                <a:latin typeface="Calibri"/>
                <a:ea typeface="Calibri"/>
                <a:cs typeface="Calibri"/>
                <a:sym typeface="Calibri"/>
              </a:rPr>
              <a:t>Confidential  ·  Abra Sales Offsite  ·  March 2026</a:t>
            </a:r>
            <a:endParaRPr b="0" i="0" sz="800" u="none" cap="none" strike="noStrike">
              <a:solidFill>
                <a:schemeClr val="dk1"/>
              </a:solidFill>
              <a:latin typeface="Calibri"/>
              <a:ea typeface="Calibri"/>
              <a:cs typeface="Calibri"/>
              <a:sym typeface="Calibri"/>
            </a:endParaRPr>
          </a:p>
        </p:txBody>
      </p:sp>
      <p:sp>
        <p:nvSpPr>
          <p:cNvPr id="662" name="Google Shape;662;p15"/>
          <p:cNvSpPr/>
          <p:nvPr/>
        </p:nvSpPr>
        <p:spPr>
          <a:xfrm>
            <a:off x="8229600" y="4873752"/>
            <a:ext cx="731520" cy="2697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B3FE4"/>
              </a:buClr>
              <a:buSzPts val="800"/>
              <a:buFont typeface="Calibri"/>
              <a:buNone/>
            </a:pPr>
            <a:r>
              <a:rPr b="0" i="0" lang="en-US" sz="800" u="none" cap="none" strike="noStrike">
                <a:solidFill>
                  <a:srgbClr val="7B3FE4"/>
                </a:solidFill>
                <a:latin typeface="Calibri"/>
                <a:ea typeface="Calibri"/>
                <a:cs typeface="Calibri"/>
                <a:sym typeface="Calibri"/>
              </a:rPr>
              <a:t>abra.com</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2026-03-18T23:45:42Z</dcterms:created>
  <dc:creator>PptxGenJS</dc:creator>
</cp:coreProperties>
</file>